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12F67-98D9-4316-A19D-CCEB9F082AD0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2E93A-0E92-4D89-9D4F-8B2C470C89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654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2E93A-0E92-4D89-9D4F-8B2C470C89C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284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4C11F16-27FA-6AAA-11AF-6CC33E57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>
            <a:extLst>
              <a:ext uri="{FF2B5EF4-FFF2-40B4-BE49-F238E27FC236}">
                <a16:creationId xmlns:a16="http://schemas.microsoft.com/office/drawing/2014/main" id="{7A5A00A1-1F15-C5FE-379A-B9DB877F3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>
            <a:extLst>
              <a:ext uri="{FF2B5EF4-FFF2-40B4-BE49-F238E27FC236}">
                <a16:creationId xmlns:a16="http://schemas.microsoft.com/office/drawing/2014/main" id="{45393BEC-17D1-6149-1E50-B84483A16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878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DE5CD1F-61E0-82E8-7C8C-E2B1530E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>
            <a:extLst>
              <a:ext uri="{FF2B5EF4-FFF2-40B4-BE49-F238E27FC236}">
                <a16:creationId xmlns:a16="http://schemas.microsoft.com/office/drawing/2014/main" id="{6F651F51-7ABB-B437-3D94-E89E8223F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>
            <a:extLst>
              <a:ext uri="{FF2B5EF4-FFF2-40B4-BE49-F238E27FC236}">
                <a16:creationId xmlns:a16="http://schemas.microsoft.com/office/drawing/2014/main" id="{AA4720A6-B010-E515-A63E-A2D712DEB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861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6228B6E-DBDE-3336-0A78-92AF0B9E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>
            <a:extLst>
              <a:ext uri="{FF2B5EF4-FFF2-40B4-BE49-F238E27FC236}">
                <a16:creationId xmlns:a16="http://schemas.microsoft.com/office/drawing/2014/main" id="{79503F0E-D54E-0B51-2A30-F0BD80A68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>
            <a:extLst>
              <a:ext uri="{FF2B5EF4-FFF2-40B4-BE49-F238E27FC236}">
                <a16:creationId xmlns:a16="http://schemas.microsoft.com/office/drawing/2014/main" id="{F88D0DE7-783D-DDC9-A596-4631703B44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41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36E42BD-49A8-F05E-BCBC-2CE765C3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>
            <a:extLst>
              <a:ext uri="{FF2B5EF4-FFF2-40B4-BE49-F238E27FC236}">
                <a16:creationId xmlns:a16="http://schemas.microsoft.com/office/drawing/2014/main" id="{C639F058-1D8E-116C-3A8F-06388FD85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>
            <a:extLst>
              <a:ext uri="{FF2B5EF4-FFF2-40B4-BE49-F238E27FC236}">
                <a16:creationId xmlns:a16="http://schemas.microsoft.com/office/drawing/2014/main" id="{778F1DA0-E9CC-598E-D918-FE0EC950A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638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F8DD07E-324A-6E35-F3E7-84E88147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>
            <a:extLst>
              <a:ext uri="{FF2B5EF4-FFF2-40B4-BE49-F238E27FC236}">
                <a16:creationId xmlns:a16="http://schemas.microsoft.com/office/drawing/2014/main" id="{DAE8686B-B1FF-0466-3763-4112E984D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>
            <a:extLst>
              <a:ext uri="{FF2B5EF4-FFF2-40B4-BE49-F238E27FC236}">
                <a16:creationId xmlns:a16="http://schemas.microsoft.com/office/drawing/2014/main" id="{33944FEF-4DAC-17FD-3BA7-ED218E050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231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F26E02A-0F8E-08A5-A96A-55EDC05BA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009b74a80d_0_138:notes">
            <a:extLst>
              <a:ext uri="{FF2B5EF4-FFF2-40B4-BE49-F238E27FC236}">
                <a16:creationId xmlns:a16="http://schemas.microsoft.com/office/drawing/2014/main" id="{B3097C06-9271-79FD-904A-F756ED03F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2009b74a80d_0_138:notes">
            <a:extLst>
              <a:ext uri="{FF2B5EF4-FFF2-40B4-BE49-F238E27FC236}">
                <a16:creationId xmlns:a16="http://schemas.microsoft.com/office/drawing/2014/main" id="{C8833236-01E9-5223-6339-453341025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864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9832-6CC4-ACA7-E777-D1EA3909A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C71DB-940B-0B6E-8E25-AC51FA1D9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EF46-CDA3-AB1E-F9C1-3B972212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019C7-512D-7047-72BA-66BBE69E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6A849-6858-3B45-FADC-FA2051E0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30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38799-FDEF-68BF-48CF-4F1D159A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E528F-BBE6-D9F9-23DD-EAAE9CD68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88777-60F5-457D-04FC-EC74FBEB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B8A1F-0336-AC0C-0623-87D8A730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AEE3-AE97-8597-4290-4D4D4D40B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D237B-85CA-5974-BB8B-97777890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1CC6B-0A86-15E8-E420-5A5DA377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5BCAE-E5CB-C61F-0664-F1158181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AEC50-1FD7-BFB9-723D-6501589E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A9A55-43D7-38B5-D43B-05924F53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23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5BF8-B67D-132D-6E73-76D53C94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2219B-549B-4995-38F9-759076B39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6DC35-7C82-C802-B17F-3E80A7B05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5E38A-9142-3138-68E6-A46E567E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6FBB3-1DD9-CF26-86FE-BFBB2C1B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8AB8-E1C8-0ECC-302F-2C098E73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6412-F434-955B-6FEE-0C064F22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8847E-1C44-8FFA-315D-E861E125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1B735-4CA5-A178-ECAC-255828532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74058-D02F-FA33-8C99-16294CFA0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47185-5B69-021F-0749-52100CD4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8D750-DE48-2CB9-8B67-75FF975C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062EB-EBFC-68E4-7C37-4B6418EC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58F50-D981-111D-FB3B-EE1513AE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52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BD15-1D6B-BF05-D6B4-5F99C79D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1BD26-E14C-D32F-FB50-2E11459F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25F2E-ECAD-DE20-B40C-05F19D01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75EFF-6675-0DA5-CF35-AD1CB68C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98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4D3C5-DB65-7DC5-B6CF-E1975907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70DCA-37BE-8A85-ADC8-A1BEFB57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20D27-AC21-5092-FDD3-BCF3E20EB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7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0CE3-D18D-9C94-8344-F0234E72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07A5-5302-9E78-651B-D6786E582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4676D-03D2-1C47-14FB-64A02E2C5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723FA-9A6E-48C0-1F57-96EE173C0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50023-7DA3-11B6-52D8-3F25F011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2000F-20E6-1493-4072-D13E4B74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996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F555-554E-DDD9-DFB1-C99089A2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51F19-CB14-CD84-FB82-A3BCF9792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E4D6A-91B5-6B2F-DE45-CF9412356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CC936-5717-F413-7F7C-75B2B061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3228-57EE-3B24-F9AF-DA0512B5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C5280-2035-9593-6888-7D0D273F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3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1DC9-31AE-0352-A3E0-D8784775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D290C-0655-D504-2A5C-ADBA2B88D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3CCC5-B478-B8BC-E2FE-C01099A3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F3A42-D243-528F-F9C9-D1D4069B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11A7-0BCF-1BC1-9228-6A91FEA2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20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9A3FF-1594-A0FA-97DF-FE4D94217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8BE03-53E1-2505-16B2-0E54A570E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3A5C-BEE7-1ECE-DDBB-9E22F310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BA499-5168-FD10-E597-20C115A3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E3C3D-A202-880C-1408-F7A5BECB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37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FFB01-B310-658F-B8D1-94AF5D55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07500-6D88-5948-9763-AAF03EA0F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42EF1-E954-5067-25A8-45A4D3AD3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3E18-D65A-4D77-B158-F2A3E1B2D42F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78DA8-B63B-26C2-4DF6-71CDB806B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714D5-3822-EDC4-5B51-D29F42CD6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A2BD5-BD0F-47F6-B455-80C678CA2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21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kesh-venkatesh/mitoevo/blob/main/all_known_translocation_mechanisms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85529-BEA3-1BF7-4563-B0DFD4DB4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204" y="1116612"/>
            <a:ext cx="11231592" cy="2387600"/>
          </a:xfrm>
        </p:spPr>
        <p:txBody>
          <a:bodyPr>
            <a:normAutofit/>
          </a:bodyPr>
          <a:lstStyle/>
          <a:p>
            <a:r>
              <a:rPr lang="en-US" sz="5400" b="1" i="0" u="none" strike="noStrike" cap="none" dirty="0">
                <a:solidFill>
                  <a:srgbClr val="2020DC"/>
                </a:solidFill>
                <a:latin typeface="Arial"/>
                <a:ea typeface="Arial"/>
                <a:cs typeface="Arial"/>
                <a:sym typeface="Arial"/>
              </a:rPr>
              <a:t>Looking for translocation signals across mitogenomes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BBF8F-E017-B941-C4A4-C4B578F49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72239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2400" b="1" dirty="0"/>
          </a:p>
          <a:p>
            <a:pPr marL="372239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Lokesh Venkatesh</a:t>
            </a:r>
          </a:p>
          <a:p>
            <a:pPr marL="372240" marR="0" lvl="0" indent="0" algn="ctr" rtl="0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dirty="0"/>
              <a:t>Lab meeting: 19-03-25</a:t>
            </a:r>
          </a:p>
        </p:txBody>
      </p:sp>
    </p:spTree>
    <p:extLst>
      <p:ext uri="{BB962C8B-B14F-4D97-AF65-F5344CB8AC3E}">
        <p14:creationId xmlns:p14="http://schemas.microsoft.com/office/powerpoint/2010/main" val="1058523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09b74a80d_0_138"/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/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/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/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/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/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009b74a80d_0_138"/>
          <p:cNvSpPr/>
          <p:nvPr/>
        </p:nvSpPr>
        <p:spPr>
          <a:xfrm>
            <a:off x="0" y="629409"/>
            <a:ext cx="12192000" cy="67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ctr" anchorCtr="0">
            <a:noAutofit/>
          </a:bodyPr>
          <a:lstStyle/>
          <a:p>
            <a:pPr marL="15237" algn="ctr">
              <a:buClr>
                <a:srgbClr val="000000"/>
              </a:buClr>
              <a:buSzPts val="2800"/>
            </a:pPr>
            <a:r>
              <a:rPr lang="en-IN" sz="3200" b="1" dirty="0">
                <a:solidFill>
                  <a:srgbClr val="1F2ED4"/>
                </a:solidFill>
                <a:latin typeface="Arial"/>
                <a:ea typeface="Arial"/>
                <a:cs typeface="Arial"/>
                <a:sym typeface="Arial"/>
              </a:rPr>
              <a:t>Mitochondrial Genomes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/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/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2</a:t>
            </a:fld>
            <a:r>
              <a:rPr lang="en-IN" dirty="0"/>
              <a:t>/8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F39F9-F3D1-7E7D-EDB1-F8AAA67BA091}"/>
              </a:ext>
            </a:extLst>
          </p:cNvPr>
          <p:cNvSpPr txBox="1"/>
          <p:nvPr/>
        </p:nvSpPr>
        <p:spPr>
          <a:xfrm>
            <a:off x="273050" y="1720850"/>
            <a:ext cx="11656604" cy="4202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dirty="0">
                <a:latin typeface="Arial"/>
                <a:cs typeface="Arial"/>
                <a:sym typeface="Arial"/>
              </a:rPr>
              <a:t>Interested in looking at a ‘signal’ that is common across translocation events in the evolution of the mitochondrial genome, whether from a </a:t>
            </a:r>
            <a:r>
              <a:rPr lang="en-IN" i="1" dirty="0">
                <a:latin typeface="Arial"/>
                <a:cs typeface="Arial"/>
                <a:sym typeface="Arial"/>
              </a:rPr>
              <a:t>molecular</a:t>
            </a:r>
            <a:r>
              <a:rPr lang="en-IN" dirty="0">
                <a:latin typeface="Arial"/>
                <a:cs typeface="Arial"/>
                <a:sym typeface="Arial"/>
              </a:rPr>
              <a:t> or a </a:t>
            </a:r>
            <a:r>
              <a:rPr lang="en-IN" i="1" dirty="0">
                <a:latin typeface="Arial"/>
                <a:cs typeface="Arial"/>
                <a:sym typeface="Arial"/>
              </a:rPr>
              <a:t>biophysical </a:t>
            </a:r>
            <a:r>
              <a:rPr lang="en-IN" dirty="0">
                <a:latin typeface="Arial"/>
                <a:cs typeface="Arial"/>
                <a:sym typeface="Arial"/>
              </a:rPr>
              <a:t>basis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dirty="0">
                <a:latin typeface="Arial"/>
                <a:cs typeface="Arial"/>
                <a:sym typeface="Arial"/>
              </a:rPr>
              <a:t>We are only considering intra-mitogenome translocations and not mitochondria-nucleus translocations in this workflow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dirty="0">
                <a:latin typeface="Arial"/>
                <a:cs typeface="Arial"/>
                <a:sym typeface="Arial"/>
              </a:rPr>
              <a:t>Divided all mitogenomes available on the NCBI database into three broad datasets: fungi-protists, plants, and animals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dirty="0">
                <a:latin typeface="Arial"/>
                <a:cs typeface="Arial"/>
                <a:sym typeface="Arial"/>
              </a:rPr>
              <a:t>Using only the animal dataset to refine the workflow for two reasons: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IN" dirty="0">
                <a:latin typeface="Arial"/>
                <a:cs typeface="Arial"/>
                <a:sym typeface="Arial"/>
              </a:rPr>
              <a:t>Animal mitochondrial genomes have nearly identical gene content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IN" dirty="0">
                <a:latin typeface="Arial"/>
                <a:cs typeface="Arial"/>
                <a:sym typeface="Arial"/>
              </a:rPr>
              <a:t>Except for a small region of regulatory DNA around the TSS, there are little to no non-coding regions in between the genes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148B3B7-167C-B89F-1609-8FEA1904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09b74a80d_0_138">
            <a:extLst>
              <a:ext uri="{FF2B5EF4-FFF2-40B4-BE49-F238E27FC236}">
                <a16:creationId xmlns:a16="http://schemas.microsoft.com/office/drawing/2014/main" id="{0366678F-FC36-219A-9A60-3E1776B705FF}"/>
              </a:ext>
            </a:extLst>
          </p:cNvPr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>
            <a:extLst>
              <a:ext uri="{FF2B5EF4-FFF2-40B4-BE49-F238E27FC236}">
                <a16:creationId xmlns:a16="http://schemas.microsoft.com/office/drawing/2014/main" id="{9D568E26-418A-C085-0249-C272BC84EDFF}"/>
              </a:ext>
            </a:extLst>
          </p:cNvPr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>
            <a:extLst>
              <a:ext uri="{FF2B5EF4-FFF2-40B4-BE49-F238E27FC236}">
                <a16:creationId xmlns:a16="http://schemas.microsoft.com/office/drawing/2014/main" id="{0F8C953D-F817-7A43-4ECC-8DECE5D7E92F}"/>
              </a:ext>
            </a:extLst>
          </p:cNvPr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>
            <a:extLst>
              <a:ext uri="{FF2B5EF4-FFF2-40B4-BE49-F238E27FC236}">
                <a16:creationId xmlns:a16="http://schemas.microsoft.com/office/drawing/2014/main" id="{AA2E6B62-FC41-15AF-2A5B-4659AD273BD8}"/>
              </a:ext>
            </a:extLst>
          </p:cNvPr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>
            <a:extLst>
              <a:ext uri="{FF2B5EF4-FFF2-40B4-BE49-F238E27FC236}">
                <a16:creationId xmlns:a16="http://schemas.microsoft.com/office/drawing/2014/main" id="{BC1769AD-E579-5B24-4DA0-F8966472C5EF}"/>
              </a:ext>
            </a:extLst>
          </p:cNvPr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>
            <a:extLst>
              <a:ext uri="{FF2B5EF4-FFF2-40B4-BE49-F238E27FC236}">
                <a16:creationId xmlns:a16="http://schemas.microsoft.com/office/drawing/2014/main" id="{9943DFA3-18EC-8602-A69D-A49D15CC417C}"/>
              </a:ext>
            </a:extLst>
          </p:cNvPr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009b74a80d_0_138">
            <a:extLst>
              <a:ext uri="{FF2B5EF4-FFF2-40B4-BE49-F238E27FC236}">
                <a16:creationId xmlns:a16="http://schemas.microsoft.com/office/drawing/2014/main" id="{92E17833-81CC-0D85-2DA4-8AB8D1041D16}"/>
              </a:ext>
            </a:extLst>
          </p:cNvPr>
          <p:cNvSpPr/>
          <p:nvPr/>
        </p:nvSpPr>
        <p:spPr>
          <a:xfrm>
            <a:off x="0" y="629409"/>
            <a:ext cx="12192000" cy="67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ctr" anchorCtr="0">
            <a:noAutofit/>
          </a:bodyPr>
          <a:lstStyle/>
          <a:p>
            <a:pPr marL="15237" algn="ctr">
              <a:buClr>
                <a:srgbClr val="000000"/>
              </a:buClr>
              <a:buSzPts val="2800"/>
            </a:pPr>
            <a:r>
              <a:rPr lang="en-IN" sz="3200" b="1" dirty="0">
                <a:solidFill>
                  <a:srgbClr val="1F2ED4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>
            <a:extLst>
              <a:ext uri="{FF2B5EF4-FFF2-40B4-BE49-F238E27FC236}">
                <a16:creationId xmlns:a16="http://schemas.microsoft.com/office/drawing/2014/main" id="{F8819EC8-B5BF-4854-D71B-FBEF66CB0CC0}"/>
              </a:ext>
            </a:extLst>
          </p:cNvPr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>
            <a:extLst>
              <a:ext uri="{FF2B5EF4-FFF2-40B4-BE49-F238E27FC236}">
                <a16:creationId xmlns:a16="http://schemas.microsoft.com/office/drawing/2014/main" id="{7C66543D-6A17-2598-7B9A-A918E8185E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3</a:t>
            </a:fld>
            <a:r>
              <a:rPr lang="en-IN" dirty="0"/>
              <a:t>/8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CBB8D-BBD6-B8AB-5601-D29B12DCF017}"/>
              </a:ext>
            </a:extLst>
          </p:cNvPr>
          <p:cNvSpPr txBox="1"/>
          <p:nvPr/>
        </p:nvSpPr>
        <p:spPr>
          <a:xfrm>
            <a:off x="273050" y="1720850"/>
            <a:ext cx="11656604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Arial"/>
                <a:cs typeface="Arial"/>
                <a:sym typeface="Arial"/>
              </a:rPr>
              <a:t>S</a:t>
            </a:r>
            <a:r>
              <a:rPr lang="en-IN" dirty="0">
                <a:latin typeface="Arial"/>
                <a:cs typeface="Arial"/>
                <a:sym typeface="Arial"/>
              </a:rPr>
              <a:t>tart with a dataset of available mitochondrial genomes, and an ordered list of their genes starting from the Transcription Start Site (TSS).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latin typeface="Arial"/>
                <a:cs typeface="Arial"/>
                <a:sym typeface="Arial"/>
              </a:rPr>
              <a:t>Using a custom-distance metric, arrange these genomes in an order that is supposed to be how each of them actually originated over the course of evolution.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latin typeface="Arial"/>
                <a:cs typeface="Arial"/>
                <a:sym typeface="Arial"/>
              </a:rPr>
              <a:t>Identify ‘breakpoints’, which are disruptions in the order of genes when comparing two adjacent genomes in his order. Those are the locations at which our target sequences are.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latin typeface="Arial"/>
                <a:cs typeface="Arial"/>
                <a:sym typeface="Arial"/>
              </a:rPr>
              <a:t>Obtain the sequences in those regions with some leeway on either side.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>
                <a:latin typeface="Arial"/>
                <a:cs typeface="Arial"/>
                <a:sym typeface="Arial"/>
              </a:rPr>
              <a:t>Construct the vectors for these sequences and carry out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151474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E6FEE3CC-02D7-BBA1-3759-4864DBA2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EE2388-07C4-2007-4445-3BCD9CA24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600" y="502181"/>
            <a:ext cx="6330419" cy="6330419"/>
          </a:xfrm>
          <a:prstGeom prst="rect">
            <a:avLst/>
          </a:prstGeom>
        </p:spPr>
      </p:pic>
      <p:sp>
        <p:nvSpPr>
          <p:cNvPr id="89" name="Google Shape;89;g2009b74a80d_0_138">
            <a:extLst>
              <a:ext uri="{FF2B5EF4-FFF2-40B4-BE49-F238E27FC236}">
                <a16:creationId xmlns:a16="http://schemas.microsoft.com/office/drawing/2014/main" id="{B4A46D62-77C5-05B9-6EB4-9B945F6B29ED}"/>
              </a:ext>
            </a:extLst>
          </p:cNvPr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>
            <a:extLst>
              <a:ext uri="{FF2B5EF4-FFF2-40B4-BE49-F238E27FC236}">
                <a16:creationId xmlns:a16="http://schemas.microsoft.com/office/drawing/2014/main" id="{8493E7F8-84A3-FEA7-9C0E-6C0D0A107E94}"/>
              </a:ext>
            </a:extLst>
          </p:cNvPr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>
            <a:extLst>
              <a:ext uri="{FF2B5EF4-FFF2-40B4-BE49-F238E27FC236}">
                <a16:creationId xmlns:a16="http://schemas.microsoft.com/office/drawing/2014/main" id="{F3198284-F56A-892C-6B49-A64380546197}"/>
              </a:ext>
            </a:extLst>
          </p:cNvPr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>
            <a:extLst>
              <a:ext uri="{FF2B5EF4-FFF2-40B4-BE49-F238E27FC236}">
                <a16:creationId xmlns:a16="http://schemas.microsoft.com/office/drawing/2014/main" id="{BBD265F5-0B6C-C563-7DF2-2056571CEA82}"/>
              </a:ext>
            </a:extLst>
          </p:cNvPr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>
            <a:extLst>
              <a:ext uri="{FF2B5EF4-FFF2-40B4-BE49-F238E27FC236}">
                <a16:creationId xmlns:a16="http://schemas.microsoft.com/office/drawing/2014/main" id="{AADC0AD9-DA1B-7C83-7F22-15E9A783D89F}"/>
              </a:ext>
            </a:extLst>
          </p:cNvPr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lang="en-IN"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>
            <a:extLst>
              <a:ext uri="{FF2B5EF4-FFF2-40B4-BE49-F238E27FC236}">
                <a16:creationId xmlns:a16="http://schemas.microsoft.com/office/drawing/2014/main" id="{9F265A3B-504D-F30C-D457-5CA436986C93}"/>
              </a:ext>
            </a:extLst>
          </p:cNvPr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>
            <a:extLst>
              <a:ext uri="{FF2B5EF4-FFF2-40B4-BE49-F238E27FC236}">
                <a16:creationId xmlns:a16="http://schemas.microsoft.com/office/drawing/2014/main" id="{4EBB9FBC-6C5C-0928-9FA7-4EF4BA0A5965}"/>
              </a:ext>
            </a:extLst>
          </p:cNvPr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>
            <a:extLst>
              <a:ext uri="{FF2B5EF4-FFF2-40B4-BE49-F238E27FC236}">
                <a16:creationId xmlns:a16="http://schemas.microsoft.com/office/drawing/2014/main" id="{8A0D4B6C-9516-31CD-E698-B07A272B85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4</a:t>
            </a:fld>
            <a:r>
              <a:rPr lang="en-IN" dirty="0"/>
              <a:t>/8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454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3C08C456-8A76-3F18-0A3D-F6066086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09b74a80d_0_138">
            <a:extLst>
              <a:ext uri="{FF2B5EF4-FFF2-40B4-BE49-F238E27FC236}">
                <a16:creationId xmlns:a16="http://schemas.microsoft.com/office/drawing/2014/main" id="{E0F44462-B9FE-7C54-72E8-1BAF4BEB4268}"/>
              </a:ext>
            </a:extLst>
          </p:cNvPr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>
            <a:extLst>
              <a:ext uri="{FF2B5EF4-FFF2-40B4-BE49-F238E27FC236}">
                <a16:creationId xmlns:a16="http://schemas.microsoft.com/office/drawing/2014/main" id="{BB8F79FE-9C16-89A3-3AFF-F6FEE7011027}"/>
              </a:ext>
            </a:extLst>
          </p:cNvPr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>
            <a:extLst>
              <a:ext uri="{FF2B5EF4-FFF2-40B4-BE49-F238E27FC236}">
                <a16:creationId xmlns:a16="http://schemas.microsoft.com/office/drawing/2014/main" id="{474D1F65-4F2B-7276-926F-C6C1FFF1C774}"/>
              </a:ext>
            </a:extLst>
          </p:cNvPr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>
            <a:extLst>
              <a:ext uri="{FF2B5EF4-FFF2-40B4-BE49-F238E27FC236}">
                <a16:creationId xmlns:a16="http://schemas.microsoft.com/office/drawing/2014/main" id="{60F9501F-A5C3-FEE4-A541-E69D5F58A085}"/>
              </a:ext>
            </a:extLst>
          </p:cNvPr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>
            <a:extLst>
              <a:ext uri="{FF2B5EF4-FFF2-40B4-BE49-F238E27FC236}">
                <a16:creationId xmlns:a16="http://schemas.microsoft.com/office/drawing/2014/main" id="{DDC0E9A6-95F7-0D0A-3EED-766D83E7CFC4}"/>
              </a:ext>
            </a:extLst>
          </p:cNvPr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>
            <a:extLst>
              <a:ext uri="{FF2B5EF4-FFF2-40B4-BE49-F238E27FC236}">
                <a16:creationId xmlns:a16="http://schemas.microsoft.com/office/drawing/2014/main" id="{35C4CAD3-9A1C-B330-3028-F578F14A03B9}"/>
              </a:ext>
            </a:extLst>
          </p:cNvPr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009b74a80d_0_138">
            <a:extLst>
              <a:ext uri="{FF2B5EF4-FFF2-40B4-BE49-F238E27FC236}">
                <a16:creationId xmlns:a16="http://schemas.microsoft.com/office/drawing/2014/main" id="{A0F4BEB0-43DD-6C07-F471-C475D29A1DBF}"/>
              </a:ext>
            </a:extLst>
          </p:cNvPr>
          <p:cNvSpPr/>
          <p:nvPr/>
        </p:nvSpPr>
        <p:spPr>
          <a:xfrm>
            <a:off x="0" y="629409"/>
            <a:ext cx="12192000" cy="67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ctr" anchorCtr="0">
            <a:noAutofit/>
          </a:bodyPr>
          <a:lstStyle/>
          <a:p>
            <a:pPr marL="15237" algn="ctr">
              <a:buClr>
                <a:srgbClr val="000000"/>
              </a:buClr>
              <a:buSzPts val="2800"/>
            </a:pPr>
            <a:r>
              <a:rPr lang="en-IN" sz="3200" b="1" dirty="0">
                <a:solidFill>
                  <a:srgbClr val="1F2ED4"/>
                </a:solidFill>
                <a:latin typeface="Arial"/>
                <a:ea typeface="Arial"/>
                <a:cs typeface="Arial"/>
                <a:sym typeface="Arial"/>
              </a:rPr>
              <a:t>Distance metric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>
            <a:extLst>
              <a:ext uri="{FF2B5EF4-FFF2-40B4-BE49-F238E27FC236}">
                <a16:creationId xmlns:a16="http://schemas.microsoft.com/office/drawing/2014/main" id="{EA1D6994-4D93-4153-D9CD-07027B169428}"/>
              </a:ext>
            </a:extLst>
          </p:cNvPr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>
            <a:extLst>
              <a:ext uri="{FF2B5EF4-FFF2-40B4-BE49-F238E27FC236}">
                <a16:creationId xmlns:a16="http://schemas.microsoft.com/office/drawing/2014/main" id="{133C23F4-6015-0EB5-F043-311BD07F5A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5</a:t>
            </a:fld>
            <a:r>
              <a:rPr lang="en-IN" dirty="0"/>
              <a:t>/8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F4D2C-7695-AC4D-C9CB-ABD9638CED46}"/>
              </a:ext>
            </a:extLst>
          </p:cNvPr>
          <p:cNvSpPr txBox="1"/>
          <p:nvPr/>
        </p:nvSpPr>
        <p:spPr>
          <a:xfrm>
            <a:off x="273050" y="1720850"/>
            <a:ext cx="11656604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 err="1">
                <a:latin typeface="Arial"/>
                <a:cs typeface="Arial"/>
                <a:sym typeface="Arial"/>
              </a:rPr>
              <a:t>Levenshtein</a:t>
            </a:r>
            <a:r>
              <a:rPr lang="en-US" dirty="0">
                <a:latin typeface="Arial"/>
                <a:cs typeface="Arial"/>
                <a:sym typeface="Arial"/>
              </a:rPr>
              <a:t>-Distance Score (a DP, edit-based metric)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>
              <a:latin typeface="Arial"/>
              <a:cs typeface="Arial"/>
              <a:sym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>
              <a:latin typeface="Arial"/>
              <a:cs typeface="Arial"/>
              <a:sym typeface="Arial"/>
            </a:endParaRPr>
          </a:p>
          <a:p>
            <a:pPr lvl="1">
              <a:lnSpc>
                <a:spcPct val="150000"/>
              </a:lnSpc>
            </a:pPr>
            <a:endParaRPr lang="en-US" dirty="0">
              <a:latin typeface="Arial"/>
              <a:cs typeface="Arial"/>
              <a:sym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Arial"/>
                <a:cs typeface="Arial"/>
                <a:sym typeface="Arial"/>
              </a:rPr>
              <a:t>Double-cut and Join Model (a graph-based metric)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Arial"/>
              <a:cs typeface="Arial"/>
              <a:sym typeface="Arial"/>
            </a:endParaRPr>
          </a:p>
          <a:p>
            <a:pPr lvl="1">
              <a:lnSpc>
                <a:spcPct val="150000"/>
              </a:lnSpc>
            </a:pPr>
            <a:endParaRPr lang="en-US" dirty="0">
              <a:latin typeface="Arial"/>
              <a:cs typeface="Arial"/>
              <a:sym typeface="Arial"/>
            </a:endParaRPr>
          </a:p>
          <a:p>
            <a:pPr lvl="1">
              <a:lnSpc>
                <a:spcPct val="150000"/>
              </a:lnSpc>
            </a:pPr>
            <a:endParaRPr lang="en-IN" dirty="0"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1038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94AA51F5-D2F2-E5D7-CFDC-12F5377B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09b74a80d_0_138">
            <a:extLst>
              <a:ext uri="{FF2B5EF4-FFF2-40B4-BE49-F238E27FC236}">
                <a16:creationId xmlns:a16="http://schemas.microsoft.com/office/drawing/2014/main" id="{AAA8969A-394B-A121-E9A8-287A79B865B5}"/>
              </a:ext>
            </a:extLst>
          </p:cNvPr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>
            <a:extLst>
              <a:ext uri="{FF2B5EF4-FFF2-40B4-BE49-F238E27FC236}">
                <a16:creationId xmlns:a16="http://schemas.microsoft.com/office/drawing/2014/main" id="{A1255975-1E98-A8C4-983D-65C192828709}"/>
              </a:ext>
            </a:extLst>
          </p:cNvPr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>
            <a:extLst>
              <a:ext uri="{FF2B5EF4-FFF2-40B4-BE49-F238E27FC236}">
                <a16:creationId xmlns:a16="http://schemas.microsoft.com/office/drawing/2014/main" id="{3ED63F79-BC35-F83C-8C09-25123E25708A}"/>
              </a:ext>
            </a:extLst>
          </p:cNvPr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>
            <a:extLst>
              <a:ext uri="{FF2B5EF4-FFF2-40B4-BE49-F238E27FC236}">
                <a16:creationId xmlns:a16="http://schemas.microsoft.com/office/drawing/2014/main" id="{9CD2D997-194B-3ABD-0E0E-6E8D1E4F1F32}"/>
              </a:ext>
            </a:extLst>
          </p:cNvPr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>
            <a:extLst>
              <a:ext uri="{FF2B5EF4-FFF2-40B4-BE49-F238E27FC236}">
                <a16:creationId xmlns:a16="http://schemas.microsoft.com/office/drawing/2014/main" id="{A2A3A862-D236-0BB1-29B7-50D65C9953B4}"/>
              </a:ext>
            </a:extLst>
          </p:cNvPr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>
            <a:extLst>
              <a:ext uri="{FF2B5EF4-FFF2-40B4-BE49-F238E27FC236}">
                <a16:creationId xmlns:a16="http://schemas.microsoft.com/office/drawing/2014/main" id="{E81F2831-7223-7968-C377-6DC48F3EC17F}"/>
              </a:ext>
            </a:extLst>
          </p:cNvPr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009b74a80d_0_138">
            <a:extLst>
              <a:ext uri="{FF2B5EF4-FFF2-40B4-BE49-F238E27FC236}">
                <a16:creationId xmlns:a16="http://schemas.microsoft.com/office/drawing/2014/main" id="{4372BB63-8AA8-C3BE-1BF0-EC070D126887}"/>
              </a:ext>
            </a:extLst>
          </p:cNvPr>
          <p:cNvSpPr/>
          <p:nvPr/>
        </p:nvSpPr>
        <p:spPr>
          <a:xfrm>
            <a:off x="0" y="629409"/>
            <a:ext cx="12192000" cy="67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ctr" anchorCtr="0">
            <a:noAutofit/>
          </a:bodyPr>
          <a:lstStyle/>
          <a:p>
            <a:pPr marL="15237" algn="ctr">
              <a:buClr>
                <a:srgbClr val="000000"/>
              </a:buClr>
              <a:buSzPts val="2800"/>
            </a:pPr>
            <a:r>
              <a:rPr lang="en-IN" sz="3200" b="1" dirty="0">
                <a:solidFill>
                  <a:srgbClr val="1F2ED4"/>
                </a:solidFill>
                <a:latin typeface="Arial"/>
                <a:ea typeface="Arial"/>
                <a:cs typeface="Arial"/>
                <a:sym typeface="Arial"/>
              </a:rPr>
              <a:t>Target-sequence lengths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>
            <a:extLst>
              <a:ext uri="{FF2B5EF4-FFF2-40B4-BE49-F238E27FC236}">
                <a16:creationId xmlns:a16="http://schemas.microsoft.com/office/drawing/2014/main" id="{6268AF57-ABFE-599C-3A93-F614659AAC55}"/>
              </a:ext>
            </a:extLst>
          </p:cNvPr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>
            <a:extLst>
              <a:ext uri="{FF2B5EF4-FFF2-40B4-BE49-F238E27FC236}">
                <a16:creationId xmlns:a16="http://schemas.microsoft.com/office/drawing/2014/main" id="{89741DBF-4AD4-E81F-F9C7-39F7B8BE7A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6</a:t>
            </a:fld>
            <a:r>
              <a:rPr lang="en-IN" dirty="0"/>
              <a:t>/8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6C815-A644-664F-04C3-EA8C6C372162}"/>
              </a:ext>
            </a:extLst>
          </p:cNvPr>
          <p:cNvSpPr txBox="1"/>
          <p:nvPr/>
        </p:nvSpPr>
        <p:spPr>
          <a:xfrm>
            <a:off x="273050" y="1720850"/>
            <a:ext cx="11656604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Regions between gene sequences are at most around 10 bases long, barring the TSS-regulatory region.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Smallest known translocation in mitochondrial genomes (one such example) is between two </a:t>
            </a:r>
            <a:r>
              <a:rPr lang="en-US" i="1" dirty="0">
                <a:latin typeface="Arial"/>
                <a:cs typeface="Arial"/>
                <a:sym typeface="Arial"/>
              </a:rPr>
              <a:t>adjacent</a:t>
            </a:r>
            <a:r>
              <a:rPr lang="en-US" dirty="0">
                <a:latin typeface="Arial"/>
                <a:cs typeface="Arial"/>
                <a:sym typeface="Arial"/>
              </a:rPr>
              <a:t> TRNAs genes coding for Isoleucine (</a:t>
            </a:r>
            <a:r>
              <a:rPr lang="en-US" dirty="0" err="1">
                <a:latin typeface="Arial"/>
                <a:cs typeface="Arial"/>
                <a:sym typeface="Arial"/>
              </a:rPr>
              <a:t>TrnI</a:t>
            </a:r>
            <a:r>
              <a:rPr lang="en-US" dirty="0">
                <a:latin typeface="Arial"/>
                <a:cs typeface="Arial"/>
                <a:sym typeface="Arial"/>
              </a:rPr>
              <a:t>) and Glutamine (</a:t>
            </a:r>
            <a:r>
              <a:rPr lang="en-US" dirty="0" err="1">
                <a:latin typeface="Arial"/>
                <a:cs typeface="Arial"/>
                <a:sym typeface="Arial"/>
              </a:rPr>
              <a:t>TrnQ</a:t>
            </a:r>
            <a:r>
              <a:rPr lang="en-US" dirty="0">
                <a:latin typeface="Arial"/>
                <a:cs typeface="Arial"/>
                <a:sym typeface="Arial"/>
              </a:rPr>
              <a:t>) seen in lizards and closely-related species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It made sense to take around 20-30 base pairs on either side since the TRNA genes are usually about 60 bases long.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Any longer of a sequence may bring in unwanted motifs (‘noise’)</a:t>
            </a:r>
          </a:p>
          <a:p>
            <a:pPr>
              <a:lnSpc>
                <a:spcPct val="150000"/>
              </a:lnSpc>
            </a:pPr>
            <a:endParaRPr lang="en-US" dirty="0">
              <a:latin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/>
                <a:cs typeface="Arial"/>
                <a:sym typeface="Arial"/>
              </a:rPr>
              <a:t>Short target sequence lengths result in further problems (elaborated further on the next slide)</a:t>
            </a:r>
          </a:p>
        </p:txBody>
      </p:sp>
      <p:sp>
        <p:nvSpPr>
          <p:cNvPr id="2" name="Google Shape;388;g2762e187aa4_1_1348">
            <a:extLst>
              <a:ext uri="{FF2B5EF4-FFF2-40B4-BE49-F238E27FC236}">
                <a16:creationId xmlns:a16="http://schemas.microsoft.com/office/drawing/2014/main" id="{BF51E21E-EFAB-37C8-7617-E82C668C25C9}"/>
              </a:ext>
            </a:extLst>
          </p:cNvPr>
          <p:cNvSpPr txBox="1"/>
          <p:nvPr/>
        </p:nvSpPr>
        <p:spPr>
          <a:xfrm>
            <a:off x="426892" y="6173731"/>
            <a:ext cx="10373904" cy="31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/>
              <a:t>Boore, J.L. (1999) Animal mitochondrial genomes. Nucleic Acids Res., 27, 1767–1780.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 err="1"/>
              <a:t>Macey,J.R</a:t>
            </a:r>
            <a:r>
              <a:rPr lang="en-IN" sz="1000" dirty="0"/>
              <a:t>., </a:t>
            </a:r>
            <a:r>
              <a:rPr lang="en-IN" sz="1000" dirty="0" err="1"/>
              <a:t>Larson,A</a:t>
            </a:r>
            <a:r>
              <a:rPr lang="en-IN" sz="1000" dirty="0"/>
              <a:t>., </a:t>
            </a:r>
            <a:r>
              <a:rPr lang="en-IN" sz="1000" dirty="0" err="1"/>
              <a:t>Ananjeva,N.B</a:t>
            </a:r>
            <a:r>
              <a:rPr lang="en-IN" sz="1000" dirty="0"/>
              <a:t>. and </a:t>
            </a:r>
            <a:r>
              <a:rPr lang="en-IN" sz="1000" dirty="0" err="1"/>
              <a:t>Papenfuss,T</a:t>
            </a:r>
            <a:r>
              <a:rPr lang="en-IN" sz="1000" dirty="0"/>
              <a:t>. (1997) Evolutionary shifts in three major structural features of the mitochondrial genome among iguanian lizards. J. Mol. </a:t>
            </a:r>
            <a:r>
              <a:rPr lang="en-IN" sz="1000" dirty="0" err="1"/>
              <a:t>Evol</a:t>
            </a:r>
            <a:r>
              <a:rPr lang="en-IN" sz="1000" dirty="0"/>
              <a:t>., 44, 660–674.</a:t>
            </a:r>
            <a:endParaRPr sz="1000"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8280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255F871-7068-7099-51FF-5E054F22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09b74a80d_0_138">
            <a:extLst>
              <a:ext uri="{FF2B5EF4-FFF2-40B4-BE49-F238E27FC236}">
                <a16:creationId xmlns:a16="http://schemas.microsoft.com/office/drawing/2014/main" id="{215DD7BE-B7C1-DD38-2F25-D9A5AA0366FA}"/>
              </a:ext>
            </a:extLst>
          </p:cNvPr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>
            <a:extLst>
              <a:ext uri="{FF2B5EF4-FFF2-40B4-BE49-F238E27FC236}">
                <a16:creationId xmlns:a16="http://schemas.microsoft.com/office/drawing/2014/main" id="{1B6EE6F7-D46F-EEE8-EFCC-14C1312A0507}"/>
              </a:ext>
            </a:extLst>
          </p:cNvPr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>
            <a:extLst>
              <a:ext uri="{FF2B5EF4-FFF2-40B4-BE49-F238E27FC236}">
                <a16:creationId xmlns:a16="http://schemas.microsoft.com/office/drawing/2014/main" id="{D279EDA4-723E-C356-9631-A10F195BCB84}"/>
              </a:ext>
            </a:extLst>
          </p:cNvPr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>
            <a:extLst>
              <a:ext uri="{FF2B5EF4-FFF2-40B4-BE49-F238E27FC236}">
                <a16:creationId xmlns:a16="http://schemas.microsoft.com/office/drawing/2014/main" id="{41A5FAB0-BA96-8B82-4771-0370560391FE}"/>
              </a:ext>
            </a:extLst>
          </p:cNvPr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>
            <a:extLst>
              <a:ext uri="{FF2B5EF4-FFF2-40B4-BE49-F238E27FC236}">
                <a16:creationId xmlns:a16="http://schemas.microsoft.com/office/drawing/2014/main" id="{CD016097-3C4D-2F4B-6F5D-B45B8B036DF8}"/>
              </a:ext>
            </a:extLst>
          </p:cNvPr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>
            <a:extLst>
              <a:ext uri="{FF2B5EF4-FFF2-40B4-BE49-F238E27FC236}">
                <a16:creationId xmlns:a16="http://schemas.microsoft.com/office/drawing/2014/main" id="{591753E1-EC4F-68BB-B442-0B18D185A5F9}"/>
              </a:ext>
            </a:extLst>
          </p:cNvPr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009b74a80d_0_138">
            <a:extLst>
              <a:ext uri="{FF2B5EF4-FFF2-40B4-BE49-F238E27FC236}">
                <a16:creationId xmlns:a16="http://schemas.microsoft.com/office/drawing/2014/main" id="{32125DA0-9579-1962-9B14-9BF0AB4C2250}"/>
              </a:ext>
            </a:extLst>
          </p:cNvPr>
          <p:cNvSpPr/>
          <p:nvPr/>
        </p:nvSpPr>
        <p:spPr>
          <a:xfrm>
            <a:off x="0" y="629409"/>
            <a:ext cx="12192000" cy="67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ctr" anchorCtr="0">
            <a:noAutofit/>
          </a:bodyPr>
          <a:lstStyle/>
          <a:p>
            <a:pPr marL="15237" algn="ctr">
              <a:buClr>
                <a:srgbClr val="000000"/>
              </a:buClr>
              <a:buSzPts val="2800"/>
            </a:pPr>
            <a:r>
              <a:rPr lang="en-IN" sz="3200" b="1" dirty="0">
                <a:solidFill>
                  <a:srgbClr val="1F2ED4"/>
                </a:solidFill>
                <a:latin typeface="Arial"/>
                <a:ea typeface="Arial"/>
                <a:cs typeface="Arial"/>
                <a:sym typeface="Arial"/>
              </a:rPr>
              <a:t>Constructing motif vectors for these obtained sequences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>
            <a:extLst>
              <a:ext uri="{FF2B5EF4-FFF2-40B4-BE49-F238E27FC236}">
                <a16:creationId xmlns:a16="http://schemas.microsoft.com/office/drawing/2014/main" id="{C36703CE-DA7E-4825-96F3-E6D1F40B46FA}"/>
              </a:ext>
            </a:extLst>
          </p:cNvPr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>
            <a:extLst>
              <a:ext uri="{FF2B5EF4-FFF2-40B4-BE49-F238E27FC236}">
                <a16:creationId xmlns:a16="http://schemas.microsoft.com/office/drawing/2014/main" id="{5F18CCC2-7736-1FAC-9283-36A39A9E89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7</a:t>
            </a:fld>
            <a:r>
              <a:rPr lang="en-IN" dirty="0"/>
              <a:t>/8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26F6B-F1AE-44C6-AD3F-4D3E8EDA2D4C}"/>
              </a:ext>
            </a:extLst>
          </p:cNvPr>
          <p:cNvSpPr txBox="1"/>
          <p:nvPr/>
        </p:nvSpPr>
        <p:spPr>
          <a:xfrm>
            <a:off x="273050" y="1720850"/>
            <a:ext cx="11656604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For a sequence length of 60 bases, if we were to construct a 5-mer vector of length 512 for this sequence, we would end up with only about 512-60+1 non-zero entries in this vector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Most of the whole vectors will therefore have a high correlation with each other owing to multiple entries being zeroes.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Assigning a cutoff before performing a correlation is very dicey, since none of the motifs are expected to be ‘abundant’ in any way since they do not correspond to any functional regulation.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Therefore, using motif distributions to extrapolate and obtain ‘unknown’ motifs becomes even more trickier</a:t>
            </a:r>
          </a:p>
          <a:p>
            <a:pPr>
              <a:lnSpc>
                <a:spcPct val="150000"/>
              </a:lnSpc>
            </a:pPr>
            <a:endParaRPr lang="en-US" dirty="0">
              <a:latin typeface="Arial"/>
              <a:cs typeface="Arial"/>
              <a:sym typeface="Arial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One more problem is, if the unknown protein(s) chopped up the motif right in the middle, then we would never be able to detect it post-translocation. Things become further complicated if the sequences evolutionarily diverge over time.</a:t>
            </a:r>
          </a:p>
        </p:txBody>
      </p:sp>
    </p:spTree>
    <p:extLst>
      <p:ext uri="{BB962C8B-B14F-4D97-AF65-F5344CB8AC3E}">
        <p14:creationId xmlns:p14="http://schemas.microsoft.com/office/powerpoint/2010/main" val="374744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4F86B0D-900B-C2C8-C5D1-83593606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09b74a80d_0_138">
            <a:extLst>
              <a:ext uri="{FF2B5EF4-FFF2-40B4-BE49-F238E27FC236}">
                <a16:creationId xmlns:a16="http://schemas.microsoft.com/office/drawing/2014/main" id="{C583F86E-B61D-7DFB-1547-6F3119B154B7}"/>
              </a:ext>
            </a:extLst>
          </p:cNvPr>
          <p:cNvSpPr/>
          <p:nvPr/>
        </p:nvSpPr>
        <p:spPr>
          <a:xfrm>
            <a:off x="650" y="479360"/>
            <a:ext cx="12179286" cy="438"/>
          </a:xfrm>
          <a:custGeom>
            <a:avLst/>
            <a:gdLst/>
            <a:ahLst/>
            <a:cxnLst/>
            <a:rect l="l" t="t" r="r" b="b"/>
            <a:pathLst>
              <a:path w="10070465" h="1904" extrusionOk="0">
                <a:moveTo>
                  <a:pt x="0" y="0"/>
                </a:moveTo>
                <a:lnTo>
                  <a:pt x="10070084" y="1524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2009b74a80d_0_138">
            <a:extLst>
              <a:ext uri="{FF2B5EF4-FFF2-40B4-BE49-F238E27FC236}">
                <a16:creationId xmlns:a16="http://schemas.microsoft.com/office/drawing/2014/main" id="{60328EEA-92F8-7EDB-69F7-D2E9E844FE33}"/>
              </a:ext>
            </a:extLst>
          </p:cNvPr>
          <p:cNvSpPr/>
          <p:nvPr/>
        </p:nvSpPr>
        <p:spPr>
          <a:xfrm>
            <a:off x="426892" y="86207"/>
            <a:ext cx="157609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009b74a80d_0_138">
            <a:extLst>
              <a:ext uri="{FF2B5EF4-FFF2-40B4-BE49-F238E27FC236}">
                <a16:creationId xmlns:a16="http://schemas.microsoft.com/office/drawing/2014/main" id="{A8912C3B-1B0E-7C10-B6B3-5261672A104C}"/>
              </a:ext>
            </a:extLst>
          </p:cNvPr>
          <p:cNvSpPr/>
          <p:nvPr/>
        </p:nvSpPr>
        <p:spPr>
          <a:xfrm>
            <a:off x="5224850" y="87077"/>
            <a:ext cx="1705263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2009b74a80d_0_138">
            <a:extLst>
              <a:ext uri="{FF2B5EF4-FFF2-40B4-BE49-F238E27FC236}">
                <a16:creationId xmlns:a16="http://schemas.microsoft.com/office/drawing/2014/main" id="{4301DA9E-678B-3F48-CF15-5BA32C76C3D5}"/>
              </a:ext>
            </a:extLst>
          </p:cNvPr>
          <p:cNvSpPr/>
          <p:nvPr/>
        </p:nvSpPr>
        <p:spPr>
          <a:xfrm>
            <a:off x="2699609" y="87077"/>
            <a:ext cx="1739368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Specific  Aims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009b74a80d_0_138">
            <a:extLst>
              <a:ext uri="{FF2B5EF4-FFF2-40B4-BE49-F238E27FC236}">
                <a16:creationId xmlns:a16="http://schemas.microsoft.com/office/drawing/2014/main" id="{96F93EEA-6DE3-655E-63FB-EF83DDC47DBF}"/>
              </a:ext>
            </a:extLst>
          </p:cNvPr>
          <p:cNvSpPr/>
          <p:nvPr/>
        </p:nvSpPr>
        <p:spPr>
          <a:xfrm>
            <a:off x="8132360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009b74a80d_0_138">
            <a:extLst>
              <a:ext uri="{FF2B5EF4-FFF2-40B4-BE49-F238E27FC236}">
                <a16:creationId xmlns:a16="http://schemas.microsoft.com/office/drawing/2014/main" id="{C034FBAB-1317-CD1C-8035-DD71D1490B73}"/>
              </a:ext>
            </a:extLst>
          </p:cNvPr>
          <p:cNvSpPr/>
          <p:nvPr/>
        </p:nvSpPr>
        <p:spPr>
          <a:xfrm>
            <a:off x="10275331" y="87077"/>
            <a:ext cx="1531109" cy="306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t" anchorCtr="0">
            <a:noAutofit/>
          </a:bodyPr>
          <a:lstStyle/>
          <a:p>
            <a:pPr marL="15237">
              <a:buClr>
                <a:srgbClr val="000000"/>
              </a:buClr>
              <a:buSzPts val="1600"/>
            </a:pPr>
            <a:r>
              <a:rPr lang="en-IN" sz="1935" b="1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93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009b74a80d_0_138">
            <a:extLst>
              <a:ext uri="{FF2B5EF4-FFF2-40B4-BE49-F238E27FC236}">
                <a16:creationId xmlns:a16="http://schemas.microsoft.com/office/drawing/2014/main" id="{106A02D3-DF64-95BF-65F4-2DB8CFAB11D4}"/>
              </a:ext>
            </a:extLst>
          </p:cNvPr>
          <p:cNvSpPr/>
          <p:nvPr/>
        </p:nvSpPr>
        <p:spPr>
          <a:xfrm>
            <a:off x="0" y="629409"/>
            <a:ext cx="12192000" cy="67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85" rIns="0" bIns="0" anchor="ctr" anchorCtr="0">
            <a:noAutofit/>
          </a:bodyPr>
          <a:lstStyle/>
          <a:p>
            <a:pPr marL="15237" algn="ctr">
              <a:buClr>
                <a:srgbClr val="000000"/>
              </a:buClr>
              <a:buSzPts val="2800"/>
            </a:pPr>
            <a:r>
              <a:rPr lang="en-IN" sz="3200" b="1" dirty="0">
                <a:solidFill>
                  <a:srgbClr val="1F2ED4"/>
                </a:solidFill>
                <a:latin typeface="Arial"/>
                <a:ea typeface="Arial"/>
                <a:cs typeface="Arial"/>
                <a:sym typeface="Arial"/>
              </a:rPr>
              <a:t>A molecular signal-hypothesis vs. a biophysical explanation</a:t>
            </a:r>
            <a:endParaRPr sz="3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2009b74a80d_0_138">
            <a:extLst>
              <a:ext uri="{FF2B5EF4-FFF2-40B4-BE49-F238E27FC236}">
                <a16:creationId xmlns:a16="http://schemas.microsoft.com/office/drawing/2014/main" id="{5364D065-FC1D-EC7B-CB7F-E9A3B25C43BA}"/>
              </a:ext>
            </a:extLst>
          </p:cNvPr>
          <p:cNvSpPr/>
          <p:nvPr/>
        </p:nvSpPr>
        <p:spPr>
          <a:xfrm>
            <a:off x="11493542" y="6356641"/>
            <a:ext cx="436112" cy="35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47" tIns="54423" rIns="108847" bIns="54423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009b74a80d_0_138">
            <a:extLst>
              <a:ext uri="{FF2B5EF4-FFF2-40B4-BE49-F238E27FC236}">
                <a16:creationId xmlns:a16="http://schemas.microsoft.com/office/drawing/2014/main" id="{D178A29C-E9AF-F285-05E3-F71B53E412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8860" y="6333135"/>
            <a:ext cx="731449" cy="5250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0570" tIns="110570" rIns="110570" bIns="110570" rtlCol="0" anchor="t" anchorCtr="0">
            <a:noAutofit/>
          </a:bodyPr>
          <a:lstStyle/>
          <a:p>
            <a:pPr>
              <a:buSzPts val="1300"/>
            </a:pPr>
            <a:fld id="{00000000-1234-1234-1234-123412341234}" type="slidenum">
              <a:rPr lang="en-IN" smtClean="0"/>
              <a:pPr>
                <a:buSzPts val="1300"/>
              </a:pPr>
              <a:t>8</a:t>
            </a:fld>
            <a:r>
              <a:rPr lang="en-IN" dirty="0"/>
              <a:t>/8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75BDC-B649-B3A5-72C7-1D1546B92AAC}"/>
              </a:ext>
            </a:extLst>
          </p:cNvPr>
          <p:cNvSpPr txBox="1"/>
          <p:nvPr/>
        </p:nvSpPr>
        <p:spPr>
          <a:xfrm>
            <a:off x="273050" y="1720850"/>
            <a:ext cx="11656604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Below is a ChatGPT-ed list of possible ways in which translocations could potentially take place in the human nuclear genome. The molecular-signal hypothesis is that the proteins involved in some of these pathways will show up as their corresponding binding sites when we </a:t>
            </a:r>
            <a:r>
              <a:rPr lang="en-US" dirty="0" err="1">
                <a:latin typeface="Arial"/>
                <a:cs typeface="Arial"/>
                <a:sym typeface="Arial"/>
              </a:rPr>
              <a:t>analyse</a:t>
            </a:r>
            <a:r>
              <a:rPr lang="en-US" dirty="0">
                <a:latin typeface="Arial"/>
                <a:cs typeface="Arial"/>
                <a:sym typeface="Arial"/>
              </a:rPr>
              <a:t> the motif vectors obtained.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/>
                <a:cs typeface="Arial"/>
                <a:sym typeface="Arial"/>
              </a:rPr>
              <a:t>	(</a:t>
            </a:r>
            <a:r>
              <a:rPr lang="en-US" dirty="0">
                <a:latin typeface="Arial"/>
                <a:cs typeface="Arial"/>
                <a:sym typeface="Arial"/>
                <a:hlinkClick r:id="rId3"/>
              </a:rPr>
              <a:t>Link to .md file</a:t>
            </a:r>
            <a:r>
              <a:rPr lang="en-US" dirty="0">
                <a:latin typeface="Arial"/>
                <a:cs typeface="Arial"/>
                <a:sym typeface="Arial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The biophysical explanation is that the motifs will simply be AT-rich and therefore be more prone to being chopped up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Arial"/>
              <a:cs typeface="Arial"/>
              <a:sym typeface="Arial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What’s next would then be to obtain the matrices on the ~15K-ish animal genomes and </a:t>
            </a:r>
            <a:r>
              <a:rPr lang="en-US" dirty="0" err="1">
                <a:latin typeface="Arial"/>
                <a:cs typeface="Arial"/>
                <a:sym typeface="Arial"/>
              </a:rPr>
              <a:t>analyse</a:t>
            </a:r>
            <a:r>
              <a:rPr lang="en-US" dirty="0">
                <a:latin typeface="Arial"/>
                <a:cs typeface="Arial"/>
                <a:sym typeface="Arial"/>
              </a:rPr>
              <a:t> them for these two broad possibilities.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Arial"/>
                <a:cs typeface="Arial"/>
                <a:sym typeface="Arial"/>
              </a:rPr>
              <a:t>If there does exist a signal of sorts, then the next step would be to look for whether this signal is present in the other two datasets</a:t>
            </a:r>
          </a:p>
        </p:txBody>
      </p:sp>
    </p:spTree>
    <p:extLst>
      <p:ext uri="{BB962C8B-B14F-4D97-AF65-F5344CB8AC3E}">
        <p14:creationId xmlns:p14="http://schemas.microsoft.com/office/powerpoint/2010/main" val="246166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783</Words>
  <Application>Microsoft Office PowerPoint</Application>
  <PresentationFormat>Widescreen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Looking for translocation signals across mitogenomes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Venkatesh</dc:creator>
  <cp:lastModifiedBy>Lokesh Venkatesh</cp:lastModifiedBy>
  <cp:revision>13</cp:revision>
  <dcterms:created xsi:type="dcterms:W3CDTF">2025-03-17T15:21:22Z</dcterms:created>
  <dcterms:modified xsi:type="dcterms:W3CDTF">2025-03-17T18:32:37Z</dcterms:modified>
</cp:coreProperties>
</file>