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1"/>
  </p:notesMasterIdLst>
  <p:sldIdLst>
    <p:sldId id="265" r:id="rId2"/>
    <p:sldId id="257" r:id="rId3"/>
    <p:sldId id="258" r:id="rId4"/>
    <p:sldId id="263" r:id="rId5"/>
    <p:sldId id="259" r:id="rId6"/>
    <p:sldId id="261" r:id="rId7"/>
    <p:sldId id="260" r:id="rId8"/>
    <p:sldId id="264" r:id="rId9"/>
    <p:sldId id="262" r:id="rId10"/>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6006" autoAdjust="0"/>
    <p:restoredTop sz="76810" autoAdjust="0"/>
  </p:normalViewPr>
  <p:slideViewPr>
    <p:cSldViewPr snapToGrid="0">
      <p:cViewPr varScale="1">
        <p:scale>
          <a:sx n="68" d="100"/>
          <a:sy n="68" d="100"/>
        </p:scale>
        <p:origin x="972" y="33"/>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presProps" Target="pres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tableStyles" Target="tableStyle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IN"/>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E912F67-98D9-4316-A19D-CCEB9F082AD0}" type="datetimeFigureOut">
              <a:rPr lang="en-IN" smtClean="0"/>
              <a:t>19-03-2025</a:t>
            </a:fld>
            <a:endParaRPr lang="en-IN"/>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IN"/>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IN"/>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2C2E93A-0E92-4D89-9D4F-8B2C470C89CD}" type="slidenum">
              <a:rPr lang="en-IN" smtClean="0"/>
              <a:t>‹#›</a:t>
            </a:fld>
            <a:endParaRPr lang="en-IN"/>
          </a:p>
        </p:txBody>
      </p:sp>
    </p:spTree>
    <p:extLst>
      <p:ext uri="{BB962C8B-B14F-4D97-AF65-F5344CB8AC3E}">
        <p14:creationId xmlns:p14="http://schemas.microsoft.com/office/powerpoint/2010/main" val="150165401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DCFA40-9FCD-E3D2-D575-FC001AD2A1B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97129A8-5950-4450-2D69-EECCF7CF613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E04B6AD-EDD0-6367-BB04-75A664F78E20}"/>
              </a:ext>
            </a:extLst>
          </p:cNvPr>
          <p:cNvSpPr>
            <a:spLocks noGrp="1"/>
          </p:cNvSpPr>
          <p:nvPr>
            <p:ph type="body" idx="1"/>
          </p:nvPr>
        </p:nvSpPr>
        <p:spPr/>
        <p:txBody>
          <a:bodyPr/>
          <a:lstStyle/>
          <a:p>
            <a:pPr algn="just">
              <a:spcAft>
                <a:spcPts val="1125"/>
              </a:spcAft>
              <a:buNone/>
            </a:pPr>
            <a:r>
              <a:rPr lang="en-IN" b="0" i="0" dirty="0">
                <a:solidFill>
                  <a:srgbClr val="000000"/>
                </a:solidFill>
                <a:effectLst/>
                <a:latin typeface="Open Sans" panose="020F0502020204030204" pitchFamily="34" charset="0"/>
              </a:rPr>
              <a:t>Lorem ipsum </a:t>
            </a:r>
            <a:r>
              <a:rPr lang="en-IN" b="0" i="0" dirty="0" err="1">
                <a:solidFill>
                  <a:srgbClr val="000000"/>
                </a:solidFill>
                <a:effectLst/>
                <a:latin typeface="Open Sans" panose="020F0502020204030204" pitchFamily="34" charset="0"/>
              </a:rPr>
              <a:t>dolor</a:t>
            </a:r>
            <a:r>
              <a:rPr lang="en-IN" b="0" i="0" dirty="0">
                <a:solidFill>
                  <a:srgbClr val="000000"/>
                </a:solidFill>
                <a:effectLst/>
                <a:latin typeface="Open Sans" panose="020F0502020204030204" pitchFamily="34" charset="0"/>
              </a:rPr>
              <a:t> sit </a:t>
            </a:r>
            <a:r>
              <a:rPr lang="en-IN" b="0" i="0" dirty="0" err="1">
                <a:solidFill>
                  <a:srgbClr val="000000"/>
                </a:solidFill>
                <a:effectLst/>
                <a:latin typeface="Open Sans" panose="020F0502020204030204" pitchFamily="34" charset="0"/>
              </a:rPr>
              <a:t>amet</a:t>
            </a:r>
            <a:r>
              <a:rPr lang="en-IN" b="0" i="0" dirty="0">
                <a:solidFill>
                  <a:srgbClr val="000000"/>
                </a:solidFill>
                <a:effectLst/>
                <a:latin typeface="Open Sans" panose="020F0502020204030204" pitchFamily="34" charset="0"/>
              </a:rPr>
              <a:t>, </a:t>
            </a:r>
            <a:r>
              <a:rPr lang="en-IN" b="0" i="0" dirty="0" err="1">
                <a:solidFill>
                  <a:srgbClr val="000000"/>
                </a:solidFill>
                <a:effectLst/>
                <a:latin typeface="Open Sans" panose="020F0502020204030204" pitchFamily="34" charset="0"/>
              </a:rPr>
              <a:t>consectetur</a:t>
            </a:r>
            <a:r>
              <a:rPr lang="en-IN" b="0" i="0" dirty="0">
                <a:solidFill>
                  <a:srgbClr val="000000"/>
                </a:solidFill>
                <a:effectLst/>
                <a:latin typeface="Open Sans" panose="020F0502020204030204" pitchFamily="34" charset="0"/>
              </a:rPr>
              <a:t> </a:t>
            </a:r>
            <a:r>
              <a:rPr lang="en-IN" b="0" i="0" dirty="0" err="1">
                <a:solidFill>
                  <a:srgbClr val="000000"/>
                </a:solidFill>
                <a:effectLst/>
                <a:latin typeface="Open Sans" panose="020F0502020204030204" pitchFamily="34" charset="0"/>
              </a:rPr>
              <a:t>adipiscing</a:t>
            </a:r>
            <a:r>
              <a:rPr lang="en-IN" b="0" i="0" dirty="0">
                <a:solidFill>
                  <a:srgbClr val="000000"/>
                </a:solidFill>
                <a:effectLst/>
                <a:latin typeface="Open Sans" panose="020F0502020204030204" pitchFamily="34" charset="0"/>
              </a:rPr>
              <a:t> </a:t>
            </a:r>
            <a:r>
              <a:rPr lang="en-IN" b="0" i="0" dirty="0" err="1">
                <a:solidFill>
                  <a:srgbClr val="000000"/>
                </a:solidFill>
                <a:effectLst/>
                <a:latin typeface="Open Sans" panose="020F0502020204030204" pitchFamily="34" charset="0"/>
              </a:rPr>
              <a:t>elit</a:t>
            </a:r>
            <a:r>
              <a:rPr lang="en-IN" b="0" i="0" dirty="0">
                <a:solidFill>
                  <a:srgbClr val="000000"/>
                </a:solidFill>
                <a:effectLst/>
                <a:latin typeface="Open Sans" panose="020F0502020204030204" pitchFamily="34" charset="0"/>
              </a:rPr>
              <a:t>. Sed sit </a:t>
            </a:r>
            <a:r>
              <a:rPr lang="en-IN" b="0" i="0" dirty="0" err="1">
                <a:solidFill>
                  <a:srgbClr val="000000"/>
                </a:solidFill>
                <a:effectLst/>
                <a:latin typeface="Open Sans" panose="020F0502020204030204" pitchFamily="34" charset="0"/>
              </a:rPr>
              <a:t>amet</a:t>
            </a:r>
            <a:r>
              <a:rPr lang="en-IN" b="0" i="0" dirty="0">
                <a:solidFill>
                  <a:srgbClr val="000000"/>
                </a:solidFill>
                <a:effectLst/>
                <a:latin typeface="Open Sans" panose="020F0502020204030204" pitchFamily="34" charset="0"/>
              </a:rPr>
              <a:t> </a:t>
            </a:r>
            <a:r>
              <a:rPr lang="en-IN" b="0" i="0" dirty="0" err="1">
                <a:solidFill>
                  <a:srgbClr val="000000"/>
                </a:solidFill>
                <a:effectLst/>
                <a:latin typeface="Open Sans" panose="020F0502020204030204" pitchFamily="34" charset="0"/>
              </a:rPr>
              <a:t>condimentum</a:t>
            </a:r>
            <a:r>
              <a:rPr lang="en-IN" b="0" i="0" dirty="0">
                <a:solidFill>
                  <a:srgbClr val="000000"/>
                </a:solidFill>
                <a:effectLst/>
                <a:latin typeface="Open Sans" panose="020F0502020204030204" pitchFamily="34" charset="0"/>
              </a:rPr>
              <a:t> </a:t>
            </a:r>
            <a:r>
              <a:rPr lang="en-IN" b="0" i="0" dirty="0" err="1">
                <a:solidFill>
                  <a:srgbClr val="000000"/>
                </a:solidFill>
                <a:effectLst/>
                <a:latin typeface="Open Sans" panose="020F0502020204030204" pitchFamily="34" charset="0"/>
              </a:rPr>
              <a:t>massa</a:t>
            </a:r>
            <a:r>
              <a:rPr lang="en-IN" b="0" i="0" dirty="0">
                <a:solidFill>
                  <a:srgbClr val="000000"/>
                </a:solidFill>
                <a:effectLst/>
                <a:latin typeface="Open Sans" panose="020F0502020204030204" pitchFamily="34" charset="0"/>
              </a:rPr>
              <a:t>, at porta magna. </a:t>
            </a:r>
            <a:r>
              <a:rPr lang="en-IN" b="0" i="0" dirty="0" err="1">
                <a:solidFill>
                  <a:srgbClr val="000000"/>
                </a:solidFill>
                <a:effectLst/>
                <a:latin typeface="Open Sans" panose="020F0502020204030204" pitchFamily="34" charset="0"/>
              </a:rPr>
              <a:t>Quisque</a:t>
            </a:r>
            <a:r>
              <a:rPr lang="en-IN" b="0" i="0" dirty="0">
                <a:solidFill>
                  <a:srgbClr val="000000"/>
                </a:solidFill>
                <a:effectLst/>
                <a:latin typeface="Open Sans" panose="020F0502020204030204" pitchFamily="34" charset="0"/>
              </a:rPr>
              <a:t> lacinia </a:t>
            </a:r>
            <a:r>
              <a:rPr lang="en-IN" b="0" i="0" dirty="0" err="1">
                <a:solidFill>
                  <a:srgbClr val="000000"/>
                </a:solidFill>
                <a:effectLst/>
                <a:latin typeface="Open Sans" panose="020F0502020204030204" pitchFamily="34" charset="0"/>
              </a:rPr>
              <a:t>dapibus</a:t>
            </a:r>
            <a:r>
              <a:rPr lang="en-IN" b="0" i="0" dirty="0">
                <a:solidFill>
                  <a:srgbClr val="000000"/>
                </a:solidFill>
                <a:effectLst/>
                <a:latin typeface="Open Sans" panose="020F0502020204030204" pitchFamily="34" charset="0"/>
              </a:rPr>
              <a:t> </a:t>
            </a:r>
            <a:r>
              <a:rPr lang="en-IN" b="0" i="0" dirty="0" err="1">
                <a:solidFill>
                  <a:srgbClr val="000000"/>
                </a:solidFill>
                <a:effectLst/>
                <a:latin typeface="Open Sans" panose="020F0502020204030204" pitchFamily="34" charset="0"/>
              </a:rPr>
              <a:t>risus</a:t>
            </a:r>
            <a:r>
              <a:rPr lang="en-IN" b="0" i="0" dirty="0">
                <a:solidFill>
                  <a:srgbClr val="000000"/>
                </a:solidFill>
                <a:effectLst/>
                <a:latin typeface="Open Sans" panose="020F0502020204030204" pitchFamily="34" charset="0"/>
              </a:rPr>
              <a:t> non </a:t>
            </a:r>
            <a:r>
              <a:rPr lang="en-IN" b="0" i="0" dirty="0" err="1">
                <a:solidFill>
                  <a:srgbClr val="000000"/>
                </a:solidFill>
                <a:effectLst/>
                <a:latin typeface="Open Sans" panose="020F0502020204030204" pitchFamily="34" charset="0"/>
              </a:rPr>
              <a:t>vulputate</a:t>
            </a:r>
            <a:r>
              <a:rPr lang="en-IN" b="0" i="0" dirty="0">
                <a:solidFill>
                  <a:srgbClr val="000000"/>
                </a:solidFill>
                <a:effectLst/>
                <a:latin typeface="Open Sans" panose="020F0502020204030204" pitchFamily="34" charset="0"/>
              </a:rPr>
              <a:t>. </a:t>
            </a:r>
            <a:r>
              <a:rPr lang="en-IN" b="0" i="0" dirty="0" err="1">
                <a:solidFill>
                  <a:srgbClr val="000000"/>
                </a:solidFill>
                <a:effectLst/>
                <a:latin typeface="Open Sans" panose="020F0502020204030204" pitchFamily="34" charset="0"/>
              </a:rPr>
              <a:t>Phasellus</a:t>
            </a:r>
            <a:r>
              <a:rPr lang="en-IN" b="0" i="0" dirty="0">
                <a:solidFill>
                  <a:srgbClr val="000000"/>
                </a:solidFill>
                <a:effectLst/>
                <a:latin typeface="Open Sans" panose="020F0502020204030204" pitchFamily="34" charset="0"/>
              </a:rPr>
              <a:t> </a:t>
            </a:r>
            <a:r>
              <a:rPr lang="en-IN" b="0" i="0" dirty="0" err="1">
                <a:solidFill>
                  <a:srgbClr val="000000"/>
                </a:solidFill>
                <a:effectLst/>
                <a:latin typeface="Open Sans" panose="020F0502020204030204" pitchFamily="34" charset="0"/>
              </a:rPr>
              <a:t>vel</a:t>
            </a:r>
            <a:r>
              <a:rPr lang="en-IN" b="0" i="0" dirty="0">
                <a:solidFill>
                  <a:srgbClr val="000000"/>
                </a:solidFill>
                <a:effectLst/>
                <a:latin typeface="Open Sans" panose="020F0502020204030204" pitchFamily="34" charset="0"/>
              </a:rPr>
              <a:t> </a:t>
            </a:r>
            <a:r>
              <a:rPr lang="en-IN" b="0" i="0" dirty="0" err="1">
                <a:solidFill>
                  <a:srgbClr val="000000"/>
                </a:solidFill>
                <a:effectLst/>
                <a:latin typeface="Open Sans" panose="020F0502020204030204" pitchFamily="34" charset="0"/>
              </a:rPr>
              <a:t>viverra</a:t>
            </a:r>
            <a:r>
              <a:rPr lang="en-IN" b="0" i="0" dirty="0">
                <a:solidFill>
                  <a:srgbClr val="000000"/>
                </a:solidFill>
                <a:effectLst/>
                <a:latin typeface="Open Sans" panose="020F0502020204030204" pitchFamily="34" charset="0"/>
              </a:rPr>
              <a:t> </a:t>
            </a:r>
            <a:r>
              <a:rPr lang="en-IN" b="0" i="0" dirty="0" err="1">
                <a:solidFill>
                  <a:srgbClr val="000000"/>
                </a:solidFill>
                <a:effectLst/>
                <a:latin typeface="Open Sans" panose="020F0502020204030204" pitchFamily="34" charset="0"/>
              </a:rPr>
              <a:t>leo</a:t>
            </a:r>
            <a:r>
              <a:rPr lang="en-IN" b="0" i="0" dirty="0">
                <a:solidFill>
                  <a:srgbClr val="000000"/>
                </a:solidFill>
                <a:effectLst/>
                <a:latin typeface="Open Sans" panose="020F0502020204030204" pitchFamily="34" charset="0"/>
              </a:rPr>
              <a:t>. </a:t>
            </a:r>
            <a:r>
              <a:rPr lang="en-IN" b="0" i="0" dirty="0" err="1">
                <a:solidFill>
                  <a:srgbClr val="000000"/>
                </a:solidFill>
                <a:effectLst/>
                <a:latin typeface="Open Sans" panose="020F0502020204030204" pitchFamily="34" charset="0"/>
              </a:rPr>
              <a:t>Phasellus</a:t>
            </a:r>
            <a:r>
              <a:rPr lang="en-IN" b="0" i="0" dirty="0">
                <a:solidFill>
                  <a:srgbClr val="000000"/>
                </a:solidFill>
                <a:effectLst/>
                <a:latin typeface="Open Sans" panose="020F0502020204030204" pitchFamily="34" charset="0"/>
              </a:rPr>
              <a:t> </a:t>
            </a:r>
            <a:r>
              <a:rPr lang="en-IN" b="0" i="0" dirty="0" err="1">
                <a:solidFill>
                  <a:srgbClr val="000000"/>
                </a:solidFill>
                <a:effectLst/>
                <a:latin typeface="Open Sans" panose="020F0502020204030204" pitchFamily="34" charset="0"/>
              </a:rPr>
              <a:t>varius</a:t>
            </a:r>
            <a:r>
              <a:rPr lang="en-IN" b="0" i="0" dirty="0">
                <a:solidFill>
                  <a:srgbClr val="000000"/>
                </a:solidFill>
                <a:effectLst/>
                <a:latin typeface="Open Sans" panose="020F0502020204030204" pitchFamily="34" charset="0"/>
              </a:rPr>
              <a:t> </a:t>
            </a:r>
            <a:r>
              <a:rPr lang="en-IN" b="0" i="0" dirty="0" err="1">
                <a:solidFill>
                  <a:srgbClr val="000000"/>
                </a:solidFill>
                <a:effectLst/>
                <a:latin typeface="Open Sans" panose="020F0502020204030204" pitchFamily="34" charset="0"/>
              </a:rPr>
              <a:t>odio</a:t>
            </a:r>
            <a:r>
              <a:rPr lang="en-IN" b="0" i="0" dirty="0">
                <a:solidFill>
                  <a:srgbClr val="000000"/>
                </a:solidFill>
                <a:effectLst/>
                <a:latin typeface="Open Sans" panose="020F0502020204030204" pitchFamily="34" charset="0"/>
              </a:rPr>
              <a:t> </a:t>
            </a:r>
            <a:r>
              <a:rPr lang="en-IN" b="0" i="0" dirty="0" err="1">
                <a:solidFill>
                  <a:srgbClr val="000000"/>
                </a:solidFill>
                <a:effectLst/>
                <a:latin typeface="Open Sans" panose="020F0502020204030204" pitchFamily="34" charset="0"/>
              </a:rPr>
              <a:t>rhoncus</a:t>
            </a:r>
            <a:r>
              <a:rPr lang="en-IN" b="0" i="0" dirty="0">
                <a:solidFill>
                  <a:srgbClr val="000000"/>
                </a:solidFill>
                <a:effectLst/>
                <a:latin typeface="Open Sans" panose="020F0502020204030204" pitchFamily="34" charset="0"/>
              </a:rPr>
              <a:t> </a:t>
            </a:r>
            <a:r>
              <a:rPr lang="en-IN" b="0" i="0" dirty="0" err="1">
                <a:solidFill>
                  <a:srgbClr val="000000"/>
                </a:solidFill>
                <a:effectLst/>
                <a:latin typeface="Open Sans" panose="020F0502020204030204" pitchFamily="34" charset="0"/>
              </a:rPr>
              <a:t>risus</a:t>
            </a:r>
            <a:r>
              <a:rPr lang="en-IN" b="0" i="0" dirty="0">
                <a:solidFill>
                  <a:srgbClr val="000000"/>
                </a:solidFill>
                <a:effectLst/>
                <a:latin typeface="Open Sans" panose="020F0502020204030204" pitchFamily="34" charset="0"/>
              </a:rPr>
              <a:t> </a:t>
            </a:r>
            <a:r>
              <a:rPr lang="en-IN" b="0" i="0" dirty="0" err="1">
                <a:solidFill>
                  <a:srgbClr val="000000"/>
                </a:solidFill>
                <a:effectLst/>
                <a:latin typeface="Open Sans" panose="020F0502020204030204" pitchFamily="34" charset="0"/>
              </a:rPr>
              <a:t>lobortis</a:t>
            </a:r>
            <a:r>
              <a:rPr lang="en-IN" b="0" i="0" dirty="0">
                <a:solidFill>
                  <a:srgbClr val="000000"/>
                </a:solidFill>
                <a:effectLst/>
                <a:latin typeface="Open Sans" panose="020F0502020204030204" pitchFamily="34" charset="0"/>
              </a:rPr>
              <a:t>, at </a:t>
            </a:r>
            <a:r>
              <a:rPr lang="en-IN" b="0" i="0" dirty="0" err="1">
                <a:solidFill>
                  <a:srgbClr val="000000"/>
                </a:solidFill>
                <a:effectLst/>
                <a:latin typeface="Open Sans" panose="020F0502020204030204" pitchFamily="34" charset="0"/>
              </a:rPr>
              <a:t>facilisis</a:t>
            </a:r>
            <a:r>
              <a:rPr lang="en-IN" b="0" i="0" dirty="0">
                <a:solidFill>
                  <a:srgbClr val="000000"/>
                </a:solidFill>
                <a:effectLst/>
                <a:latin typeface="Open Sans" panose="020F0502020204030204" pitchFamily="34" charset="0"/>
              </a:rPr>
              <a:t> </a:t>
            </a:r>
            <a:r>
              <a:rPr lang="en-IN" b="0" i="0" dirty="0" err="1">
                <a:solidFill>
                  <a:srgbClr val="000000"/>
                </a:solidFill>
                <a:effectLst/>
                <a:latin typeface="Open Sans" panose="020F0502020204030204" pitchFamily="34" charset="0"/>
              </a:rPr>
              <a:t>tortor</a:t>
            </a:r>
            <a:r>
              <a:rPr lang="en-IN" b="0" i="0" dirty="0">
                <a:solidFill>
                  <a:srgbClr val="000000"/>
                </a:solidFill>
                <a:effectLst/>
                <a:latin typeface="Open Sans" panose="020F0502020204030204" pitchFamily="34" charset="0"/>
              </a:rPr>
              <a:t> </a:t>
            </a:r>
            <a:r>
              <a:rPr lang="en-IN" b="0" i="0" dirty="0" err="1">
                <a:solidFill>
                  <a:srgbClr val="000000"/>
                </a:solidFill>
                <a:effectLst/>
                <a:latin typeface="Open Sans" panose="020F0502020204030204" pitchFamily="34" charset="0"/>
              </a:rPr>
              <a:t>porttitor</a:t>
            </a:r>
            <a:r>
              <a:rPr lang="en-IN" b="0" i="0" dirty="0">
                <a:solidFill>
                  <a:srgbClr val="000000"/>
                </a:solidFill>
                <a:effectLst/>
                <a:latin typeface="Open Sans" panose="020F0502020204030204" pitchFamily="34" charset="0"/>
              </a:rPr>
              <a:t>. In id </a:t>
            </a:r>
            <a:r>
              <a:rPr lang="en-IN" b="0" i="0" dirty="0" err="1">
                <a:solidFill>
                  <a:srgbClr val="000000"/>
                </a:solidFill>
                <a:effectLst/>
                <a:latin typeface="Open Sans" panose="020F0502020204030204" pitchFamily="34" charset="0"/>
              </a:rPr>
              <a:t>pellentesque</a:t>
            </a:r>
            <a:r>
              <a:rPr lang="en-IN" b="0" i="0" dirty="0">
                <a:solidFill>
                  <a:srgbClr val="000000"/>
                </a:solidFill>
                <a:effectLst/>
                <a:latin typeface="Open Sans" panose="020F0502020204030204" pitchFamily="34" charset="0"/>
              </a:rPr>
              <a:t> </a:t>
            </a:r>
            <a:r>
              <a:rPr lang="en-IN" b="0" i="0" dirty="0" err="1">
                <a:solidFill>
                  <a:srgbClr val="000000"/>
                </a:solidFill>
                <a:effectLst/>
                <a:latin typeface="Open Sans" panose="020F0502020204030204" pitchFamily="34" charset="0"/>
              </a:rPr>
              <a:t>sapien</a:t>
            </a:r>
            <a:r>
              <a:rPr lang="en-IN" b="0" i="0" dirty="0">
                <a:solidFill>
                  <a:srgbClr val="000000"/>
                </a:solidFill>
                <a:effectLst/>
                <a:latin typeface="Open Sans" panose="020F0502020204030204" pitchFamily="34" charset="0"/>
              </a:rPr>
              <a:t>, </a:t>
            </a:r>
            <a:r>
              <a:rPr lang="en-IN" b="0" i="0" dirty="0" err="1">
                <a:solidFill>
                  <a:srgbClr val="000000"/>
                </a:solidFill>
                <a:effectLst/>
                <a:latin typeface="Open Sans" panose="020F0502020204030204" pitchFamily="34" charset="0"/>
              </a:rPr>
              <a:t>sed</a:t>
            </a:r>
            <a:r>
              <a:rPr lang="en-IN" b="0" i="0" dirty="0">
                <a:solidFill>
                  <a:srgbClr val="000000"/>
                </a:solidFill>
                <a:effectLst/>
                <a:latin typeface="Open Sans" panose="020F0502020204030204" pitchFamily="34" charset="0"/>
              </a:rPr>
              <a:t> auctor </a:t>
            </a:r>
            <a:r>
              <a:rPr lang="en-IN" b="0" i="0" dirty="0" err="1">
                <a:solidFill>
                  <a:srgbClr val="000000"/>
                </a:solidFill>
                <a:effectLst/>
                <a:latin typeface="Open Sans" panose="020F0502020204030204" pitchFamily="34" charset="0"/>
              </a:rPr>
              <a:t>risus</a:t>
            </a:r>
            <a:r>
              <a:rPr lang="en-IN" b="0" i="0" dirty="0">
                <a:solidFill>
                  <a:srgbClr val="000000"/>
                </a:solidFill>
                <a:effectLst/>
                <a:latin typeface="Open Sans" panose="020F0502020204030204" pitchFamily="34" charset="0"/>
              </a:rPr>
              <a:t>. </a:t>
            </a:r>
            <a:r>
              <a:rPr lang="en-IN" b="0" i="0" dirty="0" err="1">
                <a:solidFill>
                  <a:srgbClr val="000000"/>
                </a:solidFill>
                <a:effectLst/>
                <a:latin typeface="Open Sans" panose="020F0502020204030204" pitchFamily="34" charset="0"/>
              </a:rPr>
              <a:t>Quisque</a:t>
            </a:r>
            <a:r>
              <a:rPr lang="en-IN" b="0" i="0" dirty="0">
                <a:solidFill>
                  <a:srgbClr val="000000"/>
                </a:solidFill>
                <a:effectLst/>
                <a:latin typeface="Open Sans" panose="020F0502020204030204" pitchFamily="34" charset="0"/>
              </a:rPr>
              <a:t> </a:t>
            </a:r>
            <a:r>
              <a:rPr lang="en-IN" b="0" i="0" dirty="0" err="1">
                <a:solidFill>
                  <a:srgbClr val="000000"/>
                </a:solidFill>
                <a:effectLst/>
                <a:latin typeface="Open Sans" panose="020F0502020204030204" pitchFamily="34" charset="0"/>
              </a:rPr>
              <a:t>consectetur</a:t>
            </a:r>
            <a:r>
              <a:rPr lang="en-IN" b="0" i="0" dirty="0">
                <a:solidFill>
                  <a:srgbClr val="000000"/>
                </a:solidFill>
                <a:effectLst/>
                <a:latin typeface="Open Sans" panose="020F0502020204030204" pitchFamily="34" charset="0"/>
              </a:rPr>
              <a:t> mi ac </a:t>
            </a:r>
            <a:r>
              <a:rPr lang="en-IN" b="0" i="0" dirty="0" err="1">
                <a:solidFill>
                  <a:srgbClr val="000000"/>
                </a:solidFill>
                <a:effectLst/>
                <a:latin typeface="Open Sans" panose="020F0502020204030204" pitchFamily="34" charset="0"/>
              </a:rPr>
              <a:t>ultrices</a:t>
            </a:r>
            <a:r>
              <a:rPr lang="en-IN" b="0" i="0" dirty="0">
                <a:solidFill>
                  <a:srgbClr val="000000"/>
                </a:solidFill>
                <a:effectLst/>
                <a:latin typeface="Open Sans" panose="020F0502020204030204" pitchFamily="34" charset="0"/>
              </a:rPr>
              <a:t> </a:t>
            </a:r>
            <a:r>
              <a:rPr lang="en-IN" b="0" i="0" dirty="0" err="1">
                <a:solidFill>
                  <a:srgbClr val="000000"/>
                </a:solidFill>
                <a:effectLst/>
                <a:latin typeface="Open Sans" panose="020F0502020204030204" pitchFamily="34" charset="0"/>
              </a:rPr>
              <a:t>congue</a:t>
            </a:r>
            <a:r>
              <a:rPr lang="en-IN" b="0" i="0" dirty="0">
                <a:solidFill>
                  <a:srgbClr val="000000"/>
                </a:solidFill>
                <a:effectLst/>
                <a:latin typeface="Open Sans" panose="020F0502020204030204" pitchFamily="34" charset="0"/>
              </a:rPr>
              <a:t>. </a:t>
            </a:r>
            <a:r>
              <a:rPr lang="en-IN" b="0" i="0" dirty="0" err="1">
                <a:solidFill>
                  <a:srgbClr val="000000"/>
                </a:solidFill>
                <a:effectLst/>
                <a:latin typeface="Open Sans" panose="020F0502020204030204" pitchFamily="34" charset="0"/>
              </a:rPr>
              <a:t>Suspendisse</a:t>
            </a:r>
            <a:r>
              <a:rPr lang="en-IN" b="0" i="0" dirty="0">
                <a:solidFill>
                  <a:srgbClr val="000000"/>
                </a:solidFill>
                <a:effectLst/>
                <a:latin typeface="Open Sans" panose="020F0502020204030204" pitchFamily="34" charset="0"/>
              </a:rPr>
              <a:t> nisi </a:t>
            </a:r>
            <a:r>
              <a:rPr lang="en-IN" b="0" i="0" dirty="0" err="1">
                <a:solidFill>
                  <a:srgbClr val="000000"/>
                </a:solidFill>
                <a:effectLst/>
                <a:latin typeface="Open Sans" panose="020F0502020204030204" pitchFamily="34" charset="0"/>
              </a:rPr>
              <a:t>est</a:t>
            </a:r>
            <a:r>
              <a:rPr lang="en-IN" b="0" i="0" dirty="0">
                <a:solidFill>
                  <a:srgbClr val="000000"/>
                </a:solidFill>
                <a:effectLst/>
                <a:latin typeface="Open Sans" panose="020F0502020204030204" pitchFamily="34" charset="0"/>
              </a:rPr>
              <a:t>, </a:t>
            </a:r>
            <a:r>
              <a:rPr lang="en-IN" b="0" i="0" dirty="0" err="1">
                <a:solidFill>
                  <a:srgbClr val="000000"/>
                </a:solidFill>
                <a:effectLst/>
                <a:latin typeface="Open Sans" panose="020F0502020204030204" pitchFamily="34" charset="0"/>
              </a:rPr>
              <a:t>suscipit</a:t>
            </a:r>
            <a:r>
              <a:rPr lang="en-IN" b="0" i="0" dirty="0">
                <a:solidFill>
                  <a:srgbClr val="000000"/>
                </a:solidFill>
                <a:effectLst/>
                <a:latin typeface="Open Sans" panose="020F0502020204030204" pitchFamily="34" charset="0"/>
              </a:rPr>
              <a:t> non </a:t>
            </a:r>
            <a:r>
              <a:rPr lang="en-IN" b="0" i="0" dirty="0" err="1">
                <a:solidFill>
                  <a:srgbClr val="000000"/>
                </a:solidFill>
                <a:effectLst/>
                <a:latin typeface="Open Sans" panose="020F0502020204030204" pitchFamily="34" charset="0"/>
              </a:rPr>
              <a:t>molestie</a:t>
            </a:r>
            <a:r>
              <a:rPr lang="en-IN" b="0" i="0" dirty="0">
                <a:solidFill>
                  <a:srgbClr val="000000"/>
                </a:solidFill>
                <a:effectLst/>
                <a:latin typeface="Open Sans" panose="020F0502020204030204" pitchFamily="34" charset="0"/>
              </a:rPr>
              <a:t> et, </a:t>
            </a:r>
            <a:r>
              <a:rPr lang="en-IN" b="0" i="0" dirty="0" err="1">
                <a:solidFill>
                  <a:srgbClr val="000000"/>
                </a:solidFill>
                <a:effectLst/>
                <a:latin typeface="Open Sans" panose="020F0502020204030204" pitchFamily="34" charset="0"/>
              </a:rPr>
              <a:t>malesuada</a:t>
            </a:r>
            <a:r>
              <a:rPr lang="en-IN" b="0" i="0" dirty="0">
                <a:solidFill>
                  <a:srgbClr val="000000"/>
                </a:solidFill>
                <a:effectLst/>
                <a:latin typeface="Open Sans" panose="020F0502020204030204" pitchFamily="34" charset="0"/>
              </a:rPr>
              <a:t> </a:t>
            </a:r>
            <a:r>
              <a:rPr lang="en-IN" b="0" i="0" dirty="0" err="1">
                <a:solidFill>
                  <a:srgbClr val="000000"/>
                </a:solidFill>
                <a:effectLst/>
                <a:latin typeface="Open Sans" panose="020F0502020204030204" pitchFamily="34" charset="0"/>
              </a:rPr>
              <a:t>tincidunt</a:t>
            </a:r>
            <a:r>
              <a:rPr lang="en-IN" b="0" i="0" dirty="0">
                <a:solidFill>
                  <a:srgbClr val="000000"/>
                </a:solidFill>
                <a:effectLst/>
                <a:latin typeface="Open Sans" panose="020F0502020204030204" pitchFamily="34" charset="0"/>
              </a:rPr>
              <a:t> libero. Donec </a:t>
            </a:r>
            <a:r>
              <a:rPr lang="en-IN" b="0" i="0" dirty="0" err="1">
                <a:solidFill>
                  <a:srgbClr val="000000"/>
                </a:solidFill>
                <a:effectLst/>
                <a:latin typeface="Open Sans" panose="020F0502020204030204" pitchFamily="34" charset="0"/>
              </a:rPr>
              <a:t>congue</a:t>
            </a:r>
            <a:r>
              <a:rPr lang="en-IN" b="0" i="0" dirty="0">
                <a:solidFill>
                  <a:srgbClr val="000000"/>
                </a:solidFill>
                <a:effectLst/>
                <a:latin typeface="Open Sans" panose="020F0502020204030204" pitchFamily="34" charset="0"/>
              </a:rPr>
              <a:t> </a:t>
            </a:r>
            <a:r>
              <a:rPr lang="en-IN" b="0" i="0" dirty="0" err="1">
                <a:solidFill>
                  <a:srgbClr val="000000"/>
                </a:solidFill>
                <a:effectLst/>
                <a:latin typeface="Open Sans" panose="020F0502020204030204" pitchFamily="34" charset="0"/>
              </a:rPr>
              <a:t>diam</a:t>
            </a:r>
            <a:r>
              <a:rPr lang="en-IN" b="0" i="0" dirty="0">
                <a:solidFill>
                  <a:srgbClr val="000000"/>
                </a:solidFill>
                <a:effectLst/>
                <a:latin typeface="Open Sans" panose="020F0502020204030204" pitchFamily="34" charset="0"/>
              </a:rPr>
              <a:t> ac </a:t>
            </a:r>
            <a:r>
              <a:rPr lang="en-IN" b="0" i="0" dirty="0" err="1">
                <a:solidFill>
                  <a:srgbClr val="000000"/>
                </a:solidFill>
                <a:effectLst/>
                <a:latin typeface="Open Sans" panose="020F0502020204030204" pitchFamily="34" charset="0"/>
              </a:rPr>
              <a:t>diam</a:t>
            </a:r>
            <a:r>
              <a:rPr lang="en-IN" b="0" i="0" dirty="0">
                <a:solidFill>
                  <a:srgbClr val="000000"/>
                </a:solidFill>
                <a:effectLst/>
                <a:latin typeface="Open Sans" panose="020F0502020204030204" pitchFamily="34" charset="0"/>
              </a:rPr>
              <a:t> </a:t>
            </a:r>
            <a:r>
              <a:rPr lang="en-IN" b="0" i="0" dirty="0" err="1">
                <a:solidFill>
                  <a:srgbClr val="000000"/>
                </a:solidFill>
                <a:effectLst/>
                <a:latin typeface="Open Sans" panose="020F0502020204030204" pitchFamily="34" charset="0"/>
              </a:rPr>
              <a:t>porttitor</a:t>
            </a:r>
            <a:r>
              <a:rPr lang="en-IN" b="0" i="0" dirty="0">
                <a:solidFill>
                  <a:srgbClr val="000000"/>
                </a:solidFill>
                <a:effectLst/>
                <a:latin typeface="Open Sans" panose="020F0502020204030204" pitchFamily="34" charset="0"/>
              </a:rPr>
              <a:t>, non </a:t>
            </a:r>
            <a:r>
              <a:rPr lang="en-IN" b="0" i="0" dirty="0" err="1">
                <a:solidFill>
                  <a:srgbClr val="000000"/>
                </a:solidFill>
                <a:effectLst/>
                <a:latin typeface="Open Sans" panose="020F0502020204030204" pitchFamily="34" charset="0"/>
              </a:rPr>
              <a:t>ullamcorper</a:t>
            </a:r>
            <a:r>
              <a:rPr lang="en-IN" b="0" i="0" dirty="0">
                <a:solidFill>
                  <a:srgbClr val="000000"/>
                </a:solidFill>
                <a:effectLst/>
                <a:latin typeface="Open Sans" panose="020F0502020204030204" pitchFamily="34" charset="0"/>
              </a:rPr>
              <a:t> mi </a:t>
            </a:r>
            <a:r>
              <a:rPr lang="en-IN" b="0" i="0" dirty="0" err="1">
                <a:solidFill>
                  <a:srgbClr val="000000"/>
                </a:solidFill>
                <a:effectLst/>
                <a:latin typeface="Open Sans" panose="020F0502020204030204" pitchFamily="34" charset="0"/>
              </a:rPr>
              <a:t>luctus</a:t>
            </a:r>
            <a:r>
              <a:rPr lang="en-IN" b="0" i="0" dirty="0">
                <a:solidFill>
                  <a:srgbClr val="000000"/>
                </a:solidFill>
                <a:effectLst/>
                <a:latin typeface="Open Sans" panose="020F0502020204030204" pitchFamily="34" charset="0"/>
              </a:rPr>
              <a:t>. Morbi </a:t>
            </a:r>
            <a:r>
              <a:rPr lang="en-IN" b="0" i="0" dirty="0" err="1">
                <a:solidFill>
                  <a:srgbClr val="000000"/>
                </a:solidFill>
                <a:effectLst/>
                <a:latin typeface="Open Sans" panose="020F0502020204030204" pitchFamily="34" charset="0"/>
              </a:rPr>
              <a:t>mollis</a:t>
            </a:r>
            <a:r>
              <a:rPr lang="en-IN" b="0" i="0" dirty="0">
                <a:solidFill>
                  <a:srgbClr val="000000"/>
                </a:solidFill>
                <a:effectLst/>
                <a:latin typeface="Open Sans" panose="020F0502020204030204" pitchFamily="34" charset="0"/>
              </a:rPr>
              <a:t> </a:t>
            </a:r>
            <a:r>
              <a:rPr lang="en-IN" b="0" i="0" dirty="0" err="1">
                <a:solidFill>
                  <a:srgbClr val="000000"/>
                </a:solidFill>
                <a:effectLst/>
                <a:latin typeface="Open Sans" panose="020F0502020204030204" pitchFamily="34" charset="0"/>
              </a:rPr>
              <a:t>finibus</a:t>
            </a:r>
            <a:r>
              <a:rPr lang="en-IN" b="0" i="0" dirty="0">
                <a:solidFill>
                  <a:srgbClr val="000000"/>
                </a:solidFill>
                <a:effectLst/>
                <a:latin typeface="Open Sans" panose="020F0502020204030204" pitchFamily="34" charset="0"/>
              </a:rPr>
              <a:t> magna </a:t>
            </a:r>
            <a:r>
              <a:rPr lang="en-IN" b="0" i="0" dirty="0" err="1">
                <a:solidFill>
                  <a:srgbClr val="000000"/>
                </a:solidFill>
                <a:effectLst/>
                <a:latin typeface="Open Sans" panose="020F0502020204030204" pitchFamily="34" charset="0"/>
              </a:rPr>
              <a:t>vel</a:t>
            </a:r>
            <a:r>
              <a:rPr lang="en-IN" b="0" i="0" dirty="0">
                <a:solidFill>
                  <a:srgbClr val="000000"/>
                </a:solidFill>
                <a:effectLst/>
                <a:latin typeface="Open Sans" panose="020F0502020204030204" pitchFamily="34" charset="0"/>
              </a:rPr>
              <a:t> </a:t>
            </a:r>
            <a:r>
              <a:rPr lang="en-IN" b="0" i="0" dirty="0" err="1">
                <a:solidFill>
                  <a:srgbClr val="000000"/>
                </a:solidFill>
                <a:effectLst/>
                <a:latin typeface="Open Sans" panose="020F0502020204030204" pitchFamily="34" charset="0"/>
              </a:rPr>
              <a:t>ornare</a:t>
            </a:r>
            <a:r>
              <a:rPr lang="en-IN" b="0" i="0" dirty="0">
                <a:solidFill>
                  <a:srgbClr val="000000"/>
                </a:solidFill>
                <a:effectLst/>
                <a:latin typeface="Open Sans" panose="020F0502020204030204" pitchFamily="34" charset="0"/>
              </a:rPr>
              <a:t>. </a:t>
            </a:r>
            <a:r>
              <a:rPr lang="en-IN" b="0" i="0" dirty="0" err="1">
                <a:solidFill>
                  <a:srgbClr val="000000"/>
                </a:solidFill>
                <a:effectLst/>
                <a:latin typeface="Open Sans" panose="020F0502020204030204" pitchFamily="34" charset="0"/>
              </a:rPr>
              <a:t>Fusce</a:t>
            </a:r>
            <a:r>
              <a:rPr lang="en-IN" b="0" i="0" dirty="0">
                <a:solidFill>
                  <a:srgbClr val="000000"/>
                </a:solidFill>
                <a:effectLst/>
                <a:latin typeface="Open Sans" panose="020F0502020204030204" pitchFamily="34" charset="0"/>
              </a:rPr>
              <a:t> </a:t>
            </a:r>
            <a:r>
              <a:rPr lang="en-IN" b="0" i="0" dirty="0" err="1">
                <a:solidFill>
                  <a:srgbClr val="000000"/>
                </a:solidFill>
                <a:effectLst/>
                <a:latin typeface="Open Sans" panose="020F0502020204030204" pitchFamily="34" charset="0"/>
              </a:rPr>
              <a:t>condimentum</a:t>
            </a:r>
            <a:r>
              <a:rPr lang="en-IN" b="0" i="0" dirty="0">
                <a:solidFill>
                  <a:srgbClr val="000000"/>
                </a:solidFill>
                <a:effectLst/>
                <a:latin typeface="Open Sans" panose="020F0502020204030204" pitchFamily="34" charset="0"/>
              </a:rPr>
              <a:t> </a:t>
            </a:r>
            <a:r>
              <a:rPr lang="en-IN" b="0" i="0" dirty="0" err="1">
                <a:solidFill>
                  <a:srgbClr val="000000"/>
                </a:solidFill>
                <a:effectLst/>
                <a:latin typeface="Open Sans" panose="020F0502020204030204" pitchFamily="34" charset="0"/>
              </a:rPr>
              <a:t>est</a:t>
            </a:r>
            <a:r>
              <a:rPr lang="en-IN" b="0" i="0" dirty="0">
                <a:solidFill>
                  <a:srgbClr val="000000"/>
                </a:solidFill>
                <a:effectLst/>
                <a:latin typeface="Open Sans" panose="020F0502020204030204" pitchFamily="34" charset="0"/>
              </a:rPr>
              <a:t> </a:t>
            </a:r>
            <a:r>
              <a:rPr lang="en-IN" b="0" i="0" dirty="0" err="1">
                <a:solidFill>
                  <a:srgbClr val="000000"/>
                </a:solidFill>
                <a:effectLst/>
                <a:latin typeface="Open Sans" panose="020F0502020204030204" pitchFamily="34" charset="0"/>
              </a:rPr>
              <a:t>eu</a:t>
            </a:r>
            <a:r>
              <a:rPr lang="en-IN" b="0" i="0" dirty="0">
                <a:solidFill>
                  <a:srgbClr val="000000"/>
                </a:solidFill>
                <a:effectLst/>
                <a:latin typeface="Open Sans" panose="020F0502020204030204" pitchFamily="34" charset="0"/>
              </a:rPr>
              <a:t> </a:t>
            </a:r>
            <a:r>
              <a:rPr lang="en-IN" b="0" i="0" dirty="0" err="1">
                <a:solidFill>
                  <a:srgbClr val="000000"/>
                </a:solidFill>
                <a:effectLst/>
                <a:latin typeface="Open Sans" panose="020F0502020204030204" pitchFamily="34" charset="0"/>
              </a:rPr>
              <a:t>odio</a:t>
            </a:r>
            <a:r>
              <a:rPr lang="en-IN" b="0" i="0" dirty="0">
                <a:solidFill>
                  <a:srgbClr val="000000"/>
                </a:solidFill>
                <a:effectLst/>
                <a:latin typeface="Open Sans" panose="020F0502020204030204" pitchFamily="34" charset="0"/>
              </a:rPr>
              <a:t> tempus, et </a:t>
            </a:r>
            <a:r>
              <a:rPr lang="en-IN" b="0" i="0" dirty="0" err="1">
                <a:solidFill>
                  <a:srgbClr val="000000"/>
                </a:solidFill>
                <a:effectLst/>
                <a:latin typeface="Open Sans" panose="020F0502020204030204" pitchFamily="34" charset="0"/>
              </a:rPr>
              <a:t>malesuada</a:t>
            </a:r>
            <a:r>
              <a:rPr lang="en-IN" b="0" i="0" dirty="0">
                <a:solidFill>
                  <a:srgbClr val="000000"/>
                </a:solidFill>
                <a:effectLst/>
                <a:latin typeface="Open Sans" panose="020F0502020204030204" pitchFamily="34" charset="0"/>
              </a:rPr>
              <a:t> </a:t>
            </a:r>
            <a:r>
              <a:rPr lang="en-IN" b="0" i="0" dirty="0" err="1">
                <a:solidFill>
                  <a:srgbClr val="000000"/>
                </a:solidFill>
                <a:effectLst/>
                <a:latin typeface="Open Sans" panose="020F0502020204030204" pitchFamily="34" charset="0"/>
              </a:rPr>
              <a:t>nunc</a:t>
            </a:r>
            <a:r>
              <a:rPr lang="en-IN" b="0" i="0" dirty="0">
                <a:solidFill>
                  <a:srgbClr val="000000"/>
                </a:solidFill>
                <a:effectLst/>
                <a:latin typeface="Open Sans" panose="020F0502020204030204" pitchFamily="34" charset="0"/>
              </a:rPr>
              <a:t> porta. </a:t>
            </a:r>
            <a:r>
              <a:rPr lang="en-IN" b="0" i="0" dirty="0" err="1">
                <a:solidFill>
                  <a:srgbClr val="000000"/>
                </a:solidFill>
                <a:effectLst/>
                <a:latin typeface="Open Sans" panose="020F0502020204030204" pitchFamily="34" charset="0"/>
              </a:rPr>
              <a:t>Pellentesque</a:t>
            </a:r>
            <a:r>
              <a:rPr lang="en-IN" b="0" i="0" dirty="0">
                <a:solidFill>
                  <a:srgbClr val="000000"/>
                </a:solidFill>
                <a:effectLst/>
                <a:latin typeface="Open Sans" panose="020F0502020204030204" pitchFamily="34" charset="0"/>
              </a:rPr>
              <a:t> </a:t>
            </a:r>
            <a:r>
              <a:rPr lang="en-IN" b="0" i="0" dirty="0" err="1">
                <a:solidFill>
                  <a:srgbClr val="000000"/>
                </a:solidFill>
                <a:effectLst/>
                <a:latin typeface="Open Sans" panose="020F0502020204030204" pitchFamily="34" charset="0"/>
              </a:rPr>
              <a:t>placerat</a:t>
            </a:r>
            <a:r>
              <a:rPr lang="en-IN" b="0" i="0" dirty="0">
                <a:solidFill>
                  <a:srgbClr val="000000"/>
                </a:solidFill>
                <a:effectLst/>
                <a:latin typeface="Open Sans" panose="020F0502020204030204" pitchFamily="34" charset="0"/>
              </a:rPr>
              <a:t> </a:t>
            </a:r>
            <a:r>
              <a:rPr lang="en-IN" b="0" i="0" dirty="0" err="1">
                <a:solidFill>
                  <a:srgbClr val="000000"/>
                </a:solidFill>
                <a:effectLst/>
                <a:latin typeface="Open Sans" panose="020F0502020204030204" pitchFamily="34" charset="0"/>
              </a:rPr>
              <a:t>bibendum</a:t>
            </a:r>
            <a:r>
              <a:rPr lang="en-IN" b="0" i="0" dirty="0">
                <a:solidFill>
                  <a:srgbClr val="000000"/>
                </a:solidFill>
                <a:effectLst/>
                <a:latin typeface="Open Sans" panose="020F0502020204030204" pitchFamily="34" charset="0"/>
              </a:rPr>
              <a:t> </a:t>
            </a:r>
            <a:r>
              <a:rPr lang="en-IN" b="0" i="0" dirty="0" err="1">
                <a:solidFill>
                  <a:srgbClr val="000000"/>
                </a:solidFill>
                <a:effectLst/>
                <a:latin typeface="Open Sans" panose="020F0502020204030204" pitchFamily="34" charset="0"/>
              </a:rPr>
              <a:t>lacus</a:t>
            </a:r>
            <a:r>
              <a:rPr lang="en-IN" b="0" i="0" dirty="0">
                <a:solidFill>
                  <a:srgbClr val="000000"/>
                </a:solidFill>
                <a:effectLst/>
                <a:latin typeface="Open Sans" panose="020F0502020204030204" pitchFamily="34" charset="0"/>
              </a:rPr>
              <a:t> sit </a:t>
            </a:r>
            <a:r>
              <a:rPr lang="en-IN" b="0" i="0" dirty="0" err="1">
                <a:solidFill>
                  <a:srgbClr val="000000"/>
                </a:solidFill>
                <a:effectLst/>
                <a:latin typeface="Open Sans" panose="020F0502020204030204" pitchFamily="34" charset="0"/>
              </a:rPr>
              <a:t>amet</a:t>
            </a:r>
            <a:r>
              <a:rPr lang="en-IN" b="0" i="0" dirty="0">
                <a:solidFill>
                  <a:srgbClr val="000000"/>
                </a:solidFill>
                <a:effectLst/>
                <a:latin typeface="Open Sans" panose="020F0502020204030204" pitchFamily="34" charset="0"/>
              </a:rPr>
              <a:t> </a:t>
            </a:r>
            <a:r>
              <a:rPr lang="en-IN" b="0" i="0" dirty="0" err="1">
                <a:solidFill>
                  <a:srgbClr val="000000"/>
                </a:solidFill>
                <a:effectLst/>
                <a:latin typeface="Open Sans" panose="020F0502020204030204" pitchFamily="34" charset="0"/>
              </a:rPr>
              <a:t>tincidunt</a:t>
            </a:r>
            <a:r>
              <a:rPr lang="en-IN" b="0" i="0" dirty="0">
                <a:solidFill>
                  <a:srgbClr val="000000"/>
                </a:solidFill>
                <a:effectLst/>
                <a:latin typeface="Open Sans" panose="020F0502020204030204" pitchFamily="34" charset="0"/>
              </a:rPr>
              <a:t>. Morbi </a:t>
            </a:r>
            <a:r>
              <a:rPr lang="en-IN" b="0" i="0" dirty="0" err="1">
                <a:solidFill>
                  <a:srgbClr val="000000"/>
                </a:solidFill>
                <a:effectLst/>
                <a:latin typeface="Open Sans" panose="020F0502020204030204" pitchFamily="34" charset="0"/>
              </a:rPr>
              <a:t>interdum</a:t>
            </a:r>
            <a:r>
              <a:rPr lang="en-IN" b="0" i="0" dirty="0">
                <a:solidFill>
                  <a:srgbClr val="000000"/>
                </a:solidFill>
                <a:effectLst/>
                <a:latin typeface="Open Sans" panose="020F0502020204030204" pitchFamily="34" charset="0"/>
              </a:rPr>
              <a:t> </a:t>
            </a:r>
            <a:r>
              <a:rPr lang="en-IN" b="0" i="0" dirty="0" err="1">
                <a:solidFill>
                  <a:srgbClr val="000000"/>
                </a:solidFill>
                <a:effectLst/>
                <a:latin typeface="Open Sans" panose="020F0502020204030204" pitchFamily="34" charset="0"/>
              </a:rPr>
              <a:t>mauris</a:t>
            </a:r>
            <a:r>
              <a:rPr lang="en-IN" b="0" i="0" dirty="0">
                <a:solidFill>
                  <a:srgbClr val="000000"/>
                </a:solidFill>
                <a:effectLst/>
                <a:latin typeface="Open Sans" panose="020F0502020204030204" pitchFamily="34" charset="0"/>
              </a:rPr>
              <a:t> </a:t>
            </a:r>
            <a:r>
              <a:rPr lang="en-IN" b="0" i="0" dirty="0" err="1">
                <a:solidFill>
                  <a:srgbClr val="000000"/>
                </a:solidFill>
                <a:effectLst/>
                <a:latin typeface="Open Sans" panose="020F0502020204030204" pitchFamily="34" charset="0"/>
              </a:rPr>
              <a:t>quis</a:t>
            </a:r>
            <a:r>
              <a:rPr lang="en-IN" b="0" i="0" dirty="0">
                <a:solidFill>
                  <a:srgbClr val="000000"/>
                </a:solidFill>
                <a:effectLst/>
                <a:latin typeface="Open Sans" panose="020F0502020204030204" pitchFamily="34" charset="0"/>
              </a:rPr>
              <a:t> mi lacinia, </a:t>
            </a:r>
            <a:r>
              <a:rPr lang="en-IN" b="0" i="0" dirty="0" err="1">
                <a:solidFill>
                  <a:srgbClr val="000000"/>
                </a:solidFill>
                <a:effectLst/>
                <a:latin typeface="Open Sans" panose="020F0502020204030204" pitchFamily="34" charset="0"/>
              </a:rPr>
              <a:t>ut</a:t>
            </a:r>
            <a:r>
              <a:rPr lang="en-IN" b="0" i="0" dirty="0">
                <a:solidFill>
                  <a:srgbClr val="000000"/>
                </a:solidFill>
                <a:effectLst/>
                <a:latin typeface="Open Sans" panose="020F0502020204030204" pitchFamily="34" charset="0"/>
              </a:rPr>
              <a:t> porta </a:t>
            </a:r>
            <a:r>
              <a:rPr lang="en-IN" b="0" i="0" dirty="0" err="1">
                <a:solidFill>
                  <a:srgbClr val="000000"/>
                </a:solidFill>
                <a:effectLst/>
                <a:latin typeface="Open Sans" panose="020F0502020204030204" pitchFamily="34" charset="0"/>
              </a:rPr>
              <a:t>velit</a:t>
            </a:r>
            <a:r>
              <a:rPr lang="en-IN" b="0" i="0" dirty="0">
                <a:solidFill>
                  <a:srgbClr val="000000"/>
                </a:solidFill>
                <a:effectLst/>
                <a:latin typeface="Open Sans" panose="020F0502020204030204" pitchFamily="34" charset="0"/>
              </a:rPr>
              <a:t> </a:t>
            </a:r>
            <a:r>
              <a:rPr lang="en-IN" b="0" i="0" dirty="0" err="1">
                <a:solidFill>
                  <a:srgbClr val="000000"/>
                </a:solidFill>
                <a:effectLst/>
                <a:latin typeface="Open Sans" panose="020F0502020204030204" pitchFamily="34" charset="0"/>
              </a:rPr>
              <a:t>venenatis</a:t>
            </a:r>
            <a:r>
              <a:rPr lang="en-IN" b="0" i="0" dirty="0">
                <a:solidFill>
                  <a:srgbClr val="000000"/>
                </a:solidFill>
                <a:effectLst/>
                <a:latin typeface="Open Sans" panose="020F0502020204030204" pitchFamily="34" charset="0"/>
              </a:rPr>
              <a:t>. </a:t>
            </a:r>
            <a:r>
              <a:rPr lang="en-IN" b="0" i="0" dirty="0" err="1">
                <a:solidFill>
                  <a:srgbClr val="000000"/>
                </a:solidFill>
                <a:effectLst/>
                <a:latin typeface="Open Sans" panose="020F0502020204030204" pitchFamily="34" charset="0"/>
              </a:rPr>
              <a:t>Etiam</a:t>
            </a:r>
            <a:r>
              <a:rPr lang="en-IN" b="0" i="0" dirty="0">
                <a:solidFill>
                  <a:srgbClr val="000000"/>
                </a:solidFill>
                <a:effectLst/>
                <a:latin typeface="Open Sans" panose="020F0502020204030204" pitchFamily="34" charset="0"/>
              </a:rPr>
              <a:t> </a:t>
            </a:r>
            <a:r>
              <a:rPr lang="en-IN" b="0" i="0" dirty="0" err="1">
                <a:solidFill>
                  <a:srgbClr val="000000"/>
                </a:solidFill>
                <a:effectLst/>
                <a:latin typeface="Open Sans" panose="020F0502020204030204" pitchFamily="34" charset="0"/>
              </a:rPr>
              <a:t>sagittis</a:t>
            </a:r>
            <a:r>
              <a:rPr lang="en-IN" b="0" i="0" dirty="0">
                <a:solidFill>
                  <a:srgbClr val="000000"/>
                </a:solidFill>
                <a:effectLst/>
                <a:latin typeface="Open Sans" panose="020F0502020204030204" pitchFamily="34" charset="0"/>
              </a:rPr>
              <a:t> </a:t>
            </a:r>
            <a:r>
              <a:rPr lang="en-IN" b="0" i="0" dirty="0" err="1">
                <a:solidFill>
                  <a:srgbClr val="000000"/>
                </a:solidFill>
                <a:effectLst/>
                <a:latin typeface="Open Sans" panose="020F0502020204030204" pitchFamily="34" charset="0"/>
              </a:rPr>
              <a:t>efficitur</a:t>
            </a:r>
            <a:r>
              <a:rPr lang="en-IN" b="0" i="0" dirty="0">
                <a:solidFill>
                  <a:srgbClr val="000000"/>
                </a:solidFill>
                <a:effectLst/>
                <a:latin typeface="Open Sans" panose="020F0502020204030204" pitchFamily="34" charset="0"/>
              </a:rPr>
              <a:t> </a:t>
            </a:r>
            <a:r>
              <a:rPr lang="en-IN" b="0" i="0" dirty="0" err="1">
                <a:solidFill>
                  <a:srgbClr val="000000"/>
                </a:solidFill>
                <a:effectLst/>
                <a:latin typeface="Open Sans" panose="020F0502020204030204" pitchFamily="34" charset="0"/>
              </a:rPr>
              <a:t>tincidunt</a:t>
            </a:r>
            <a:r>
              <a:rPr lang="en-IN" b="0" i="0" dirty="0">
                <a:solidFill>
                  <a:srgbClr val="000000"/>
                </a:solidFill>
                <a:effectLst/>
                <a:latin typeface="Open Sans" panose="020F0502020204030204" pitchFamily="34" charset="0"/>
              </a:rPr>
              <a:t>. </a:t>
            </a:r>
            <a:r>
              <a:rPr lang="en-IN" b="0" i="0" dirty="0" err="1">
                <a:solidFill>
                  <a:srgbClr val="000000"/>
                </a:solidFill>
                <a:effectLst/>
                <a:latin typeface="Open Sans" panose="020F0502020204030204" pitchFamily="34" charset="0"/>
              </a:rPr>
              <a:t>Suspendisse</a:t>
            </a:r>
            <a:r>
              <a:rPr lang="en-IN" b="0" i="0" dirty="0">
                <a:solidFill>
                  <a:srgbClr val="000000"/>
                </a:solidFill>
                <a:effectLst/>
                <a:latin typeface="Open Sans" panose="020F0502020204030204" pitchFamily="34" charset="0"/>
              </a:rPr>
              <a:t> </a:t>
            </a:r>
            <a:r>
              <a:rPr lang="en-IN" b="0" i="0" dirty="0" err="1">
                <a:solidFill>
                  <a:srgbClr val="000000"/>
                </a:solidFill>
                <a:effectLst/>
                <a:latin typeface="Open Sans" panose="020F0502020204030204" pitchFamily="34" charset="0"/>
              </a:rPr>
              <a:t>tristique</a:t>
            </a:r>
            <a:r>
              <a:rPr lang="en-IN" b="0" i="0" dirty="0">
                <a:solidFill>
                  <a:srgbClr val="000000"/>
                </a:solidFill>
                <a:effectLst/>
                <a:latin typeface="Open Sans" panose="020F0502020204030204" pitchFamily="34" charset="0"/>
              </a:rPr>
              <a:t> </a:t>
            </a:r>
            <a:r>
              <a:rPr lang="en-IN" b="0" i="0" dirty="0" err="1">
                <a:solidFill>
                  <a:srgbClr val="000000"/>
                </a:solidFill>
                <a:effectLst/>
                <a:latin typeface="Open Sans" panose="020F0502020204030204" pitchFamily="34" charset="0"/>
              </a:rPr>
              <a:t>quis</a:t>
            </a:r>
            <a:r>
              <a:rPr lang="en-IN" b="0" i="0" dirty="0">
                <a:solidFill>
                  <a:srgbClr val="000000"/>
                </a:solidFill>
                <a:effectLst/>
                <a:latin typeface="Open Sans" panose="020F0502020204030204" pitchFamily="34" charset="0"/>
              </a:rPr>
              <a:t> magna </a:t>
            </a:r>
            <a:r>
              <a:rPr lang="en-IN" b="0" i="0" dirty="0" err="1">
                <a:solidFill>
                  <a:srgbClr val="000000"/>
                </a:solidFill>
                <a:effectLst/>
                <a:latin typeface="Open Sans" panose="020F0502020204030204" pitchFamily="34" charset="0"/>
              </a:rPr>
              <a:t>ullamcorper</a:t>
            </a:r>
            <a:r>
              <a:rPr lang="en-IN" b="0" i="0" dirty="0">
                <a:solidFill>
                  <a:srgbClr val="000000"/>
                </a:solidFill>
                <a:effectLst/>
                <a:latin typeface="Open Sans" panose="020F0502020204030204" pitchFamily="34" charset="0"/>
              </a:rPr>
              <a:t> </a:t>
            </a:r>
            <a:r>
              <a:rPr lang="en-IN" b="0" i="0" dirty="0" err="1">
                <a:solidFill>
                  <a:srgbClr val="000000"/>
                </a:solidFill>
                <a:effectLst/>
                <a:latin typeface="Open Sans" panose="020F0502020204030204" pitchFamily="34" charset="0"/>
              </a:rPr>
              <a:t>euismod</a:t>
            </a:r>
            <a:r>
              <a:rPr lang="en-IN" b="0" i="0" dirty="0">
                <a:solidFill>
                  <a:srgbClr val="000000"/>
                </a:solidFill>
                <a:effectLst/>
                <a:latin typeface="Open Sans" panose="020F0502020204030204" pitchFamily="34" charset="0"/>
              </a:rPr>
              <a:t>.</a:t>
            </a:r>
          </a:p>
          <a:p>
            <a:pPr>
              <a:buNone/>
            </a:pPr>
            <a:r>
              <a:rPr lang="en-IN" dirty="0"/>
              <a:t>	</a:t>
            </a:r>
            <a:endParaRPr lang="en-US" dirty="0"/>
          </a:p>
          <a:p>
            <a:r>
              <a:rPr lang="en-US" dirty="0"/>
              <a:t>Disclaimer: I do not have new results to show since I spent most of the last one month troubleshooting, I am still stuck on the same grey heatmap that I’d presented the last time. But I would like any inputs that any of you can share, or any new loopholes that you can identify in the workflow.</a:t>
            </a:r>
            <a:endParaRPr lang="en-IN" dirty="0"/>
          </a:p>
        </p:txBody>
      </p:sp>
      <p:sp>
        <p:nvSpPr>
          <p:cNvPr id="4" name="Slide Number Placeholder 3">
            <a:extLst>
              <a:ext uri="{FF2B5EF4-FFF2-40B4-BE49-F238E27FC236}">
                <a16:creationId xmlns:a16="http://schemas.microsoft.com/office/drawing/2014/main" id="{160E8611-AA6A-35A9-C212-42862E6EA340}"/>
              </a:ext>
            </a:extLst>
          </p:cNvPr>
          <p:cNvSpPr>
            <a:spLocks noGrp="1"/>
          </p:cNvSpPr>
          <p:nvPr>
            <p:ph type="sldNum" sz="quarter" idx="5"/>
          </p:nvPr>
        </p:nvSpPr>
        <p:spPr/>
        <p:txBody>
          <a:bodyPr/>
          <a:lstStyle/>
          <a:p>
            <a:fld id="{F2C2E93A-0E92-4D89-9D4F-8B2C470C89CD}" type="slidenum">
              <a:rPr lang="en-IN" smtClean="0"/>
              <a:t>1</a:t>
            </a:fld>
            <a:endParaRPr lang="en-IN"/>
          </a:p>
        </p:txBody>
      </p:sp>
    </p:spTree>
    <p:extLst>
      <p:ext uri="{BB962C8B-B14F-4D97-AF65-F5344CB8AC3E}">
        <p14:creationId xmlns:p14="http://schemas.microsoft.com/office/powerpoint/2010/main" val="139674120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p:cNvGrpSpPr/>
        <p:nvPr/>
      </p:nvGrpSpPr>
      <p:grpSpPr>
        <a:xfrm>
          <a:off x="0" y="0"/>
          <a:ext cx="0" cy="0"/>
          <a:chOff x="0" y="0"/>
          <a:chExt cx="0" cy="0"/>
        </a:xfrm>
      </p:grpSpPr>
      <p:sp>
        <p:nvSpPr>
          <p:cNvPr id="86" name="Google Shape;86;g2009b74a80d_0_138:notes"/>
          <p:cNvSpPr>
            <a:spLocks noGrp="1" noRot="1" noChangeAspect="1"/>
          </p:cNvSpPr>
          <p:nvPr>
            <p:ph type="sldImg" idx="2"/>
          </p:nvPr>
        </p:nvSpPr>
        <p:spPr>
          <a:xfrm>
            <a:off x="217488" y="812800"/>
            <a:ext cx="7124700" cy="4008438"/>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87" name="Google Shape;87;g2009b74a80d_0_138:notes"/>
          <p:cNvSpPr txBox="1">
            <a:spLocks noGrp="1"/>
          </p:cNvSpPr>
          <p:nvPr>
            <p:ph type="body" idx="1"/>
          </p:nvPr>
        </p:nvSpPr>
        <p:spPr>
          <a:xfrm>
            <a:off x="756000" y="5078520"/>
            <a:ext cx="6047700" cy="4811100"/>
          </a:xfrm>
          <a:prstGeom prst="rect">
            <a:avLst/>
          </a:prstGeom>
          <a:noFill/>
          <a:ln>
            <a:noFill/>
          </a:ln>
        </p:spPr>
        <p:txBody>
          <a:bodyPr spcFirstLastPara="1" wrap="square" lIns="0" tIns="0" rIns="0" bIns="0" anchor="t" anchorCtr="0">
            <a:noAutofit/>
          </a:bodyPr>
          <a:lstStyle/>
          <a:p>
            <a:pPr marL="0" lvl="0" indent="0" algn="l" rtl="0">
              <a:lnSpc>
                <a:spcPct val="115000"/>
              </a:lnSpc>
              <a:spcBef>
                <a:spcPts val="1200"/>
              </a:spcBef>
              <a:spcAft>
                <a:spcPts val="1200"/>
              </a:spcAft>
              <a:buClr>
                <a:schemeClr val="dk1"/>
              </a:buClr>
              <a:buSzPts val="1100"/>
              <a:buFont typeface="Arial"/>
              <a:buNone/>
            </a:pPr>
            <a:r>
              <a:rPr lang="en-US" sz="1100" dirty="0">
                <a:solidFill>
                  <a:schemeClr val="dk1"/>
                </a:solidFill>
              </a:rPr>
              <a:t>A quick recap of what we were doing whilst studying mitogenomes, and specifically signals behind translocations: we were interested in looking at a potential ‘molecular signal’ (I will explain what that means at the end) that, some mysterious unknown machinery, that is supposedly imported from the nucleus into the mitochondria, recognizes when chopping up the genome and carrying out translocations. </a:t>
            </a:r>
          </a:p>
          <a:p>
            <a:pPr marL="0" lvl="0" indent="0" algn="l" rtl="0">
              <a:lnSpc>
                <a:spcPct val="115000"/>
              </a:lnSpc>
              <a:spcBef>
                <a:spcPts val="1200"/>
              </a:spcBef>
              <a:spcAft>
                <a:spcPts val="1200"/>
              </a:spcAft>
              <a:buClr>
                <a:schemeClr val="dk1"/>
              </a:buClr>
              <a:buSzPts val="1100"/>
              <a:buFont typeface="Arial"/>
              <a:buNone/>
            </a:pPr>
            <a:r>
              <a:rPr lang="en-US" sz="1100" dirty="0">
                <a:solidFill>
                  <a:schemeClr val="dk1"/>
                </a:solidFill>
              </a:rPr>
              <a:t>Translocations can take place between the mitogenome and the nucleus, which was why this was of some interest, but for whatever I’ve been doing so far, I’ve only been considering intra-mitogenome translocations, and not genomic sequence translocations across membranes.</a:t>
            </a:r>
          </a:p>
          <a:p>
            <a:pPr marL="0" lvl="0" indent="0" algn="l" rtl="0">
              <a:lnSpc>
                <a:spcPct val="115000"/>
              </a:lnSpc>
              <a:spcBef>
                <a:spcPts val="1200"/>
              </a:spcBef>
              <a:spcAft>
                <a:spcPts val="1200"/>
              </a:spcAft>
              <a:buClr>
                <a:schemeClr val="dk1"/>
              </a:buClr>
              <a:buSzPts val="1100"/>
              <a:buFont typeface="Arial"/>
              <a:buNone/>
            </a:pPr>
            <a:r>
              <a:rPr lang="en-US" sz="1100" dirty="0">
                <a:solidFill>
                  <a:schemeClr val="dk1"/>
                </a:solidFill>
              </a:rPr>
              <a:t>I’d explained the why behind this the last time, but the dataset I am using is a number of ANIMAL mitochondrial genomes, about 55 as of now until I can refine this entire workflow and try it on a larger dataset. I’ve listed the two big reasons there. Turns out that those two same reasons are exactly what cause all the problems I’ve faced over the last few weeks, and I will go over those in the next few slides.</a:t>
            </a:r>
            <a:endParaRPr sz="1100" dirty="0">
              <a:solidFill>
                <a:schemeClr val="dk1"/>
              </a:solidFill>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14C11F16-27FA-6AAA-11AF-6CC33E57BE96}"/>
            </a:ext>
          </a:extLst>
        </p:cNvPr>
        <p:cNvGrpSpPr/>
        <p:nvPr/>
      </p:nvGrpSpPr>
      <p:grpSpPr>
        <a:xfrm>
          <a:off x="0" y="0"/>
          <a:ext cx="0" cy="0"/>
          <a:chOff x="0" y="0"/>
          <a:chExt cx="0" cy="0"/>
        </a:xfrm>
      </p:grpSpPr>
      <p:sp>
        <p:nvSpPr>
          <p:cNvPr id="86" name="Google Shape;86;g2009b74a80d_0_138:notes">
            <a:extLst>
              <a:ext uri="{FF2B5EF4-FFF2-40B4-BE49-F238E27FC236}">
                <a16:creationId xmlns:a16="http://schemas.microsoft.com/office/drawing/2014/main" id="{7A5A00A1-1F15-C5FE-379A-B9DB877F389C}"/>
              </a:ext>
            </a:extLst>
          </p:cNvPr>
          <p:cNvSpPr>
            <a:spLocks noGrp="1" noRot="1" noChangeAspect="1"/>
          </p:cNvSpPr>
          <p:nvPr>
            <p:ph type="sldImg" idx="2"/>
          </p:nvPr>
        </p:nvSpPr>
        <p:spPr>
          <a:xfrm>
            <a:off x="217488" y="812800"/>
            <a:ext cx="7124700" cy="4008438"/>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87" name="Google Shape;87;g2009b74a80d_0_138:notes">
            <a:extLst>
              <a:ext uri="{FF2B5EF4-FFF2-40B4-BE49-F238E27FC236}">
                <a16:creationId xmlns:a16="http://schemas.microsoft.com/office/drawing/2014/main" id="{45393BEC-17D1-6149-1E50-B84483A161E5}"/>
              </a:ext>
            </a:extLst>
          </p:cNvPr>
          <p:cNvSpPr txBox="1">
            <a:spLocks noGrp="1"/>
          </p:cNvSpPr>
          <p:nvPr>
            <p:ph type="body" idx="1"/>
          </p:nvPr>
        </p:nvSpPr>
        <p:spPr>
          <a:xfrm>
            <a:off x="756000" y="5078520"/>
            <a:ext cx="6047700" cy="4811100"/>
          </a:xfrm>
          <a:prstGeom prst="rect">
            <a:avLst/>
          </a:prstGeom>
          <a:noFill/>
          <a:ln>
            <a:noFill/>
          </a:ln>
        </p:spPr>
        <p:txBody>
          <a:bodyPr spcFirstLastPara="1" wrap="square" lIns="0" tIns="0" rIns="0" bIns="0" anchor="t" anchorCtr="0">
            <a:noAutofit/>
          </a:bodyPr>
          <a:lstStyle/>
          <a:p>
            <a:pPr marL="0" lvl="0" indent="0" algn="l" rtl="0">
              <a:lnSpc>
                <a:spcPct val="115000"/>
              </a:lnSpc>
              <a:spcBef>
                <a:spcPts val="1200"/>
              </a:spcBef>
              <a:spcAft>
                <a:spcPts val="1200"/>
              </a:spcAft>
              <a:buClr>
                <a:schemeClr val="dk1"/>
              </a:buClr>
              <a:buSzPts val="1100"/>
              <a:buFont typeface="Arial"/>
              <a:buNone/>
            </a:pPr>
            <a:r>
              <a:rPr lang="en-US" sz="1100" dirty="0">
                <a:solidFill>
                  <a:schemeClr val="dk1"/>
                </a:solidFill>
              </a:rPr>
              <a:t>This is the workflow itself: the goal is to identify specific ‘sites’ where translocations have taken place across the evolution of the mitogenome. However, since the nucleotide sequences themselves don’t provide any clue about where a translocation has happened, the only sure-fire indicator of sequences having been translocated, is the location and order of the genes themselves, which have already been annotated in the genome files on the NCBI database. </a:t>
            </a:r>
          </a:p>
          <a:p>
            <a:pPr marL="0" lvl="0" indent="0" algn="l" rtl="0">
              <a:lnSpc>
                <a:spcPct val="115000"/>
              </a:lnSpc>
              <a:spcBef>
                <a:spcPts val="1200"/>
              </a:spcBef>
              <a:spcAft>
                <a:spcPts val="1200"/>
              </a:spcAft>
              <a:buClr>
                <a:schemeClr val="dk1"/>
              </a:buClr>
              <a:buSzPts val="1100"/>
              <a:buFont typeface="Arial"/>
              <a:buNone/>
            </a:pPr>
            <a:r>
              <a:rPr lang="en-US" sz="1100" dirty="0">
                <a:solidFill>
                  <a:schemeClr val="dk1"/>
                </a:solidFill>
              </a:rPr>
              <a:t>So, I start with a dataset of a number of mitogenomes, and I wish to arrange them in some ‘evolutionary order’, which is supposed to reflect how translocation events have happened across their evolution. In order to do this I come up with some custom-DISTANCE METRIC (I will elaborate on that in the next slide), which is supposed to represent how ‘different’ two gene-orders are from each other (when I say gene order I mean an ordered list of genes of that genome, starting from the TSS).</a:t>
            </a:r>
          </a:p>
          <a:p>
            <a:pPr marL="0" lvl="0" indent="0" algn="l" rtl="0">
              <a:lnSpc>
                <a:spcPct val="115000"/>
              </a:lnSpc>
              <a:spcBef>
                <a:spcPts val="1200"/>
              </a:spcBef>
              <a:spcAft>
                <a:spcPts val="1200"/>
              </a:spcAft>
              <a:buClr>
                <a:schemeClr val="dk1"/>
              </a:buClr>
              <a:buSzPts val="1100"/>
              <a:buFont typeface="Arial"/>
              <a:buNone/>
            </a:pPr>
            <a:r>
              <a:rPr lang="en-US" sz="1100" dirty="0">
                <a:solidFill>
                  <a:schemeClr val="dk1"/>
                </a:solidFill>
              </a:rPr>
              <a:t>Using this distance metric I can construct a distance matrix for genomes taken pairwise, construct phylogeny based on this matrix, and then arrange the leaves of that tree into an ordered list that I can further use. </a:t>
            </a:r>
          </a:p>
          <a:p>
            <a:pPr marL="0" lvl="0" indent="0" algn="l" rtl="0">
              <a:lnSpc>
                <a:spcPct val="115000"/>
              </a:lnSpc>
              <a:spcBef>
                <a:spcPts val="1200"/>
              </a:spcBef>
              <a:spcAft>
                <a:spcPts val="1200"/>
              </a:spcAft>
              <a:buClr>
                <a:schemeClr val="dk1"/>
              </a:buClr>
              <a:buSzPts val="1100"/>
              <a:buFont typeface="Arial"/>
              <a:buNone/>
            </a:pPr>
            <a:r>
              <a:rPr lang="en-US" sz="1100" dirty="0">
                <a:solidFill>
                  <a:schemeClr val="dk1"/>
                </a:solidFill>
              </a:rPr>
              <a:t>Why am I using the gene orders as my metric? Mainly because I don’t have a better way of aligning a large number of these genomes which are each ~15k base pairs in one go.</a:t>
            </a:r>
          </a:p>
          <a:p>
            <a:pPr marL="0" lvl="0" indent="0" algn="l" rtl="0">
              <a:lnSpc>
                <a:spcPct val="115000"/>
              </a:lnSpc>
              <a:spcBef>
                <a:spcPts val="1200"/>
              </a:spcBef>
              <a:spcAft>
                <a:spcPts val="1200"/>
              </a:spcAft>
              <a:buClr>
                <a:schemeClr val="dk1"/>
              </a:buClr>
              <a:buSzPts val="1100"/>
              <a:buFont typeface="Arial"/>
              <a:buNone/>
            </a:pPr>
            <a:r>
              <a:rPr lang="en-US" sz="1100" dirty="0">
                <a:solidFill>
                  <a:schemeClr val="dk1"/>
                </a:solidFill>
              </a:rPr>
              <a:t>Now that I have my ordered list, I identify synteny blocks between two genomes in that list, which are defined as conserved blocks of DNA which have not been chopped up. In my case, I treat ‘gene chunks’, as the synteny blocks. Between these pairwise genomes, once I have identified these synteny blocks, I identify the breakpoints, which is where the chopping up has taken place. And those are the locations we are interested in. </a:t>
            </a:r>
          </a:p>
          <a:p>
            <a:pPr marL="0" lvl="0" indent="0" algn="l" rtl="0">
              <a:lnSpc>
                <a:spcPct val="115000"/>
              </a:lnSpc>
              <a:spcBef>
                <a:spcPts val="1200"/>
              </a:spcBef>
              <a:spcAft>
                <a:spcPts val="1200"/>
              </a:spcAft>
              <a:buClr>
                <a:schemeClr val="dk1"/>
              </a:buClr>
              <a:buSzPts val="1100"/>
              <a:buFont typeface="Arial"/>
              <a:buNone/>
            </a:pPr>
            <a:r>
              <a:rPr lang="en-US" sz="1100" dirty="0">
                <a:solidFill>
                  <a:schemeClr val="dk1"/>
                </a:solidFill>
              </a:rPr>
              <a:t>Quick note: the whole point of taking up the animal mitochondrial genomes was because they had minimal non-coding region content, and all of their genes were adjacent to each other, which meant that the regions in between genes was at max a few base pairs, and that is likely where our ‘signal’ is. </a:t>
            </a:r>
          </a:p>
          <a:p>
            <a:pPr marL="0" lvl="0" indent="0" algn="l" rtl="0">
              <a:lnSpc>
                <a:spcPct val="115000"/>
              </a:lnSpc>
              <a:spcBef>
                <a:spcPts val="1200"/>
              </a:spcBef>
              <a:spcAft>
                <a:spcPts val="1200"/>
              </a:spcAft>
              <a:buClr>
                <a:schemeClr val="dk1"/>
              </a:buClr>
              <a:buSzPts val="1100"/>
              <a:buFont typeface="Arial"/>
              <a:buNone/>
            </a:pPr>
            <a:r>
              <a:rPr lang="en-US" sz="1100" dirty="0">
                <a:solidFill>
                  <a:schemeClr val="dk1"/>
                </a:solidFill>
              </a:rPr>
              <a:t>Using the information I have about the gene orders, I take some length of nucleotides around that region of interest, and store those sequences. I do this for all identified breakpoints between two genomes, and likewise all genomes taken pairwise in my ordered list.</a:t>
            </a:r>
          </a:p>
          <a:p>
            <a:pPr marL="0" lvl="0" indent="0" algn="l" rtl="0">
              <a:lnSpc>
                <a:spcPct val="115000"/>
              </a:lnSpc>
              <a:spcBef>
                <a:spcPts val="1200"/>
              </a:spcBef>
              <a:spcAft>
                <a:spcPts val="1200"/>
              </a:spcAft>
              <a:buClr>
                <a:schemeClr val="dk1"/>
              </a:buClr>
              <a:buSzPts val="1100"/>
              <a:buFont typeface="Arial"/>
              <a:buNone/>
            </a:pPr>
            <a:r>
              <a:rPr lang="en-US" sz="1100" dirty="0">
                <a:solidFill>
                  <a:schemeClr val="dk1"/>
                </a:solidFill>
              </a:rPr>
              <a:t>This will form my dataset of sequences that I need to </a:t>
            </a:r>
            <a:r>
              <a:rPr lang="en-US" sz="1100" dirty="0" err="1">
                <a:solidFill>
                  <a:schemeClr val="dk1"/>
                </a:solidFill>
              </a:rPr>
              <a:t>analyse</a:t>
            </a:r>
            <a:r>
              <a:rPr lang="en-US" sz="1100" dirty="0">
                <a:solidFill>
                  <a:schemeClr val="dk1"/>
                </a:solidFill>
              </a:rPr>
              <a:t>. </a:t>
            </a:r>
          </a:p>
        </p:txBody>
      </p:sp>
    </p:spTree>
    <p:extLst>
      <p:ext uri="{BB962C8B-B14F-4D97-AF65-F5344CB8AC3E}">
        <p14:creationId xmlns:p14="http://schemas.microsoft.com/office/powerpoint/2010/main" val="292487867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DDE5CD1F-61E0-82E8-7C8C-E2B1530E40A9}"/>
            </a:ext>
          </a:extLst>
        </p:cNvPr>
        <p:cNvGrpSpPr/>
        <p:nvPr/>
      </p:nvGrpSpPr>
      <p:grpSpPr>
        <a:xfrm>
          <a:off x="0" y="0"/>
          <a:ext cx="0" cy="0"/>
          <a:chOff x="0" y="0"/>
          <a:chExt cx="0" cy="0"/>
        </a:xfrm>
      </p:grpSpPr>
      <p:sp>
        <p:nvSpPr>
          <p:cNvPr id="86" name="Google Shape;86;g2009b74a80d_0_138:notes">
            <a:extLst>
              <a:ext uri="{FF2B5EF4-FFF2-40B4-BE49-F238E27FC236}">
                <a16:creationId xmlns:a16="http://schemas.microsoft.com/office/drawing/2014/main" id="{6F651F51-7ABB-B437-3D94-E89E8223F1A6}"/>
              </a:ext>
            </a:extLst>
          </p:cNvPr>
          <p:cNvSpPr>
            <a:spLocks noGrp="1" noRot="1" noChangeAspect="1"/>
          </p:cNvSpPr>
          <p:nvPr>
            <p:ph type="sldImg" idx="2"/>
          </p:nvPr>
        </p:nvSpPr>
        <p:spPr>
          <a:xfrm>
            <a:off x="217488" y="812800"/>
            <a:ext cx="7124700" cy="4008438"/>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87" name="Google Shape;87;g2009b74a80d_0_138:notes">
            <a:extLst>
              <a:ext uri="{FF2B5EF4-FFF2-40B4-BE49-F238E27FC236}">
                <a16:creationId xmlns:a16="http://schemas.microsoft.com/office/drawing/2014/main" id="{AA4720A6-B010-E515-A63E-A2D712DEB97C}"/>
              </a:ext>
            </a:extLst>
          </p:cNvPr>
          <p:cNvSpPr txBox="1">
            <a:spLocks noGrp="1"/>
          </p:cNvSpPr>
          <p:nvPr>
            <p:ph type="body" idx="1"/>
          </p:nvPr>
        </p:nvSpPr>
        <p:spPr>
          <a:xfrm>
            <a:off x="756000" y="5078520"/>
            <a:ext cx="6047700" cy="4811100"/>
          </a:xfrm>
          <a:prstGeom prst="rect">
            <a:avLst/>
          </a:prstGeom>
          <a:noFill/>
          <a:ln>
            <a:noFill/>
          </a:ln>
        </p:spPr>
        <p:txBody>
          <a:bodyPr spcFirstLastPara="1" wrap="square" lIns="0" tIns="0" rIns="0" bIns="0" anchor="t" anchorCtr="0">
            <a:noAutofit/>
          </a:bodyPr>
          <a:lstStyle/>
          <a:p>
            <a:pPr marL="0" lvl="0" indent="0" algn="l" rtl="0">
              <a:lnSpc>
                <a:spcPct val="115000"/>
              </a:lnSpc>
              <a:spcBef>
                <a:spcPts val="1200"/>
              </a:spcBef>
              <a:spcAft>
                <a:spcPts val="1200"/>
              </a:spcAft>
              <a:buClr>
                <a:schemeClr val="dk1"/>
              </a:buClr>
              <a:buSzPts val="1100"/>
              <a:buFont typeface="Arial"/>
              <a:buNone/>
            </a:pPr>
            <a:r>
              <a:rPr lang="en-US" sz="1100" dirty="0">
                <a:solidFill>
                  <a:schemeClr val="dk1"/>
                </a:solidFill>
              </a:rPr>
              <a:t>I’d shown this plot the last time as well. This was the 700-odd set of sequences that I had obtained from the workflow (albeit I had to do a lot of troubleshooting afterwards), for which I had constructed 5-mer motif vectors and performed a correlation between each of them taken pairwise. Other than the diagonal of 100% correlations, and some random off-diagonal streaks, most of the sequences have zero correlation. Most of what I’ve been trying to do since then has been to troubleshoot this and see what would give a potentially high correlation value to at least some significant fraction of this dataset. I will go over some of these in the next few slides.</a:t>
            </a:r>
            <a:endParaRPr sz="1100" dirty="0">
              <a:solidFill>
                <a:schemeClr val="dk1"/>
              </a:solidFill>
            </a:endParaRPr>
          </a:p>
        </p:txBody>
      </p:sp>
    </p:spTree>
    <p:extLst>
      <p:ext uri="{BB962C8B-B14F-4D97-AF65-F5344CB8AC3E}">
        <p14:creationId xmlns:p14="http://schemas.microsoft.com/office/powerpoint/2010/main" val="4288861637"/>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46228B6E-DBDE-3336-0A78-92AF0B9E06B3}"/>
            </a:ext>
          </a:extLst>
        </p:cNvPr>
        <p:cNvGrpSpPr/>
        <p:nvPr/>
      </p:nvGrpSpPr>
      <p:grpSpPr>
        <a:xfrm>
          <a:off x="0" y="0"/>
          <a:ext cx="0" cy="0"/>
          <a:chOff x="0" y="0"/>
          <a:chExt cx="0" cy="0"/>
        </a:xfrm>
      </p:grpSpPr>
      <p:sp>
        <p:nvSpPr>
          <p:cNvPr id="86" name="Google Shape;86;g2009b74a80d_0_138:notes">
            <a:extLst>
              <a:ext uri="{FF2B5EF4-FFF2-40B4-BE49-F238E27FC236}">
                <a16:creationId xmlns:a16="http://schemas.microsoft.com/office/drawing/2014/main" id="{79503F0E-D54E-0B51-2A30-F0BD80A68741}"/>
              </a:ext>
            </a:extLst>
          </p:cNvPr>
          <p:cNvSpPr>
            <a:spLocks noGrp="1" noRot="1" noChangeAspect="1"/>
          </p:cNvSpPr>
          <p:nvPr>
            <p:ph type="sldImg" idx="2"/>
          </p:nvPr>
        </p:nvSpPr>
        <p:spPr>
          <a:xfrm>
            <a:off x="217488" y="812800"/>
            <a:ext cx="7124700" cy="4008438"/>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87" name="Google Shape;87;g2009b74a80d_0_138:notes">
            <a:extLst>
              <a:ext uri="{FF2B5EF4-FFF2-40B4-BE49-F238E27FC236}">
                <a16:creationId xmlns:a16="http://schemas.microsoft.com/office/drawing/2014/main" id="{F88D0DE7-783D-DDC9-A596-4631703B441B}"/>
              </a:ext>
            </a:extLst>
          </p:cNvPr>
          <p:cNvSpPr txBox="1">
            <a:spLocks noGrp="1"/>
          </p:cNvSpPr>
          <p:nvPr>
            <p:ph type="body" idx="1"/>
          </p:nvPr>
        </p:nvSpPr>
        <p:spPr>
          <a:xfrm>
            <a:off x="756000" y="5078520"/>
            <a:ext cx="6047700" cy="4811100"/>
          </a:xfrm>
          <a:prstGeom prst="rect">
            <a:avLst/>
          </a:prstGeom>
          <a:noFill/>
          <a:ln>
            <a:noFill/>
          </a:ln>
        </p:spPr>
        <p:txBody>
          <a:bodyPr spcFirstLastPara="1" wrap="square" lIns="0" tIns="0" rIns="0" bIns="0" anchor="t" anchorCtr="0">
            <a:noAutofit/>
          </a:bodyPr>
          <a:lstStyle/>
          <a:p>
            <a:pPr marL="0" lvl="0" indent="0" algn="l" rtl="0">
              <a:lnSpc>
                <a:spcPct val="115000"/>
              </a:lnSpc>
              <a:spcBef>
                <a:spcPts val="1200"/>
              </a:spcBef>
              <a:spcAft>
                <a:spcPts val="1200"/>
              </a:spcAft>
              <a:buClr>
                <a:schemeClr val="dk1"/>
              </a:buClr>
              <a:buSzPts val="1100"/>
              <a:buFont typeface="Arial"/>
              <a:buNone/>
            </a:pPr>
            <a:r>
              <a:rPr lang="en-US" sz="1100" dirty="0">
                <a:solidFill>
                  <a:schemeClr val="dk1"/>
                </a:solidFill>
              </a:rPr>
              <a:t>First was the distance metric itself. I had proposed something called a ‘</a:t>
            </a:r>
            <a:r>
              <a:rPr lang="en-US" sz="1100" dirty="0" err="1">
                <a:solidFill>
                  <a:schemeClr val="dk1"/>
                </a:solidFill>
              </a:rPr>
              <a:t>Damerau-Levenshtein</a:t>
            </a:r>
            <a:r>
              <a:rPr lang="en-US" sz="1100" dirty="0">
                <a:solidFill>
                  <a:schemeClr val="dk1"/>
                </a:solidFill>
              </a:rPr>
              <a:t> edit distance’, which is an idea borrowed from computer scientists. It is essentially a more general version of the standard alignment algorithms we know of, but for an ordered list of many characters (or in this case, genes). I did try making modified versions of this metric, for example by assigning a </a:t>
            </a:r>
            <a:r>
              <a:rPr lang="en-US" sz="1100" dirty="0" err="1">
                <a:solidFill>
                  <a:schemeClr val="dk1"/>
                </a:solidFill>
              </a:rPr>
              <a:t>Levenshtein</a:t>
            </a:r>
            <a:r>
              <a:rPr lang="en-US" sz="1100" dirty="0">
                <a:solidFill>
                  <a:schemeClr val="dk1"/>
                </a:solidFill>
              </a:rPr>
              <a:t> distance score for the CDS genes and the RNA genes separately, and then assigning a score that I some linear combination of them both. But I did find that although closely-related organisms were clustered together, the clusters themselves weren’t arranged in a biologically sensible order. The issue again is that the number of genes is too small for the metric to separate far-away genomes well enough. </a:t>
            </a:r>
          </a:p>
          <a:p>
            <a:pPr marL="0" lvl="0" indent="0" algn="l" rtl="0">
              <a:lnSpc>
                <a:spcPct val="115000"/>
              </a:lnSpc>
              <a:spcBef>
                <a:spcPts val="1200"/>
              </a:spcBef>
              <a:spcAft>
                <a:spcPts val="1200"/>
              </a:spcAft>
              <a:buClr>
                <a:schemeClr val="dk1"/>
              </a:buClr>
              <a:buSzPts val="1100"/>
              <a:buFont typeface="Arial"/>
              <a:buNone/>
            </a:pPr>
            <a:endParaRPr lang="en-US" sz="1100" dirty="0">
              <a:solidFill>
                <a:schemeClr val="dk1"/>
              </a:solidFill>
            </a:endParaRPr>
          </a:p>
          <a:p>
            <a:pPr marL="0" lvl="0" indent="0" algn="l" rtl="0">
              <a:lnSpc>
                <a:spcPct val="115000"/>
              </a:lnSpc>
              <a:spcBef>
                <a:spcPts val="1200"/>
              </a:spcBef>
              <a:spcAft>
                <a:spcPts val="1200"/>
              </a:spcAft>
              <a:buClr>
                <a:schemeClr val="dk1"/>
              </a:buClr>
              <a:buSzPts val="1100"/>
              <a:buFont typeface="Arial"/>
              <a:buNone/>
            </a:pPr>
            <a:r>
              <a:rPr lang="en-US" sz="1100" dirty="0">
                <a:solidFill>
                  <a:schemeClr val="dk1"/>
                </a:solidFill>
              </a:rPr>
              <a:t>An alternative that I’d just found last week was something known as the Double-cut and Join model, which treats synteny blocks as nodes and their connections as edges, and uses a graph theoretic approach to come up with a DCJ score. This is something I want to try implementing, not just for assigning a score but also to identify breakpoints further down the workflow.</a:t>
            </a:r>
            <a:endParaRPr sz="1100" dirty="0">
              <a:solidFill>
                <a:schemeClr val="dk1"/>
              </a:solidFill>
            </a:endParaRPr>
          </a:p>
        </p:txBody>
      </p:sp>
    </p:spTree>
    <p:extLst>
      <p:ext uri="{BB962C8B-B14F-4D97-AF65-F5344CB8AC3E}">
        <p14:creationId xmlns:p14="http://schemas.microsoft.com/office/powerpoint/2010/main" val="29534186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F36E42BD-49A8-F05E-BCBC-2CE765C34FAD}"/>
            </a:ext>
          </a:extLst>
        </p:cNvPr>
        <p:cNvGrpSpPr/>
        <p:nvPr/>
      </p:nvGrpSpPr>
      <p:grpSpPr>
        <a:xfrm>
          <a:off x="0" y="0"/>
          <a:ext cx="0" cy="0"/>
          <a:chOff x="0" y="0"/>
          <a:chExt cx="0" cy="0"/>
        </a:xfrm>
      </p:grpSpPr>
      <p:sp>
        <p:nvSpPr>
          <p:cNvPr id="86" name="Google Shape;86;g2009b74a80d_0_138:notes">
            <a:extLst>
              <a:ext uri="{FF2B5EF4-FFF2-40B4-BE49-F238E27FC236}">
                <a16:creationId xmlns:a16="http://schemas.microsoft.com/office/drawing/2014/main" id="{C639F058-1D8E-116C-3A8F-06388FD85270}"/>
              </a:ext>
            </a:extLst>
          </p:cNvPr>
          <p:cNvSpPr>
            <a:spLocks noGrp="1" noRot="1" noChangeAspect="1"/>
          </p:cNvSpPr>
          <p:nvPr>
            <p:ph type="sldImg" idx="2"/>
          </p:nvPr>
        </p:nvSpPr>
        <p:spPr>
          <a:xfrm>
            <a:off x="217488" y="812800"/>
            <a:ext cx="7124700" cy="4008438"/>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87" name="Google Shape;87;g2009b74a80d_0_138:notes">
            <a:extLst>
              <a:ext uri="{FF2B5EF4-FFF2-40B4-BE49-F238E27FC236}">
                <a16:creationId xmlns:a16="http://schemas.microsoft.com/office/drawing/2014/main" id="{778F1DA0-E9CC-598E-D918-FE0EC950A59F}"/>
              </a:ext>
            </a:extLst>
          </p:cNvPr>
          <p:cNvSpPr txBox="1">
            <a:spLocks noGrp="1"/>
          </p:cNvSpPr>
          <p:nvPr>
            <p:ph type="body" idx="1"/>
          </p:nvPr>
        </p:nvSpPr>
        <p:spPr>
          <a:xfrm>
            <a:off x="756000" y="5078520"/>
            <a:ext cx="6047700" cy="4811100"/>
          </a:xfrm>
          <a:prstGeom prst="rect">
            <a:avLst/>
          </a:prstGeom>
          <a:noFill/>
          <a:ln>
            <a:noFill/>
          </a:ln>
        </p:spPr>
        <p:txBody>
          <a:bodyPr spcFirstLastPara="1" wrap="square" lIns="0" tIns="0" rIns="0" bIns="0" anchor="t" anchorCtr="0">
            <a:noAutofit/>
          </a:bodyPr>
          <a:lstStyle/>
          <a:p>
            <a:pPr marL="0" lvl="0" indent="0" algn="l" rtl="0">
              <a:lnSpc>
                <a:spcPct val="115000"/>
              </a:lnSpc>
              <a:spcBef>
                <a:spcPts val="1200"/>
              </a:spcBef>
              <a:spcAft>
                <a:spcPts val="1200"/>
              </a:spcAft>
              <a:buClr>
                <a:schemeClr val="dk1"/>
              </a:buClr>
              <a:buSzPts val="1100"/>
              <a:buFont typeface="Arial"/>
              <a:buNone/>
            </a:pPr>
            <a:r>
              <a:rPr lang="en-US" sz="1100" dirty="0">
                <a:solidFill>
                  <a:schemeClr val="dk1"/>
                </a:solidFill>
              </a:rPr>
              <a:t>Another major problem that I ran into, is the size of the target sequences themselves. Because we stuck with animal mitochondrial genomes in the hope that the minimal amount of non-coding region content would help us in reducing any unwanted motifs from appearing, the sequences themselves are therefore tiny, something like 30 base pairs. The reason for keeping the window this short is also because, the smallest genes in the mitogenome are the tRNAs, and there are instances of individual, adjacent tRNAs swapping places, which means the signal must be in the very short window between them. </a:t>
            </a:r>
          </a:p>
          <a:p>
            <a:pPr marL="0" lvl="0" indent="0" algn="l" rtl="0">
              <a:lnSpc>
                <a:spcPct val="115000"/>
              </a:lnSpc>
              <a:spcBef>
                <a:spcPts val="1200"/>
              </a:spcBef>
              <a:spcAft>
                <a:spcPts val="1200"/>
              </a:spcAft>
              <a:buClr>
                <a:schemeClr val="dk1"/>
              </a:buClr>
              <a:buSzPts val="1100"/>
              <a:buFont typeface="Arial"/>
              <a:buNone/>
            </a:pPr>
            <a:endParaRPr lang="en-US" sz="1100" dirty="0">
              <a:solidFill>
                <a:schemeClr val="dk1"/>
              </a:solidFill>
            </a:endParaRPr>
          </a:p>
          <a:p>
            <a:pPr marL="0" lvl="0" indent="0" algn="l" rtl="0">
              <a:lnSpc>
                <a:spcPct val="115000"/>
              </a:lnSpc>
              <a:spcBef>
                <a:spcPts val="1200"/>
              </a:spcBef>
              <a:spcAft>
                <a:spcPts val="1200"/>
              </a:spcAft>
              <a:buClr>
                <a:schemeClr val="dk1"/>
              </a:buClr>
              <a:buSzPts val="1100"/>
              <a:buFont typeface="Arial"/>
              <a:buNone/>
            </a:pPr>
            <a:r>
              <a:rPr lang="en-US" sz="1100" dirty="0">
                <a:solidFill>
                  <a:schemeClr val="dk1"/>
                </a:solidFill>
              </a:rPr>
              <a:t>And this then means using the motif vector as a metric will lead to problems. (Next slide)</a:t>
            </a:r>
            <a:endParaRPr sz="1100" dirty="0">
              <a:solidFill>
                <a:schemeClr val="dk1"/>
              </a:solidFill>
            </a:endParaRPr>
          </a:p>
        </p:txBody>
      </p:sp>
    </p:spTree>
    <p:extLst>
      <p:ext uri="{BB962C8B-B14F-4D97-AF65-F5344CB8AC3E}">
        <p14:creationId xmlns:p14="http://schemas.microsoft.com/office/powerpoint/2010/main" val="228463804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CF8DD07E-324A-6E35-F3E7-84E88147BA1C}"/>
            </a:ext>
          </a:extLst>
        </p:cNvPr>
        <p:cNvGrpSpPr/>
        <p:nvPr/>
      </p:nvGrpSpPr>
      <p:grpSpPr>
        <a:xfrm>
          <a:off x="0" y="0"/>
          <a:ext cx="0" cy="0"/>
          <a:chOff x="0" y="0"/>
          <a:chExt cx="0" cy="0"/>
        </a:xfrm>
      </p:grpSpPr>
      <p:sp>
        <p:nvSpPr>
          <p:cNvPr id="86" name="Google Shape;86;g2009b74a80d_0_138:notes">
            <a:extLst>
              <a:ext uri="{FF2B5EF4-FFF2-40B4-BE49-F238E27FC236}">
                <a16:creationId xmlns:a16="http://schemas.microsoft.com/office/drawing/2014/main" id="{DAE8686B-B1FF-0466-3763-4112E984DDDB}"/>
              </a:ext>
            </a:extLst>
          </p:cNvPr>
          <p:cNvSpPr>
            <a:spLocks noGrp="1" noRot="1" noChangeAspect="1"/>
          </p:cNvSpPr>
          <p:nvPr>
            <p:ph type="sldImg" idx="2"/>
          </p:nvPr>
        </p:nvSpPr>
        <p:spPr>
          <a:xfrm>
            <a:off x="217488" y="812800"/>
            <a:ext cx="7124700" cy="4008438"/>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87" name="Google Shape;87;g2009b74a80d_0_138:notes">
            <a:extLst>
              <a:ext uri="{FF2B5EF4-FFF2-40B4-BE49-F238E27FC236}">
                <a16:creationId xmlns:a16="http://schemas.microsoft.com/office/drawing/2014/main" id="{33944FEF-4DAC-17FD-3BA7-ED218E050F81}"/>
              </a:ext>
            </a:extLst>
          </p:cNvPr>
          <p:cNvSpPr txBox="1">
            <a:spLocks noGrp="1"/>
          </p:cNvSpPr>
          <p:nvPr>
            <p:ph type="body" idx="1"/>
          </p:nvPr>
        </p:nvSpPr>
        <p:spPr>
          <a:xfrm>
            <a:off x="756000" y="5078520"/>
            <a:ext cx="6047700" cy="4811100"/>
          </a:xfrm>
          <a:prstGeom prst="rect">
            <a:avLst/>
          </a:prstGeom>
          <a:noFill/>
          <a:ln>
            <a:noFill/>
          </a:ln>
        </p:spPr>
        <p:txBody>
          <a:bodyPr spcFirstLastPara="1" wrap="square" lIns="0" tIns="0" rIns="0" bIns="0" anchor="t" anchorCtr="0">
            <a:noAutofit/>
          </a:bodyPr>
          <a:lstStyle/>
          <a:p>
            <a:pPr marL="0" lvl="0" indent="0" algn="l" rtl="0">
              <a:lnSpc>
                <a:spcPct val="115000"/>
              </a:lnSpc>
              <a:spcBef>
                <a:spcPts val="1200"/>
              </a:spcBef>
              <a:spcAft>
                <a:spcPts val="1200"/>
              </a:spcAft>
              <a:buClr>
                <a:schemeClr val="dk1"/>
              </a:buClr>
              <a:buSzPts val="1100"/>
              <a:buFont typeface="Arial"/>
              <a:buNone/>
            </a:pPr>
            <a:r>
              <a:rPr lang="en-US" sz="1100" dirty="0">
                <a:solidFill>
                  <a:schemeClr val="dk1"/>
                </a:solidFill>
              </a:rPr>
              <a:t>Most of the vector will just be a bunch of zero motifs, owing to the sequence being that short. Also, it is unlikely that we would see any functionally significant motifs appear in these regions, since, barring a short stretch of non-coding DNA usually found around the TSS, there are no other regulatory elements observed in animal mitochondrial genomes. </a:t>
            </a:r>
            <a:endParaRPr sz="1100" dirty="0">
              <a:solidFill>
                <a:schemeClr val="dk1"/>
              </a:solidFill>
            </a:endParaRPr>
          </a:p>
        </p:txBody>
      </p:sp>
    </p:spTree>
    <p:extLst>
      <p:ext uri="{BB962C8B-B14F-4D97-AF65-F5344CB8AC3E}">
        <p14:creationId xmlns:p14="http://schemas.microsoft.com/office/powerpoint/2010/main" val="1538231929"/>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878E91CE-4296-8ABC-8E0C-5DB2A0C60809}"/>
            </a:ext>
          </a:extLst>
        </p:cNvPr>
        <p:cNvGrpSpPr/>
        <p:nvPr/>
      </p:nvGrpSpPr>
      <p:grpSpPr>
        <a:xfrm>
          <a:off x="0" y="0"/>
          <a:ext cx="0" cy="0"/>
          <a:chOff x="0" y="0"/>
          <a:chExt cx="0" cy="0"/>
        </a:xfrm>
      </p:grpSpPr>
      <p:sp>
        <p:nvSpPr>
          <p:cNvPr id="86" name="Google Shape;86;g2009b74a80d_0_138:notes">
            <a:extLst>
              <a:ext uri="{FF2B5EF4-FFF2-40B4-BE49-F238E27FC236}">
                <a16:creationId xmlns:a16="http://schemas.microsoft.com/office/drawing/2014/main" id="{C8B303E8-F0C4-0EED-B111-50ABB56E5B7D}"/>
              </a:ext>
            </a:extLst>
          </p:cNvPr>
          <p:cNvSpPr>
            <a:spLocks noGrp="1" noRot="1" noChangeAspect="1"/>
          </p:cNvSpPr>
          <p:nvPr>
            <p:ph type="sldImg" idx="2"/>
          </p:nvPr>
        </p:nvSpPr>
        <p:spPr>
          <a:xfrm>
            <a:off x="217488" y="812800"/>
            <a:ext cx="7124700" cy="4008438"/>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87" name="Google Shape;87;g2009b74a80d_0_138:notes">
            <a:extLst>
              <a:ext uri="{FF2B5EF4-FFF2-40B4-BE49-F238E27FC236}">
                <a16:creationId xmlns:a16="http://schemas.microsoft.com/office/drawing/2014/main" id="{BE622486-02C2-0599-F603-D26819801E0F}"/>
              </a:ext>
            </a:extLst>
          </p:cNvPr>
          <p:cNvSpPr txBox="1">
            <a:spLocks noGrp="1"/>
          </p:cNvSpPr>
          <p:nvPr>
            <p:ph type="body" idx="1"/>
          </p:nvPr>
        </p:nvSpPr>
        <p:spPr>
          <a:xfrm>
            <a:off x="756000" y="5078520"/>
            <a:ext cx="6047700" cy="4811100"/>
          </a:xfrm>
          <a:prstGeom prst="rect">
            <a:avLst/>
          </a:prstGeom>
          <a:noFill/>
          <a:ln>
            <a:noFill/>
          </a:ln>
        </p:spPr>
        <p:txBody>
          <a:bodyPr spcFirstLastPara="1" wrap="square" lIns="0" tIns="0" rIns="0" bIns="0" anchor="t" anchorCtr="0">
            <a:noAutofit/>
          </a:bodyPr>
          <a:lstStyle/>
          <a:p>
            <a:pPr marL="0" lvl="0" indent="0" algn="l" rtl="0">
              <a:lnSpc>
                <a:spcPct val="115000"/>
              </a:lnSpc>
              <a:spcBef>
                <a:spcPts val="1200"/>
              </a:spcBef>
              <a:spcAft>
                <a:spcPts val="1200"/>
              </a:spcAft>
              <a:buClr>
                <a:schemeClr val="dk1"/>
              </a:buClr>
              <a:buSzPts val="1100"/>
              <a:buFont typeface="Arial"/>
              <a:buNone/>
            </a:pPr>
            <a:r>
              <a:rPr lang="en-US" sz="1100" dirty="0">
                <a:solidFill>
                  <a:schemeClr val="dk1"/>
                </a:solidFill>
              </a:rPr>
              <a:t>Which means that performing a whole-vector correlation using these vectors will just show high correlation since most of the entries are zeroes. The next step was to see if we can truncate these vectors and then correlate them instead. But the problem is that since we don’t expect any motifs to appear in abundance, and therefore that probably won’t result in anything either. </a:t>
            </a:r>
          </a:p>
          <a:p>
            <a:pPr marL="0" lvl="0" indent="0" algn="l" rtl="0">
              <a:lnSpc>
                <a:spcPct val="115000"/>
              </a:lnSpc>
              <a:spcBef>
                <a:spcPts val="1200"/>
              </a:spcBef>
              <a:spcAft>
                <a:spcPts val="1200"/>
              </a:spcAft>
              <a:buClr>
                <a:schemeClr val="dk1"/>
              </a:buClr>
              <a:buSzPts val="1100"/>
              <a:buFont typeface="Arial"/>
              <a:buNone/>
            </a:pPr>
            <a:endParaRPr lang="en-US" sz="1100" dirty="0">
              <a:solidFill>
                <a:schemeClr val="dk1"/>
              </a:solidFill>
            </a:endParaRPr>
          </a:p>
          <a:p>
            <a:pPr marL="0" lvl="0" indent="0" algn="l" rtl="0">
              <a:lnSpc>
                <a:spcPct val="115000"/>
              </a:lnSpc>
              <a:spcBef>
                <a:spcPts val="1200"/>
              </a:spcBef>
              <a:spcAft>
                <a:spcPts val="1200"/>
              </a:spcAft>
              <a:buClr>
                <a:schemeClr val="dk1"/>
              </a:buClr>
              <a:buSzPts val="1100"/>
              <a:buFont typeface="Arial"/>
              <a:buNone/>
            </a:pPr>
            <a:r>
              <a:rPr lang="en-US" sz="1100" dirty="0">
                <a:solidFill>
                  <a:schemeClr val="dk1"/>
                </a:solidFill>
              </a:rPr>
              <a:t>Why bother with the correlations at all? Because one of the original hopes was that we could use the motif vector to predict if there are any motifs associated with previously ‘unknown’ proteins in these sequences, besides the known ones. And this just becomes a lot more complicated to handle if correlating these sequences is this challenging. And on top of that we have to worry about, 1. the signal itself being lost when the chopping up happens, and 2. even if the signal is preserved, there is still the possibility of having evolutionary diverged over time.</a:t>
            </a:r>
            <a:endParaRPr sz="1100" dirty="0">
              <a:solidFill>
                <a:schemeClr val="dk1"/>
              </a:solidFill>
            </a:endParaRPr>
          </a:p>
        </p:txBody>
      </p:sp>
    </p:spTree>
    <p:extLst>
      <p:ext uri="{BB962C8B-B14F-4D97-AF65-F5344CB8AC3E}">
        <p14:creationId xmlns:p14="http://schemas.microsoft.com/office/powerpoint/2010/main" val="19914971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1F26E02A-0F8E-08A5-A96A-55EDC05BAB50}"/>
            </a:ext>
          </a:extLst>
        </p:cNvPr>
        <p:cNvGrpSpPr/>
        <p:nvPr/>
      </p:nvGrpSpPr>
      <p:grpSpPr>
        <a:xfrm>
          <a:off x="0" y="0"/>
          <a:ext cx="0" cy="0"/>
          <a:chOff x="0" y="0"/>
          <a:chExt cx="0" cy="0"/>
        </a:xfrm>
      </p:grpSpPr>
      <p:sp>
        <p:nvSpPr>
          <p:cNvPr id="86" name="Google Shape;86;g2009b74a80d_0_138:notes">
            <a:extLst>
              <a:ext uri="{FF2B5EF4-FFF2-40B4-BE49-F238E27FC236}">
                <a16:creationId xmlns:a16="http://schemas.microsoft.com/office/drawing/2014/main" id="{B3097C06-9271-79FD-904A-F756ED03F98A}"/>
              </a:ext>
            </a:extLst>
          </p:cNvPr>
          <p:cNvSpPr>
            <a:spLocks noGrp="1" noRot="1" noChangeAspect="1"/>
          </p:cNvSpPr>
          <p:nvPr>
            <p:ph type="sldImg" idx="2"/>
          </p:nvPr>
        </p:nvSpPr>
        <p:spPr>
          <a:xfrm>
            <a:off x="217488" y="812800"/>
            <a:ext cx="7124700" cy="4008438"/>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87" name="Google Shape;87;g2009b74a80d_0_138:notes">
            <a:extLst>
              <a:ext uri="{FF2B5EF4-FFF2-40B4-BE49-F238E27FC236}">
                <a16:creationId xmlns:a16="http://schemas.microsoft.com/office/drawing/2014/main" id="{C8833236-01E9-5223-6339-4533410257F4}"/>
              </a:ext>
            </a:extLst>
          </p:cNvPr>
          <p:cNvSpPr txBox="1">
            <a:spLocks noGrp="1"/>
          </p:cNvSpPr>
          <p:nvPr>
            <p:ph type="body" idx="1"/>
          </p:nvPr>
        </p:nvSpPr>
        <p:spPr>
          <a:xfrm>
            <a:off x="756000" y="5078520"/>
            <a:ext cx="6047700" cy="4811100"/>
          </a:xfrm>
          <a:prstGeom prst="rect">
            <a:avLst/>
          </a:prstGeom>
          <a:noFill/>
          <a:ln>
            <a:noFill/>
          </a:ln>
        </p:spPr>
        <p:txBody>
          <a:bodyPr spcFirstLastPara="1" wrap="square" lIns="0" tIns="0" rIns="0" bIns="0" anchor="t" anchorCtr="0">
            <a:noAutofit/>
          </a:bodyPr>
          <a:lstStyle/>
          <a:p>
            <a:pPr marL="0" lvl="0" indent="0" algn="l" rtl="0">
              <a:lnSpc>
                <a:spcPct val="115000"/>
              </a:lnSpc>
              <a:spcBef>
                <a:spcPts val="1200"/>
              </a:spcBef>
              <a:spcAft>
                <a:spcPts val="1200"/>
              </a:spcAft>
              <a:buClr>
                <a:schemeClr val="dk1"/>
              </a:buClr>
              <a:buSzPts val="1100"/>
              <a:buFont typeface="Arial"/>
              <a:buNone/>
            </a:pPr>
            <a:r>
              <a:rPr lang="en-US" sz="1100" dirty="0">
                <a:solidFill>
                  <a:schemeClr val="dk1"/>
                </a:solidFill>
              </a:rPr>
              <a:t>Which means I am stuck with a matrix of vectors for all of these target sequences, most of which are zeroes. And the hope is that it will satisfy one of these two hypotheses. The first one is that, there is some protein machinery that recognizes these signals and carries out the translocations, and this happens by import from the nucleus into the mitochondria. So, I ChatGPT-ed a list of all known mechanisms by which gene sequences can move around within the nuclear genome, (I still have to verify most of these with existing literature) but the hope is that at least some of these motifs will show up in this matrix of vectors. The other is a purely biophysical explanation, which is that, AT-rich motifs are more prone to breaking, and therefore the motifs that we see in these sequences should have abundant AT nucleotides. I’ll have to use this matrix and verify one of these two hypotheses, based on which we will have some information on what to look for in 1. the nuclear genome, but also 2. in the other two datasets.</a:t>
            </a:r>
            <a:endParaRPr sz="1100" dirty="0">
              <a:solidFill>
                <a:schemeClr val="dk1"/>
              </a:solidFill>
            </a:endParaRPr>
          </a:p>
        </p:txBody>
      </p:sp>
    </p:spTree>
    <p:extLst>
      <p:ext uri="{BB962C8B-B14F-4D97-AF65-F5344CB8AC3E}">
        <p14:creationId xmlns:p14="http://schemas.microsoft.com/office/powerpoint/2010/main" val="4083864214"/>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33F9832-6CC4-ACA7-E777-D1EA3909A691}"/>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IN"/>
          </a:p>
        </p:txBody>
      </p:sp>
      <p:sp>
        <p:nvSpPr>
          <p:cNvPr id="3" name="Subtitle 2">
            <a:extLst>
              <a:ext uri="{FF2B5EF4-FFF2-40B4-BE49-F238E27FC236}">
                <a16:creationId xmlns:a16="http://schemas.microsoft.com/office/drawing/2014/main" id="{E0AC71DB-940B-0B6E-8E25-AC51FA1D9C15}"/>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IN"/>
          </a:p>
        </p:txBody>
      </p:sp>
      <p:sp>
        <p:nvSpPr>
          <p:cNvPr id="4" name="Date Placeholder 3">
            <a:extLst>
              <a:ext uri="{FF2B5EF4-FFF2-40B4-BE49-F238E27FC236}">
                <a16:creationId xmlns:a16="http://schemas.microsoft.com/office/drawing/2014/main" id="{ADF1EF46-CDA3-AB1E-F9C1-3B972212F534}"/>
              </a:ext>
            </a:extLst>
          </p:cNvPr>
          <p:cNvSpPr>
            <a:spLocks noGrp="1"/>
          </p:cNvSpPr>
          <p:nvPr>
            <p:ph type="dt" sz="half" idx="10"/>
          </p:nvPr>
        </p:nvSpPr>
        <p:spPr/>
        <p:txBody>
          <a:bodyPr/>
          <a:lstStyle/>
          <a:p>
            <a:fld id="{AECC3E18-D65A-4D77-B158-F2A3E1B2D42F}" type="datetimeFigureOut">
              <a:rPr lang="en-IN" smtClean="0"/>
              <a:t>19-03-2025</a:t>
            </a:fld>
            <a:endParaRPr lang="en-IN"/>
          </a:p>
        </p:txBody>
      </p:sp>
      <p:sp>
        <p:nvSpPr>
          <p:cNvPr id="5" name="Footer Placeholder 4">
            <a:extLst>
              <a:ext uri="{FF2B5EF4-FFF2-40B4-BE49-F238E27FC236}">
                <a16:creationId xmlns:a16="http://schemas.microsoft.com/office/drawing/2014/main" id="{ACB019C7-512D-7047-72BA-66BBE69EBF64}"/>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4A76A849-6858-3B45-FADC-FA2051E0D0E7}"/>
              </a:ext>
            </a:extLst>
          </p:cNvPr>
          <p:cNvSpPr>
            <a:spLocks noGrp="1"/>
          </p:cNvSpPr>
          <p:nvPr>
            <p:ph type="sldNum" sz="quarter" idx="12"/>
          </p:nvPr>
        </p:nvSpPr>
        <p:spPr/>
        <p:txBody>
          <a:bodyPr/>
          <a:lstStyle/>
          <a:p>
            <a:fld id="{242A2BD5-BD0F-47F6-B455-80C678CA21D3}" type="slidenum">
              <a:rPr lang="en-IN" smtClean="0"/>
              <a:t>‹#›</a:t>
            </a:fld>
            <a:endParaRPr lang="en-IN"/>
          </a:p>
        </p:txBody>
      </p:sp>
    </p:spTree>
    <p:extLst>
      <p:ext uri="{BB962C8B-B14F-4D97-AF65-F5344CB8AC3E}">
        <p14:creationId xmlns:p14="http://schemas.microsoft.com/office/powerpoint/2010/main" val="111930878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B38799-FDEF-68BF-48CF-4F1D159A5767}"/>
              </a:ext>
            </a:extLst>
          </p:cNvPr>
          <p:cNvSpPr>
            <a:spLocks noGrp="1"/>
          </p:cNvSpPr>
          <p:nvPr>
            <p:ph type="title"/>
          </p:nvPr>
        </p:nvSpPr>
        <p:spPr/>
        <p:txBody>
          <a:bodyPr/>
          <a:lstStyle/>
          <a:p>
            <a:r>
              <a:rPr lang="en-US"/>
              <a:t>Click to edit Master title style</a:t>
            </a:r>
            <a:endParaRPr lang="en-IN"/>
          </a:p>
        </p:txBody>
      </p:sp>
      <p:sp>
        <p:nvSpPr>
          <p:cNvPr id="3" name="Content Placeholder 2">
            <a:extLst>
              <a:ext uri="{FF2B5EF4-FFF2-40B4-BE49-F238E27FC236}">
                <a16:creationId xmlns:a16="http://schemas.microsoft.com/office/drawing/2014/main" id="{16FE528F-BBE6-D9F9-23DD-EAAE9CD68A9E}"/>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43F88777-60F5-457D-04FC-EC74FBEB8A1E}"/>
              </a:ext>
            </a:extLst>
          </p:cNvPr>
          <p:cNvSpPr>
            <a:spLocks noGrp="1"/>
          </p:cNvSpPr>
          <p:nvPr>
            <p:ph type="dt" sz="half" idx="10"/>
          </p:nvPr>
        </p:nvSpPr>
        <p:spPr/>
        <p:txBody>
          <a:bodyPr/>
          <a:lstStyle/>
          <a:p>
            <a:fld id="{AECC3E18-D65A-4D77-B158-F2A3E1B2D42F}" type="datetimeFigureOut">
              <a:rPr lang="en-IN" smtClean="0"/>
              <a:t>19-03-2025</a:t>
            </a:fld>
            <a:endParaRPr lang="en-IN"/>
          </a:p>
        </p:txBody>
      </p:sp>
      <p:sp>
        <p:nvSpPr>
          <p:cNvPr id="5" name="Footer Placeholder 4">
            <a:extLst>
              <a:ext uri="{FF2B5EF4-FFF2-40B4-BE49-F238E27FC236}">
                <a16:creationId xmlns:a16="http://schemas.microsoft.com/office/drawing/2014/main" id="{542B8A1F-0336-AC0C-0623-87D8A730ADDF}"/>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E9F3AEE3-AE97-8597-4290-4D4D4D40B5BB}"/>
              </a:ext>
            </a:extLst>
          </p:cNvPr>
          <p:cNvSpPr>
            <a:spLocks noGrp="1"/>
          </p:cNvSpPr>
          <p:nvPr>
            <p:ph type="sldNum" sz="quarter" idx="12"/>
          </p:nvPr>
        </p:nvSpPr>
        <p:spPr/>
        <p:txBody>
          <a:bodyPr/>
          <a:lstStyle/>
          <a:p>
            <a:fld id="{242A2BD5-BD0F-47F6-B455-80C678CA21D3}" type="slidenum">
              <a:rPr lang="en-IN" smtClean="0"/>
              <a:t>‹#›</a:t>
            </a:fld>
            <a:endParaRPr lang="en-IN"/>
          </a:p>
        </p:txBody>
      </p:sp>
    </p:spTree>
    <p:extLst>
      <p:ext uri="{BB962C8B-B14F-4D97-AF65-F5344CB8AC3E}">
        <p14:creationId xmlns:p14="http://schemas.microsoft.com/office/powerpoint/2010/main" val="33844575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E6D237B-85CA-5974-BB8B-97777890FA57}"/>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IN"/>
          </a:p>
        </p:txBody>
      </p:sp>
      <p:sp>
        <p:nvSpPr>
          <p:cNvPr id="3" name="Text Placeholder 2">
            <a:extLst>
              <a:ext uri="{FF2B5EF4-FFF2-40B4-BE49-F238E27FC236}">
                <a16:creationId xmlns:a16="http://schemas.microsoft.com/office/drawing/2014/main" id="{A921CC6B-0A86-15E8-E420-5A5DA37788C1}"/>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7EF5BCAE-E5CB-C61F-0664-F1158181419B}"/>
              </a:ext>
            </a:extLst>
          </p:cNvPr>
          <p:cNvSpPr>
            <a:spLocks noGrp="1"/>
          </p:cNvSpPr>
          <p:nvPr>
            <p:ph type="dt" sz="half" idx="10"/>
          </p:nvPr>
        </p:nvSpPr>
        <p:spPr/>
        <p:txBody>
          <a:bodyPr/>
          <a:lstStyle/>
          <a:p>
            <a:fld id="{AECC3E18-D65A-4D77-B158-F2A3E1B2D42F}" type="datetimeFigureOut">
              <a:rPr lang="en-IN" smtClean="0"/>
              <a:t>19-03-2025</a:t>
            </a:fld>
            <a:endParaRPr lang="en-IN"/>
          </a:p>
        </p:txBody>
      </p:sp>
      <p:sp>
        <p:nvSpPr>
          <p:cNvPr id="5" name="Footer Placeholder 4">
            <a:extLst>
              <a:ext uri="{FF2B5EF4-FFF2-40B4-BE49-F238E27FC236}">
                <a16:creationId xmlns:a16="http://schemas.microsoft.com/office/drawing/2014/main" id="{5A7AEC50-1FD7-BFB9-723D-6501589E4154}"/>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C2AA9A55-43D7-38B5-D43B-05924F53CF24}"/>
              </a:ext>
            </a:extLst>
          </p:cNvPr>
          <p:cNvSpPr>
            <a:spLocks noGrp="1"/>
          </p:cNvSpPr>
          <p:nvPr>
            <p:ph type="sldNum" sz="quarter" idx="12"/>
          </p:nvPr>
        </p:nvSpPr>
        <p:spPr/>
        <p:txBody>
          <a:bodyPr/>
          <a:lstStyle/>
          <a:p>
            <a:fld id="{242A2BD5-BD0F-47F6-B455-80C678CA21D3}" type="slidenum">
              <a:rPr lang="en-IN" smtClean="0"/>
              <a:t>‹#›</a:t>
            </a:fld>
            <a:endParaRPr lang="en-IN"/>
          </a:p>
        </p:txBody>
      </p:sp>
    </p:spTree>
    <p:extLst>
      <p:ext uri="{BB962C8B-B14F-4D97-AF65-F5344CB8AC3E}">
        <p14:creationId xmlns:p14="http://schemas.microsoft.com/office/powerpoint/2010/main" val="224523442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51A5BF8-B67D-132D-6E73-76D53C94A827}"/>
              </a:ext>
            </a:extLst>
          </p:cNvPr>
          <p:cNvSpPr>
            <a:spLocks noGrp="1"/>
          </p:cNvSpPr>
          <p:nvPr>
            <p:ph type="title"/>
          </p:nvPr>
        </p:nvSpPr>
        <p:spPr/>
        <p:txBody>
          <a:bodyPr/>
          <a:lstStyle/>
          <a:p>
            <a:r>
              <a:rPr lang="en-US"/>
              <a:t>Click to edit Master title style</a:t>
            </a:r>
            <a:endParaRPr lang="en-IN"/>
          </a:p>
        </p:txBody>
      </p:sp>
      <p:sp>
        <p:nvSpPr>
          <p:cNvPr id="3" name="Content Placeholder 2">
            <a:extLst>
              <a:ext uri="{FF2B5EF4-FFF2-40B4-BE49-F238E27FC236}">
                <a16:creationId xmlns:a16="http://schemas.microsoft.com/office/drawing/2014/main" id="{8432219B-549B-4995-38F9-759076B398E8}"/>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Content Placeholder 3">
            <a:extLst>
              <a:ext uri="{FF2B5EF4-FFF2-40B4-BE49-F238E27FC236}">
                <a16:creationId xmlns:a16="http://schemas.microsoft.com/office/drawing/2014/main" id="{E086DC35-7C82-C802-B17F-3E80A7B05BEF}"/>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Date Placeholder 4">
            <a:extLst>
              <a:ext uri="{FF2B5EF4-FFF2-40B4-BE49-F238E27FC236}">
                <a16:creationId xmlns:a16="http://schemas.microsoft.com/office/drawing/2014/main" id="{C175E38A-9142-3138-68E6-A46E567EFA4A}"/>
              </a:ext>
            </a:extLst>
          </p:cNvPr>
          <p:cNvSpPr>
            <a:spLocks noGrp="1"/>
          </p:cNvSpPr>
          <p:nvPr>
            <p:ph type="dt" sz="half" idx="10"/>
          </p:nvPr>
        </p:nvSpPr>
        <p:spPr/>
        <p:txBody>
          <a:bodyPr/>
          <a:lstStyle/>
          <a:p>
            <a:fld id="{AECC3E18-D65A-4D77-B158-F2A3E1B2D42F}" type="datetimeFigureOut">
              <a:rPr lang="en-IN" smtClean="0"/>
              <a:t>19-03-2025</a:t>
            </a:fld>
            <a:endParaRPr lang="en-IN"/>
          </a:p>
        </p:txBody>
      </p:sp>
      <p:sp>
        <p:nvSpPr>
          <p:cNvPr id="6" name="Footer Placeholder 5">
            <a:extLst>
              <a:ext uri="{FF2B5EF4-FFF2-40B4-BE49-F238E27FC236}">
                <a16:creationId xmlns:a16="http://schemas.microsoft.com/office/drawing/2014/main" id="{E7D6FBB3-1DD9-CF26-86FE-BFBB2C1BC270}"/>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3C668AB8-E1C8-0ECC-302F-2C098E734749}"/>
              </a:ext>
            </a:extLst>
          </p:cNvPr>
          <p:cNvSpPr>
            <a:spLocks noGrp="1"/>
          </p:cNvSpPr>
          <p:nvPr>
            <p:ph type="sldNum" sz="quarter" idx="12"/>
          </p:nvPr>
        </p:nvSpPr>
        <p:spPr/>
        <p:txBody>
          <a:bodyPr/>
          <a:lstStyle/>
          <a:p>
            <a:fld id="{242A2BD5-BD0F-47F6-B455-80C678CA21D3}" type="slidenum">
              <a:rPr lang="en-IN" smtClean="0"/>
              <a:t>‹#›</a:t>
            </a:fld>
            <a:endParaRPr lang="en-IN"/>
          </a:p>
        </p:txBody>
      </p:sp>
    </p:spTree>
    <p:extLst>
      <p:ext uri="{BB962C8B-B14F-4D97-AF65-F5344CB8AC3E}">
        <p14:creationId xmlns:p14="http://schemas.microsoft.com/office/powerpoint/2010/main" val="33590518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AA06412-F434-955B-6FEE-0C064F22B65F}"/>
              </a:ext>
            </a:extLst>
          </p:cNvPr>
          <p:cNvSpPr>
            <a:spLocks noGrp="1"/>
          </p:cNvSpPr>
          <p:nvPr>
            <p:ph type="title"/>
          </p:nvPr>
        </p:nvSpPr>
        <p:spPr>
          <a:xfrm>
            <a:off x="839788" y="365125"/>
            <a:ext cx="10515600" cy="1325563"/>
          </a:xfrm>
        </p:spPr>
        <p:txBody>
          <a:bodyPr/>
          <a:lstStyle/>
          <a:p>
            <a:r>
              <a:rPr lang="en-US"/>
              <a:t>Click to edit Master title style</a:t>
            </a:r>
            <a:endParaRPr lang="en-IN"/>
          </a:p>
        </p:txBody>
      </p:sp>
      <p:sp>
        <p:nvSpPr>
          <p:cNvPr id="3" name="Text Placeholder 2">
            <a:extLst>
              <a:ext uri="{FF2B5EF4-FFF2-40B4-BE49-F238E27FC236}">
                <a16:creationId xmlns:a16="http://schemas.microsoft.com/office/drawing/2014/main" id="{B838847E-1C44-8FFA-315D-E861E1257CCF}"/>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4771B735-4CA5-A178-ECAC-255828532EE1}"/>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Text Placeholder 4">
            <a:extLst>
              <a:ext uri="{FF2B5EF4-FFF2-40B4-BE49-F238E27FC236}">
                <a16:creationId xmlns:a16="http://schemas.microsoft.com/office/drawing/2014/main" id="{5A674058-D02F-FA33-8C99-16294CFA0DF8}"/>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3F647185-5B69-021F-0749-52100CD41CFE}"/>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7" name="Date Placeholder 6">
            <a:extLst>
              <a:ext uri="{FF2B5EF4-FFF2-40B4-BE49-F238E27FC236}">
                <a16:creationId xmlns:a16="http://schemas.microsoft.com/office/drawing/2014/main" id="{4C58D750-DE48-2CB9-8B67-75FF975C9DD7}"/>
              </a:ext>
            </a:extLst>
          </p:cNvPr>
          <p:cNvSpPr>
            <a:spLocks noGrp="1"/>
          </p:cNvSpPr>
          <p:nvPr>
            <p:ph type="dt" sz="half" idx="10"/>
          </p:nvPr>
        </p:nvSpPr>
        <p:spPr/>
        <p:txBody>
          <a:bodyPr/>
          <a:lstStyle/>
          <a:p>
            <a:fld id="{AECC3E18-D65A-4D77-B158-F2A3E1B2D42F}" type="datetimeFigureOut">
              <a:rPr lang="en-IN" smtClean="0"/>
              <a:t>19-03-2025</a:t>
            </a:fld>
            <a:endParaRPr lang="en-IN"/>
          </a:p>
        </p:txBody>
      </p:sp>
      <p:sp>
        <p:nvSpPr>
          <p:cNvPr id="8" name="Footer Placeholder 7">
            <a:extLst>
              <a:ext uri="{FF2B5EF4-FFF2-40B4-BE49-F238E27FC236}">
                <a16:creationId xmlns:a16="http://schemas.microsoft.com/office/drawing/2014/main" id="{CA0062EB-EBFC-68E4-7C37-4B6418EC849E}"/>
              </a:ext>
            </a:extLst>
          </p:cNvPr>
          <p:cNvSpPr>
            <a:spLocks noGrp="1"/>
          </p:cNvSpPr>
          <p:nvPr>
            <p:ph type="ftr" sz="quarter" idx="11"/>
          </p:nvPr>
        </p:nvSpPr>
        <p:spPr/>
        <p:txBody>
          <a:bodyPr/>
          <a:lstStyle/>
          <a:p>
            <a:endParaRPr lang="en-IN"/>
          </a:p>
        </p:txBody>
      </p:sp>
      <p:sp>
        <p:nvSpPr>
          <p:cNvPr id="9" name="Slide Number Placeholder 8">
            <a:extLst>
              <a:ext uri="{FF2B5EF4-FFF2-40B4-BE49-F238E27FC236}">
                <a16:creationId xmlns:a16="http://schemas.microsoft.com/office/drawing/2014/main" id="{CA258F50-D981-111D-FB3B-EE1513AE53CC}"/>
              </a:ext>
            </a:extLst>
          </p:cNvPr>
          <p:cNvSpPr>
            <a:spLocks noGrp="1"/>
          </p:cNvSpPr>
          <p:nvPr>
            <p:ph type="sldNum" sz="quarter" idx="12"/>
          </p:nvPr>
        </p:nvSpPr>
        <p:spPr/>
        <p:txBody>
          <a:bodyPr/>
          <a:lstStyle/>
          <a:p>
            <a:fld id="{242A2BD5-BD0F-47F6-B455-80C678CA21D3}" type="slidenum">
              <a:rPr lang="en-IN" smtClean="0"/>
              <a:t>‹#›</a:t>
            </a:fld>
            <a:endParaRPr lang="en-IN"/>
          </a:p>
        </p:txBody>
      </p:sp>
    </p:spTree>
    <p:extLst>
      <p:ext uri="{BB962C8B-B14F-4D97-AF65-F5344CB8AC3E}">
        <p14:creationId xmlns:p14="http://schemas.microsoft.com/office/powerpoint/2010/main" val="254952783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CBBD15-1D6B-BF05-D6B4-5F99C79DA5E6}"/>
              </a:ext>
            </a:extLst>
          </p:cNvPr>
          <p:cNvSpPr>
            <a:spLocks noGrp="1"/>
          </p:cNvSpPr>
          <p:nvPr>
            <p:ph type="title"/>
          </p:nvPr>
        </p:nvSpPr>
        <p:spPr/>
        <p:txBody>
          <a:bodyPr/>
          <a:lstStyle/>
          <a:p>
            <a:r>
              <a:rPr lang="en-US"/>
              <a:t>Click to edit Master title style</a:t>
            </a:r>
            <a:endParaRPr lang="en-IN"/>
          </a:p>
        </p:txBody>
      </p:sp>
      <p:sp>
        <p:nvSpPr>
          <p:cNvPr id="3" name="Date Placeholder 2">
            <a:extLst>
              <a:ext uri="{FF2B5EF4-FFF2-40B4-BE49-F238E27FC236}">
                <a16:creationId xmlns:a16="http://schemas.microsoft.com/office/drawing/2014/main" id="{46C1BD26-E14C-D32F-FB50-2E11459F6851}"/>
              </a:ext>
            </a:extLst>
          </p:cNvPr>
          <p:cNvSpPr>
            <a:spLocks noGrp="1"/>
          </p:cNvSpPr>
          <p:nvPr>
            <p:ph type="dt" sz="half" idx="10"/>
          </p:nvPr>
        </p:nvSpPr>
        <p:spPr/>
        <p:txBody>
          <a:bodyPr/>
          <a:lstStyle/>
          <a:p>
            <a:fld id="{AECC3E18-D65A-4D77-B158-F2A3E1B2D42F}" type="datetimeFigureOut">
              <a:rPr lang="en-IN" smtClean="0"/>
              <a:t>19-03-2025</a:t>
            </a:fld>
            <a:endParaRPr lang="en-IN"/>
          </a:p>
        </p:txBody>
      </p:sp>
      <p:sp>
        <p:nvSpPr>
          <p:cNvPr id="4" name="Footer Placeholder 3">
            <a:extLst>
              <a:ext uri="{FF2B5EF4-FFF2-40B4-BE49-F238E27FC236}">
                <a16:creationId xmlns:a16="http://schemas.microsoft.com/office/drawing/2014/main" id="{79C25F2E-ECAD-DE20-B40C-05F19D01BB58}"/>
              </a:ext>
            </a:extLst>
          </p:cNvPr>
          <p:cNvSpPr>
            <a:spLocks noGrp="1"/>
          </p:cNvSpPr>
          <p:nvPr>
            <p:ph type="ftr" sz="quarter" idx="11"/>
          </p:nvPr>
        </p:nvSpPr>
        <p:spPr/>
        <p:txBody>
          <a:bodyPr/>
          <a:lstStyle/>
          <a:p>
            <a:endParaRPr lang="en-IN"/>
          </a:p>
        </p:txBody>
      </p:sp>
      <p:sp>
        <p:nvSpPr>
          <p:cNvPr id="5" name="Slide Number Placeholder 4">
            <a:extLst>
              <a:ext uri="{FF2B5EF4-FFF2-40B4-BE49-F238E27FC236}">
                <a16:creationId xmlns:a16="http://schemas.microsoft.com/office/drawing/2014/main" id="{8F475EFF-6675-0DA5-CF35-AD1CB68CA68D}"/>
              </a:ext>
            </a:extLst>
          </p:cNvPr>
          <p:cNvSpPr>
            <a:spLocks noGrp="1"/>
          </p:cNvSpPr>
          <p:nvPr>
            <p:ph type="sldNum" sz="quarter" idx="12"/>
          </p:nvPr>
        </p:nvSpPr>
        <p:spPr/>
        <p:txBody>
          <a:bodyPr/>
          <a:lstStyle/>
          <a:p>
            <a:fld id="{242A2BD5-BD0F-47F6-B455-80C678CA21D3}" type="slidenum">
              <a:rPr lang="en-IN" smtClean="0"/>
              <a:t>‹#›</a:t>
            </a:fld>
            <a:endParaRPr lang="en-IN"/>
          </a:p>
        </p:txBody>
      </p:sp>
    </p:spTree>
    <p:extLst>
      <p:ext uri="{BB962C8B-B14F-4D97-AF65-F5344CB8AC3E}">
        <p14:creationId xmlns:p14="http://schemas.microsoft.com/office/powerpoint/2010/main" val="78298957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8014D3C5-DB65-7DC5-B6CF-E1975907D714}"/>
              </a:ext>
            </a:extLst>
          </p:cNvPr>
          <p:cNvSpPr>
            <a:spLocks noGrp="1"/>
          </p:cNvSpPr>
          <p:nvPr>
            <p:ph type="dt" sz="half" idx="10"/>
          </p:nvPr>
        </p:nvSpPr>
        <p:spPr/>
        <p:txBody>
          <a:bodyPr/>
          <a:lstStyle/>
          <a:p>
            <a:fld id="{AECC3E18-D65A-4D77-B158-F2A3E1B2D42F}" type="datetimeFigureOut">
              <a:rPr lang="en-IN" smtClean="0"/>
              <a:t>19-03-2025</a:t>
            </a:fld>
            <a:endParaRPr lang="en-IN"/>
          </a:p>
        </p:txBody>
      </p:sp>
      <p:sp>
        <p:nvSpPr>
          <p:cNvPr id="3" name="Footer Placeholder 2">
            <a:extLst>
              <a:ext uri="{FF2B5EF4-FFF2-40B4-BE49-F238E27FC236}">
                <a16:creationId xmlns:a16="http://schemas.microsoft.com/office/drawing/2014/main" id="{0F670DCA-37BE-8A85-ADC8-A1BEFB57F00F}"/>
              </a:ext>
            </a:extLst>
          </p:cNvPr>
          <p:cNvSpPr>
            <a:spLocks noGrp="1"/>
          </p:cNvSpPr>
          <p:nvPr>
            <p:ph type="ftr" sz="quarter" idx="11"/>
          </p:nvPr>
        </p:nvSpPr>
        <p:spPr/>
        <p:txBody>
          <a:bodyPr/>
          <a:lstStyle/>
          <a:p>
            <a:endParaRPr lang="en-IN"/>
          </a:p>
        </p:txBody>
      </p:sp>
      <p:sp>
        <p:nvSpPr>
          <p:cNvPr id="4" name="Slide Number Placeholder 3">
            <a:extLst>
              <a:ext uri="{FF2B5EF4-FFF2-40B4-BE49-F238E27FC236}">
                <a16:creationId xmlns:a16="http://schemas.microsoft.com/office/drawing/2014/main" id="{9E020D27-AC21-5092-FDD3-BCF3E20EB0D2}"/>
              </a:ext>
            </a:extLst>
          </p:cNvPr>
          <p:cNvSpPr>
            <a:spLocks noGrp="1"/>
          </p:cNvSpPr>
          <p:nvPr>
            <p:ph type="sldNum" sz="quarter" idx="12"/>
          </p:nvPr>
        </p:nvSpPr>
        <p:spPr/>
        <p:txBody>
          <a:bodyPr/>
          <a:lstStyle/>
          <a:p>
            <a:fld id="{242A2BD5-BD0F-47F6-B455-80C678CA21D3}" type="slidenum">
              <a:rPr lang="en-IN" smtClean="0"/>
              <a:t>‹#›</a:t>
            </a:fld>
            <a:endParaRPr lang="en-IN"/>
          </a:p>
        </p:txBody>
      </p:sp>
    </p:spTree>
    <p:extLst>
      <p:ext uri="{BB962C8B-B14F-4D97-AF65-F5344CB8AC3E}">
        <p14:creationId xmlns:p14="http://schemas.microsoft.com/office/powerpoint/2010/main" val="384577482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7A30CE3-D18D-9C94-8344-F0234E7292D2}"/>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N"/>
          </a:p>
        </p:txBody>
      </p:sp>
      <p:sp>
        <p:nvSpPr>
          <p:cNvPr id="3" name="Content Placeholder 2">
            <a:extLst>
              <a:ext uri="{FF2B5EF4-FFF2-40B4-BE49-F238E27FC236}">
                <a16:creationId xmlns:a16="http://schemas.microsoft.com/office/drawing/2014/main" id="{F09707A5-5302-9E78-651B-D6786E582539}"/>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Text Placeholder 3">
            <a:extLst>
              <a:ext uri="{FF2B5EF4-FFF2-40B4-BE49-F238E27FC236}">
                <a16:creationId xmlns:a16="http://schemas.microsoft.com/office/drawing/2014/main" id="{36F4676D-03D2-1C47-14FB-64A02E2C57E0}"/>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0D0723FA-9A6E-48C0-1F57-96EE173C01BA}"/>
              </a:ext>
            </a:extLst>
          </p:cNvPr>
          <p:cNvSpPr>
            <a:spLocks noGrp="1"/>
          </p:cNvSpPr>
          <p:nvPr>
            <p:ph type="dt" sz="half" idx="10"/>
          </p:nvPr>
        </p:nvSpPr>
        <p:spPr/>
        <p:txBody>
          <a:bodyPr/>
          <a:lstStyle/>
          <a:p>
            <a:fld id="{AECC3E18-D65A-4D77-B158-F2A3E1B2D42F}" type="datetimeFigureOut">
              <a:rPr lang="en-IN" smtClean="0"/>
              <a:t>19-03-2025</a:t>
            </a:fld>
            <a:endParaRPr lang="en-IN"/>
          </a:p>
        </p:txBody>
      </p:sp>
      <p:sp>
        <p:nvSpPr>
          <p:cNvPr id="6" name="Footer Placeholder 5">
            <a:extLst>
              <a:ext uri="{FF2B5EF4-FFF2-40B4-BE49-F238E27FC236}">
                <a16:creationId xmlns:a16="http://schemas.microsoft.com/office/drawing/2014/main" id="{03F50023-7DA3-11B6-52D8-3F25F0115961}"/>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2722000F-20E6-1493-4072-D13E4B7474C7}"/>
              </a:ext>
            </a:extLst>
          </p:cNvPr>
          <p:cNvSpPr>
            <a:spLocks noGrp="1"/>
          </p:cNvSpPr>
          <p:nvPr>
            <p:ph type="sldNum" sz="quarter" idx="12"/>
          </p:nvPr>
        </p:nvSpPr>
        <p:spPr/>
        <p:txBody>
          <a:bodyPr/>
          <a:lstStyle/>
          <a:p>
            <a:fld id="{242A2BD5-BD0F-47F6-B455-80C678CA21D3}" type="slidenum">
              <a:rPr lang="en-IN" smtClean="0"/>
              <a:t>‹#›</a:t>
            </a:fld>
            <a:endParaRPr lang="en-IN"/>
          </a:p>
        </p:txBody>
      </p:sp>
    </p:spTree>
    <p:extLst>
      <p:ext uri="{BB962C8B-B14F-4D97-AF65-F5344CB8AC3E}">
        <p14:creationId xmlns:p14="http://schemas.microsoft.com/office/powerpoint/2010/main" val="173099606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403F555-554E-DDD9-DFB1-C99089A2890D}"/>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N"/>
          </a:p>
        </p:txBody>
      </p:sp>
      <p:sp>
        <p:nvSpPr>
          <p:cNvPr id="3" name="Picture Placeholder 2">
            <a:extLst>
              <a:ext uri="{FF2B5EF4-FFF2-40B4-BE49-F238E27FC236}">
                <a16:creationId xmlns:a16="http://schemas.microsoft.com/office/drawing/2014/main" id="{9ED51F19-CB14-CD84-FB82-A3BCF9792793}"/>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IN"/>
          </a:p>
        </p:txBody>
      </p:sp>
      <p:sp>
        <p:nvSpPr>
          <p:cNvPr id="4" name="Text Placeholder 3">
            <a:extLst>
              <a:ext uri="{FF2B5EF4-FFF2-40B4-BE49-F238E27FC236}">
                <a16:creationId xmlns:a16="http://schemas.microsoft.com/office/drawing/2014/main" id="{2B3E4D6A-91B5-6B2F-DE45-CF9412356156}"/>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F4ACC936-5717-F413-7F7C-75B2B0611204}"/>
              </a:ext>
            </a:extLst>
          </p:cNvPr>
          <p:cNvSpPr>
            <a:spLocks noGrp="1"/>
          </p:cNvSpPr>
          <p:nvPr>
            <p:ph type="dt" sz="half" idx="10"/>
          </p:nvPr>
        </p:nvSpPr>
        <p:spPr/>
        <p:txBody>
          <a:bodyPr/>
          <a:lstStyle/>
          <a:p>
            <a:fld id="{AECC3E18-D65A-4D77-B158-F2A3E1B2D42F}" type="datetimeFigureOut">
              <a:rPr lang="en-IN" smtClean="0"/>
              <a:t>19-03-2025</a:t>
            </a:fld>
            <a:endParaRPr lang="en-IN"/>
          </a:p>
        </p:txBody>
      </p:sp>
      <p:sp>
        <p:nvSpPr>
          <p:cNvPr id="6" name="Footer Placeholder 5">
            <a:extLst>
              <a:ext uri="{FF2B5EF4-FFF2-40B4-BE49-F238E27FC236}">
                <a16:creationId xmlns:a16="http://schemas.microsoft.com/office/drawing/2014/main" id="{CF433228-57EE-3B24-F9AF-DA0512B59AE3}"/>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A2DC5280-2035-9593-6888-7D0D273FBFE2}"/>
              </a:ext>
            </a:extLst>
          </p:cNvPr>
          <p:cNvSpPr>
            <a:spLocks noGrp="1"/>
          </p:cNvSpPr>
          <p:nvPr>
            <p:ph type="sldNum" sz="quarter" idx="12"/>
          </p:nvPr>
        </p:nvSpPr>
        <p:spPr/>
        <p:txBody>
          <a:bodyPr/>
          <a:lstStyle/>
          <a:p>
            <a:fld id="{242A2BD5-BD0F-47F6-B455-80C678CA21D3}" type="slidenum">
              <a:rPr lang="en-IN" smtClean="0"/>
              <a:t>‹#›</a:t>
            </a:fld>
            <a:endParaRPr lang="en-IN"/>
          </a:p>
        </p:txBody>
      </p:sp>
    </p:spTree>
    <p:extLst>
      <p:ext uri="{BB962C8B-B14F-4D97-AF65-F5344CB8AC3E}">
        <p14:creationId xmlns:p14="http://schemas.microsoft.com/office/powerpoint/2010/main" val="342163232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0361DC9-31AE-0352-A3E0-D8784775AFC1}"/>
              </a:ext>
            </a:extLst>
          </p:cNvPr>
          <p:cNvSpPr>
            <a:spLocks noGrp="1"/>
          </p:cNvSpPr>
          <p:nvPr>
            <p:ph type="title"/>
          </p:nvPr>
        </p:nvSpPr>
        <p:spPr/>
        <p:txBody>
          <a:bodyPr/>
          <a:lstStyle/>
          <a:p>
            <a:r>
              <a:rPr lang="en-US"/>
              <a:t>Click to edit Master title style</a:t>
            </a:r>
            <a:endParaRPr lang="en-IN"/>
          </a:p>
        </p:txBody>
      </p:sp>
      <p:sp>
        <p:nvSpPr>
          <p:cNvPr id="3" name="Vertical Text Placeholder 2">
            <a:extLst>
              <a:ext uri="{FF2B5EF4-FFF2-40B4-BE49-F238E27FC236}">
                <a16:creationId xmlns:a16="http://schemas.microsoft.com/office/drawing/2014/main" id="{365D290C-0655-D504-2A5C-ADBA2B88DB98}"/>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EEC3CCC5-B478-B8BC-E2FE-C01099A35AB5}"/>
              </a:ext>
            </a:extLst>
          </p:cNvPr>
          <p:cNvSpPr>
            <a:spLocks noGrp="1"/>
          </p:cNvSpPr>
          <p:nvPr>
            <p:ph type="dt" sz="half" idx="10"/>
          </p:nvPr>
        </p:nvSpPr>
        <p:spPr/>
        <p:txBody>
          <a:bodyPr/>
          <a:lstStyle/>
          <a:p>
            <a:fld id="{AECC3E18-D65A-4D77-B158-F2A3E1B2D42F}" type="datetimeFigureOut">
              <a:rPr lang="en-IN" smtClean="0"/>
              <a:t>19-03-2025</a:t>
            </a:fld>
            <a:endParaRPr lang="en-IN"/>
          </a:p>
        </p:txBody>
      </p:sp>
      <p:sp>
        <p:nvSpPr>
          <p:cNvPr id="5" name="Footer Placeholder 4">
            <a:extLst>
              <a:ext uri="{FF2B5EF4-FFF2-40B4-BE49-F238E27FC236}">
                <a16:creationId xmlns:a16="http://schemas.microsoft.com/office/drawing/2014/main" id="{B38F3A42-D243-528F-F9C9-D1D4069BCEA8}"/>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1E7111A7-0BCF-1BC1-9228-6A91FEA2DA5D}"/>
              </a:ext>
            </a:extLst>
          </p:cNvPr>
          <p:cNvSpPr>
            <a:spLocks noGrp="1"/>
          </p:cNvSpPr>
          <p:nvPr>
            <p:ph type="sldNum" sz="quarter" idx="12"/>
          </p:nvPr>
        </p:nvSpPr>
        <p:spPr/>
        <p:txBody>
          <a:bodyPr/>
          <a:lstStyle/>
          <a:p>
            <a:fld id="{242A2BD5-BD0F-47F6-B455-80C678CA21D3}" type="slidenum">
              <a:rPr lang="en-IN" smtClean="0"/>
              <a:t>‹#›</a:t>
            </a:fld>
            <a:endParaRPr lang="en-IN"/>
          </a:p>
        </p:txBody>
      </p:sp>
    </p:spTree>
    <p:extLst>
      <p:ext uri="{BB962C8B-B14F-4D97-AF65-F5344CB8AC3E}">
        <p14:creationId xmlns:p14="http://schemas.microsoft.com/office/powerpoint/2010/main" val="177820253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E5F9A3FF-1594-A0FA-97DF-FE4D94217621}"/>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IN"/>
          </a:p>
        </p:txBody>
      </p:sp>
      <p:sp>
        <p:nvSpPr>
          <p:cNvPr id="3" name="Vertical Text Placeholder 2">
            <a:extLst>
              <a:ext uri="{FF2B5EF4-FFF2-40B4-BE49-F238E27FC236}">
                <a16:creationId xmlns:a16="http://schemas.microsoft.com/office/drawing/2014/main" id="{4938BE03-53E1-2505-16B2-0E54A570EDDD}"/>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2EB33A5C-BEE7-1ECE-DDBB-9E22F3104801}"/>
              </a:ext>
            </a:extLst>
          </p:cNvPr>
          <p:cNvSpPr>
            <a:spLocks noGrp="1"/>
          </p:cNvSpPr>
          <p:nvPr>
            <p:ph type="dt" sz="half" idx="10"/>
          </p:nvPr>
        </p:nvSpPr>
        <p:spPr/>
        <p:txBody>
          <a:bodyPr/>
          <a:lstStyle/>
          <a:p>
            <a:fld id="{AECC3E18-D65A-4D77-B158-F2A3E1B2D42F}" type="datetimeFigureOut">
              <a:rPr lang="en-IN" smtClean="0"/>
              <a:t>19-03-2025</a:t>
            </a:fld>
            <a:endParaRPr lang="en-IN"/>
          </a:p>
        </p:txBody>
      </p:sp>
      <p:sp>
        <p:nvSpPr>
          <p:cNvPr id="5" name="Footer Placeholder 4">
            <a:extLst>
              <a:ext uri="{FF2B5EF4-FFF2-40B4-BE49-F238E27FC236}">
                <a16:creationId xmlns:a16="http://schemas.microsoft.com/office/drawing/2014/main" id="{50CBA499-5168-FD10-E597-20C115A3381B}"/>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097E3C3D-A202-880C-1408-F7A5BECB6BD5}"/>
              </a:ext>
            </a:extLst>
          </p:cNvPr>
          <p:cNvSpPr>
            <a:spLocks noGrp="1"/>
          </p:cNvSpPr>
          <p:nvPr>
            <p:ph type="sldNum" sz="quarter" idx="12"/>
          </p:nvPr>
        </p:nvSpPr>
        <p:spPr/>
        <p:txBody>
          <a:bodyPr/>
          <a:lstStyle/>
          <a:p>
            <a:fld id="{242A2BD5-BD0F-47F6-B455-80C678CA21D3}" type="slidenum">
              <a:rPr lang="en-IN" smtClean="0"/>
              <a:t>‹#›</a:t>
            </a:fld>
            <a:endParaRPr lang="en-IN"/>
          </a:p>
        </p:txBody>
      </p:sp>
    </p:spTree>
    <p:extLst>
      <p:ext uri="{BB962C8B-B14F-4D97-AF65-F5344CB8AC3E}">
        <p14:creationId xmlns:p14="http://schemas.microsoft.com/office/powerpoint/2010/main" val="318637608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4CCFFB01-B310-658F-B8D1-94AF5D55DD13}"/>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IN"/>
          </a:p>
        </p:txBody>
      </p:sp>
      <p:sp>
        <p:nvSpPr>
          <p:cNvPr id="3" name="Text Placeholder 2">
            <a:extLst>
              <a:ext uri="{FF2B5EF4-FFF2-40B4-BE49-F238E27FC236}">
                <a16:creationId xmlns:a16="http://schemas.microsoft.com/office/drawing/2014/main" id="{EE707500-6D88-5948-9763-AAF03EA0F69B}"/>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EE242EF1-E954-5067-25A8-45A4D3AD3015}"/>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AECC3E18-D65A-4D77-B158-F2A3E1B2D42F}" type="datetimeFigureOut">
              <a:rPr lang="en-IN" smtClean="0"/>
              <a:t>19-03-2025</a:t>
            </a:fld>
            <a:endParaRPr lang="en-IN"/>
          </a:p>
        </p:txBody>
      </p:sp>
      <p:sp>
        <p:nvSpPr>
          <p:cNvPr id="5" name="Footer Placeholder 4">
            <a:extLst>
              <a:ext uri="{FF2B5EF4-FFF2-40B4-BE49-F238E27FC236}">
                <a16:creationId xmlns:a16="http://schemas.microsoft.com/office/drawing/2014/main" id="{6F378DA8-B63B-26C2-4DF6-71CDB806BB3B}"/>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IN"/>
          </a:p>
        </p:txBody>
      </p:sp>
      <p:sp>
        <p:nvSpPr>
          <p:cNvPr id="6" name="Slide Number Placeholder 5">
            <a:extLst>
              <a:ext uri="{FF2B5EF4-FFF2-40B4-BE49-F238E27FC236}">
                <a16:creationId xmlns:a16="http://schemas.microsoft.com/office/drawing/2014/main" id="{1CB714D5-3822-EDC4-5B51-D29F42CD635F}"/>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242A2BD5-BD0F-47F6-B455-80C678CA21D3}" type="slidenum">
              <a:rPr lang="en-IN" smtClean="0"/>
              <a:t>‹#›</a:t>
            </a:fld>
            <a:endParaRPr lang="en-IN"/>
          </a:p>
        </p:txBody>
      </p:sp>
    </p:spTree>
    <p:extLst>
      <p:ext uri="{BB962C8B-B14F-4D97-AF65-F5344CB8AC3E}">
        <p14:creationId xmlns:p14="http://schemas.microsoft.com/office/powerpoint/2010/main" val="193321178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3" Type="http://schemas.openxmlformats.org/officeDocument/2006/relationships/hyperlink" Target="https://github.com/lokesh-venkatesh/mitoevo/blob/main/docs/translocation_mechanisms/all_known_translocation_mechanisms.md" TargetMode="External"/><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E7F356F-F5E7-1816-B41C-1E8C0E62840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255DB96-CD0F-48DD-006C-8A0ABF3B42DF}"/>
              </a:ext>
            </a:extLst>
          </p:cNvPr>
          <p:cNvSpPr>
            <a:spLocks noGrp="1"/>
          </p:cNvSpPr>
          <p:nvPr>
            <p:ph type="ctrTitle"/>
          </p:nvPr>
        </p:nvSpPr>
        <p:spPr>
          <a:xfrm>
            <a:off x="480204" y="1116612"/>
            <a:ext cx="11231592" cy="2387600"/>
          </a:xfrm>
        </p:spPr>
        <p:txBody>
          <a:bodyPr>
            <a:normAutofit/>
          </a:bodyPr>
          <a:lstStyle/>
          <a:p>
            <a:r>
              <a:rPr lang="en-US" sz="5400" b="1" i="0" u="none" strike="noStrike" cap="none" dirty="0">
                <a:solidFill>
                  <a:srgbClr val="2020DC"/>
                </a:solidFill>
                <a:latin typeface="Arial"/>
                <a:ea typeface="Arial"/>
                <a:cs typeface="Arial"/>
                <a:sym typeface="Arial"/>
              </a:rPr>
              <a:t>Looking for translocation signals across mitogenomes</a:t>
            </a:r>
            <a:endParaRPr lang="en-IN" sz="5400" dirty="0"/>
          </a:p>
        </p:txBody>
      </p:sp>
      <p:sp>
        <p:nvSpPr>
          <p:cNvPr id="3" name="Subtitle 2">
            <a:extLst>
              <a:ext uri="{FF2B5EF4-FFF2-40B4-BE49-F238E27FC236}">
                <a16:creationId xmlns:a16="http://schemas.microsoft.com/office/drawing/2014/main" id="{A7F2722B-D40E-7952-AFCF-BD480B4DCCF2}"/>
              </a:ext>
            </a:extLst>
          </p:cNvPr>
          <p:cNvSpPr>
            <a:spLocks noGrp="1"/>
          </p:cNvSpPr>
          <p:nvPr>
            <p:ph type="subTitle" idx="1"/>
          </p:nvPr>
        </p:nvSpPr>
        <p:spPr/>
        <p:txBody>
          <a:bodyPr>
            <a:normAutofit/>
          </a:bodyPr>
          <a:lstStyle/>
          <a:p>
            <a:pPr marL="372239" marR="0" lvl="0" indent="0" algn="ctr" rtl="0">
              <a:lnSpc>
                <a:spcPct val="100000"/>
              </a:lnSpc>
              <a:spcBef>
                <a:spcPts val="0"/>
              </a:spcBef>
              <a:spcAft>
                <a:spcPts val="0"/>
              </a:spcAft>
              <a:buClr>
                <a:srgbClr val="000000"/>
              </a:buClr>
              <a:buSzPts val="3200"/>
              <a:buFont typeface="Arial"/>
              <a:buNone/>
            </a:pPr>
            <a:endParaRPr lang="en-US" sz="1800" b="1" dirty="0"/>
          </a:p>
          <a:p>
            <a:pPr marL="372239" marR="0" lvl="0" indent="0" algn="ctr" rtl="0">
              <a:lnSpc>
                <a:spcPct val="100000"/>
              </a:lnSpc>
              <a:spcBef>
                <a:spcPts val="0"/>
              </a:spcBef>
              <a:spcAft>
                <a:spcPts val="0"/>
              </a:spcAft>
              <a:buClr>
                <a:srgbClr val="000000"/>
              </a:buClr>
              <a:buSzPts val="3200"/>
              <a:buFont typeface="Arial"/>
              <a:buNone/>
            </a:pPr>
            <a:r>
              <a:rPr lang="en-US" sz="1800" b="1" i="0" u="none" strike="noStrike" cap="none" dirty="0">
                <a:solidFill>
                  <a:srgbClr val="000000"/>
                </a:solidFill>
                <a:latin typeface="Arial"/>
                <a:ea typeface="Arial"/>
                <a:cs typeface="Arial"/>
                <a:sym typeface="Arial"/>
              </a:rPr>
              <a:t>Lokesh Venkatesh</a:t>
            </a:r>
          </a:p>
          <a:p>
            <a:pPr marL="372240" marR="0" lvl="0" indent="0" algn="ctr" rtl="0">
              <a:lnSpc>
                <a:spcPct val="100000"/>
              </a:lnSpc>
              <a:spcBef>
                <a:spcPts val="791"/>
              </a:spcBef>
              <a:spcAft>
                <a:spcPts val="0"/>
              </a:spcAft>
              <a:buClr>
                <a:srgbClr val="000000"/>
              </a:buClr>
              <a:buSzPts val="3200"/>
              <a:buFont typeface="Arial"/>
              <a:buNone/>
            </a:pPr>
            <a:r>
              <a:rPr lang="en-US" sz="1800" b="1" dirty="0">
                <a:latin typeface="Arial" panose="020B0604020202020204" pitchFamily="34" charset="0"/>
                <a:cs typeface="Arial" panose="020B0604020202020204" pitchFamily="34" charset="0"/>
              </a:rPr>
              <a:t>Lab meeting: 19-03-25</a:t>
            </a:r>
          </a:p>
        </p:txBody>
      </p:sp>
    </p:spTree>
    <p:extLst>
      <p:ext uri="{BB962C8B-B14F-4D97-AF65-F5344CB8AC3E}">
        <p14:creationId xmlns:p14="http://schemas.microsoft.com/office/powerpoint/2010/main" val="288409970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88"/>
        <p:cNvGrpSpPr/>
        <p:nvPr/>
      </p:nvGrpSpPr>
      <p:grpSpPr>
        <a:xfrm>
          <a:off x="0" y="0"/>
          <a:ext cx="0" cy="0"/>
          <a:chOff x="0" y="0"/>
          <a:chExt cx="0" cy="0"/>
        </a:xfrm>
      </p:grpSpPr>
      <p:sp>
        <p:nvSpPr>
          <p:cNvPr id="89" name="Google Shape;89;g2009b74a80d_0_138"/>
          <p:cNvSpPr/>
          <p:nvPr/>
        </p:nvSpPr>
        <p:spPr>
          <a:xfrm>
            <a:off x="650" y="479360"/>
            <a:ext cx="12179286" cy="438"/>
          </a:xfrm>
          <a:custGeom>
            <a:avLst/>
            <a:gdLst/>
            <a:ahLst/>
            <a:cxnLst/>
            <a:rect l="l" t="t" r="r" b="b"/>
            <a:pathLst>
              <a:path w="10070465" h="1904" extrusionOk="0">
                <a:moveTo>
                  <a:pt x="0" y="0"/>
                </a:moveTo>
                <a:lnTo>
                  <a:pt x="10070084" y="1524"/>
                </a:lnTo>
              </a:path>
            </a:pathLst>
          </a:custGeom>
          <a:noFill/>
          <a:ln w="9525" cap="flat" cmpd="sng">
            <a:solidFill>
              <a:srgbClr val="000000"/>
            </a:solidFill>
            <a:prstDash val="solid"/>
            <a:round/>
            <a:headEnd type="none" w="sm" len="sm"/>
            <a:tailEnd type="none" w="sm" len="sm"/>
          </a:ln>
        </p:spPr>
      </p:sp>
      <p:sp>
        <p:nvSpPr>
          <p:cNvPr id="90" name="Google Shape;90;g2009b74a80d_0_138"/>
          <p:cNvSpPr/>
          <p:nvPr/>
        </p:nvSpPr>
        <p:spPr>
          <a:xfrm>
            <a:off x="426892" y="86207"/>
            <a:ext cx="1576099" cy="306947"/>
          </a:xfrm>
          <a:prstGeom prst="rect">
            <a:avLst/>
          </a:prstGeom>
          <a:noFill/>
          <a:ln>
            <a:noFill/>
          </a:ln>
        </p:spPr>
        <p:txBody>
          <a:bodyPr spcFirstLastPara="1" wrap="square" lIns="0" tIns="14785" rIns="0" bIns="0" anchor="t" anchorCtr="0">
            <a:noAutofit/>
          </a:bodyPr>
          <a:lstStyle/>
          <a:p>
            <a:pPr marL="15237">
              <a:buClr>
                <a:srgbClr val="000000"/>
              </a:buClr>
              <a:buSzPts val="1600"/>
            </a:pPr>
            <a:r>
              <a:rPr lang="en-IN" sz="1935" b="1" i="1" dirty="0">
                <a:solidFill>
                  <a:srgbClr val="CCCCCC"/>
                </a:solidFill>
                <a:latin typeface="Arial"/>
                <a:ea typeface="Arial"/>
                <a:cs typeface="Arial"/>
                <a:sym typeface="Arial"/>
              </a:rPr>
              <a:t>Introduction</a:t>
            </a:r>
            <a:endParaRPr sz="1935" dirty="0">
              <a:solidFill>
                <a:srgbClr val="000000"/>
              </a:solidFill>
              <a:latin typeface="Arial"/>
              <a:ea typeface="Arial"/>
              <a:cs typeface="Arial"/>
              <a:sym typeface="Arial"/>
            </a:endParaRPr>
          </a:p>
        </p:txBody>
      </p:sp>
      <p:sp>
        <p:nvSpPr>
          <p:cNvPr id="91" name="Google Shape;91;g2009b74a80d_0_138"/>
          <p:cNvSpPr/>
          <p:nvPr/>
        </p:nvSpPr>
        <p:spPr>
          <a:xfrm>
            <a:off x="5224850" y="87077"/>
            <a:ext cx="1705263" cy="306947"/>
          </a:xfrm>
          <a:prstGeom prst="rect">
            <a:avLst/>
          </a:prstGeom>
          <a:noFill/>
          <a:ln>
            <a:noFill/>
          </a:ln>
        </p:spPr>
        <p:txBody>
          <a:bodyPr spcFirstLastPara="1" wrap="square" lIns="0" tIns="14785" rIns="0" bIns="0" anchor="t" anchorCtr="0">
            <a:noAutofit/>
          </a:bodyPr>
          <a:lstStyle/>
          <a:p>
            <a:pPr marL="15237">
              <a:buClr>
                <a:srgbClr val="000000"/>
              </a:buClr>
              <a:buSzPts val="1600"/>
            </a:pPr>
            <a:r>
              <a:rPr lang="en-IN" sz="1935" b="1" i="1" dirty="0">
                <a:solidFill>
                  <a:srgbClr val="CCCCCC"/>
                </a:solidFill>
                <a:latin typeface="Arial"/>
                <a:ea typeface="Arial"/>
                <a:cs typeface="Arial"/>
                <a:sym typeface="Arial"/>
              </a:rPr>
              <a:t>Methodology</a:t>
            </a:r>
            <a:endParaRPr sz="1935" dirty="0">
              <a:solidFill>
                <a:srgbClr val="000000"/>
              </a:solidFill>
              <a:latin typeface="Arial"/>
              <a:ea typeface="Arial"/>
              <a:cs typeface="Arial"/>
              <a:sym typeface="Arial"/>
            </a:endParaRPr>
          </a:p>
        </p:txBody>
      </p:sp>
      <p:sp>
        <p:nvSpPr>
          <p:cNvPr id="92" name="Google Shape;92;g2009b74a80d_0_138"/>
          <p:cNvSpPr/>
          <p:nvPr/>
        </p:nvSpPr>
        <p:spPr>
          <a:xfrm>
            <a:off x="2699609" y="87077"/>
            <a:ext cx="1739368" cy="306947"/>
          </a:xfrm>
          <a:prstGeom prst="rect">
            <a:avLst/>
          </a:prstGeom>
          <a:noFill/>
          <a:ln>
            <a:noFill/>
          </a:ln>
        </p:spPr>
        <p:txBody>
          <a:bodyPr spcFirstLastPara="1" wrap="square" lIns="0" tIns="14785" rIns="0" bIns="0" anchor="t" anchorCtr="0">
            <a:noAutofit/>
          </a:bodyPr>
          <a:lstStyle/>
          <a:p>
            <a:pPr marL="15237">
              <a:buClr>
                <a:srgbClr val="000000"/>
              </a:buClr>
              <a:buSzPts val="1600"/>
            </a:pPr>
            <a:r>
              <a:rPr lang="en-IN" sz="1935" b="1" i="1" dirty="0">
                <a:solidFill>
                  <a:srgbClr val="666666"/>
                </a:solidFill>
                <a:latin typeface="Arial"/>
                <a:ea typeface="Arial"/>
                <a:cs typeface="Arial"/>
                <a:sym typeface="Arial"/>
              </a:rPr>
              <a:t>Specific  Aims</a:t>
            </a:r>
            <a:endParaRPr sz="1935" dirty="0">
              <a:solidFill>
                <a:srgbClr val="000000"/>
              </a:solidFill>
              <a:latin typeface="Arial"/>
              <a:ea typeface="Arial"/>
              <a:cs typeface="Arial"/>
              <a:sym typeface="Arial"/>
            </a:endParaRPr>
          </a:p>
        </p:txBody>
      </p:sp>
      <p:sp>
        <p:nvSpPr>
          <p:cNvPr id="93" name="Google Shape;93;g2009b74a80d_0_138"/>
          <p:cNvSpPr/>
          <p:nvPr/>
        </p:nvSpPr>
        <p:spPr>
          <a:xfrm>
            <a:off x="8132360" y="87077"/>
            <a:ext cx="1531109" cy="306947"/>
          </a:xfrm>
          <a:prstGeom prst="rect">
            <a:avLst/>
          </a:prstGeom>
          <a:noFill/>
          <a:ln>
            <a:noFill/>
          </a:ln>
        </p:spPr>
        <p:txBody>
          <a:bodyPr spcFirstLastPara="1" wrap="square" lIns="0" tIns="14785" rIns="0" bIns="0" anchor="t" anchorCtr="0">
            <a:noAutofit/>
          </a:bodyPr>
          <a:lstStyle/>
          <a:p>
            <a:pPr marL="15237">
              <a:buClr>
                <a:srgbClr val="000000"/>
              </a:buClr>
              <a:buSzPts val="1600"/>
            </a:pPr>
            <a:r>
              <a:rPr lang="en-IN" sz="1935" b="1" i="1" dirty="0">
                <a:solidFill>
                  <a:srgbClr val="CCCCCC"/>
                </a:solidFill>
                <a:latin typeface="Arial"/>
                <a:ea typeface="Arial"/>
                <a:cs typeface="Arial"/>
                <a:sym typeface="Arial"/>
              </a:rPr>
              <a:t>Results</a:t>
            </a:r>
            <a:endParaRPr sz="1935" dirty="0">
              <a:solidFill>
                <a:srgbClr val="000000"/>
              </a:solidFill>
              <a:latin typeface="Arial"/>
              <a:ea typeface="Arial"/>
              <a:cs typeface="Arial"/>
              <a:sym typeface="Arial"/>
            </a:endParaRPr>
          </a:p>
        </p:txBody>
      </p:sp>
      <p:sp>
        <p:nvSpPr>
          <p:cNvPr id="94" name="Google Shape;94;g2009b74a80d_0_138"/>
          <p:cNvSpPr/>
          <p:nvPr/>
        </p:nvSpPr>
        <p:spPr>
          <a:xfrm>
            <a:off x="10275331" y="87077"/>
            <a:ext cx="1531109" cy="306947"/>
          </a:xfrm>
          <a:prstGeom prst="rect">
            <a:avLst/>
          </a:prstGeom>
          <a:noFill/>
          <a:ln>
            <a:noFill/>
          </a:ln>
        </p:spPr>
        <p:txBody>
          <a:bodyPr spcFirstLastPara="1" wrap="square" lIns="0" tIns="14785" rIns="0" bIns="0" anchor="t" anchorCtr="0">
            <a:noAutofit/>
          </a:bodyPr>
          <a:lstStyle/>
          <a:p>
            <a:pPr marL="15237">
              <a:buClr>
                <a:srgbClr val="000000"/>
              </a:buClr>
              <a:buSzPts val="1600"/>
            </a:pPr>
            <a:r>
              <a:rPr lang="en-IN" sz="1935" b="1" i="1">
                <a:solidFill>
                  <a:srgbClr val="CCCCCC"/>
                </a:solidFill>
                <a:latin typeface="Arial"/>
                <a:ea typeface="Arial"/>
                <a:cs typeface="Arial"/>
                <a:sym typeface="Arial"/>
              </a:rPr>
              <a:t>Future Work</a:t>
            </a:r>
            <a:endParaRPr sz="1935">
              <a:solidFill>
                <a:srgbClr val="000000"/>
              </a:solidFill>
              <a:latin typeface="Arial"/>
              <a:ea typeface="Arial"/>
              <a:cs typeface="Arial"/>
              <a:sym typeface="Arial"/>
            </a:endParaRPr>
          </a:p>
        </p:txBody>
      </p:sp>
      <p:sp>
        <p:nvSpPr>
          <p:cNvPr id="95" name="Google Shape;95;g2009b74a80d_0_138"/>
          <p:cNvSpPr/>
          <p:nvPr/>
        </p:nvSpPr>
        <p:spPr>
          <a:xfrm>
            <a:off x="0" y="629409"/>
            <a:ext cx="12192000" cy="674486"/>
          </a:xfrm>
          <a:prstGeom prst="rect">
            <a:avLst/>
          </a:prstGeom>
          <a:noFill/>
          <a:ln>
            <a:noFill/>
          </a:ln>
        </p:spPr>
        <p:txBody>
          <a:bodyPr spcFirstLastPara="1" wrap="square" lIns="0" tIns="14785" rIns="0" bIns="0" anchor="ctr" anchorCtr="0">
            <a:noAutofit/>
          </a:bodyPr>
          <a:lstStyle/>
          <a:p>
            <a:pPr marL="15237" algn="ctr">
              <a:buClr>
                <a:srgbClr val="000000"/>
              </a:buClr>
              <a:buSzPts val="2800"/>
            </a:pPr>
            <a:r>
              <a:rPr lang="en-IN" sz="3200" b="1" dirty="0">
                <a:solidFill>
                  <a:srgbClr val="1F2ED4"/>
                </a:solidFill>
                <a:latin typeface="Arial"/>
                <a:ea typeface="Arial"/>
                <a:cs typeface="Arial"/>
                <a:sym typeface="Arial"/>
              </a:rPr>
              <a:t>Mitochondrial Genomes</a:t>
            </a:r>
            <a:endParaRPr sz="3200" dirty="0">
              <a:solidFill>
                <a:srgbClr val="000000"/>
              </a:solidFill>
              <a:latin typeface="Arial"/>
              <a:ea typeface="Arial"/>
              <a:cs typeface="Arial"/>
              <a:sym typeface="Arial"/>
            </a:endParaRPr>
          </a:p>
        </p:txBody>
      </p:sp>
      <p:sp>
        <p:nvSpPr>
          <p:cNvPr id="96" name="Google Shape;96;g2009b74a80d_0_138"/>
          <p:cNvSpPr/>
          <p:nvPr/>
        </p:nvSpPr>
        <p:spPr>
          <a:xfrm>
            <a:off x="11493542" y="6356641"/>
            <a:ext cx="436112" cy="350486"/>
          </a:xfrm>
          <a:prstGeom prst="rect">
            <a:avLst/>
          </a:prstGeom>
          <a:noFill/>
          <a:ln>
            <a:noFill/>
          </a:ln>
        </p:spPr>
        <p:txBody>
          <a:bodyPr spcFirstLastPara="1" wrap="square" lIns="108847" tIns="54423" rIns="108847" bIns="54423" anchor="t" anchorCtr="0">
            <a:noAutofit/>
          </a:bodyPr>
          <a:lstStyle/>
          <a:p>
            <a:pPr>
              <a:buClr>
                <a:srgbClr val="000000"/>
              </a:buClr>
              <a:buSzPts val="1400"/>
            </a:pPr>
            <a:endParaRPr sz="1693">
              <a:solidFill>
                <a:srgbClr val="000000"/>
              </a:solidFill>
              <a:latin typeface="Arial"/>
              <a:ea typeface="Arial"/>
              <a:cs typeface="Arial"/>
              <a:sym typeface="Arial"/>
            </a:endParaRPr>
          </a:p>
        </p:txBody>
      </p:sp>
      <p:sp>
        <p:nvSpPr>
          <p:cNvPr id="97" name="Google Shape;97;g2009b74a80d_0_138"/>
          <p:cNvSpPr txBox="1">
            <a:spLocks noGrp="1"/>
          </p:cNvSpPr>
          <p:nvPr>
            <p:ph type="sldNum" idx="12"/>
          </p:nvPr>
        </p:nvSpPr>
        <p:spPr>
          <a:xfrm>
            <a:off x="11408860" y="6333135"/>
            <a:ext cx="731449" cy="525003"/>
          </a:xfrm>
          <a:prstGeom prst="rect">
            <a:avLst/>
          </a:prstGeom>
          <a:noFill/>
          <a:ln>
            <a:noFill/>
          </a:ln>
        </p:spPr>
        <p:txBody>
          <a:bodyPr spcFirstLastPara="1" vert="horz" wrap="square" lIns="110570" tIns="110570" rIns="110570" bIns="110570" rtlCol="0" anchor="t" anchorCtr="0">
            <a:noAutofit/>
          </a:bodyPr>
          <a:lstStyle/>
          <a:p>
            <a:pPr>
              <a:buSzPts val="1300"/>
            </a:pPr>
            <a:fld id="{00000000-1234-1234-1234-123412341234}" type="slidenum">
              <a:rPr lang="en-IN" smtClean="0"/>
              <a:pPr>
                <a:buSzPts val="1300"/>
              </a:pPr>
              <a:t>2</a:t>
            </a:fld>
            <a:r>
              <a:rPr lang="en-IN" dirty="0"/>
              <a:t>/9</a:t>
            </a:r>
            <a:endParaRPr dirty="0"/>
          </a:p>
        </p:txBody>
      </p:sp>
      <p:sp>
        <p:nvSpPr>
          <p:cNvPr id="3" name="TextBox 2">
            <a:extLst>
              <a:ext uri="{FF2B5EF4-FFF2-40B4-BE49-F238E27FC236}">
                <a16:creationId xmlns:a16="http://schemas.microsoft.com/office/drawing/2014/main" id="{5FBF39F9-F3D1-7E7D-EDB1-F8AAA67BA091}"/>
              </a:ext>
            </a:extLst>
          </p:cNvPr>
          <p:cNvSpPr txBox="1"/>
          <p:nvPr/>
        </p:nvSpPr>
        <p:spPr>
          <a:xfrm>
            <a:off x="273050" y="1720850"/>
            <a:ext cx="11656604" cy="4202561"/>
          </a:xfrm>
          <a:prstGeom prst="rect">
            <a:avLst/>
          </a:prstGeom>
          <a:noFill/>
        </p:spPr>
        <p:txBody>
          <a:bodyPr wrap="square" rtlCol="0">
            <a:spAutoFit/>
          </a:bodyPr>
          <a:lstStyle/>
          <a:p>
            <a:pPr marL="285750" indent="-285750">
              <a:lnSpc>
                <a:spcPct val="150000"/>
              </a:lnSpc>
              <a:buFontTx/>
              <a:buChar char="-"/>
            </a:pPr>
            <a:r>
              <a:rPr lang="en-IN" dirty="0">
                <a:latin typeface="Arial"/>
                <a:cs typeface="Arial"/>
                <a:sym typeface="Arial"/>
              </a:rPr>
              <a:t>Interested in looking at a ‘signal’ that is common across translocation events in the evolution of the mitochondrial genome, whether from a </a:t>
            </a:r>
            <a:r>
              <a:rPr lang="en-IN" i="1" dirty="0">
                <a:latin typeface="Arial"/>
                <a:cs typeface="Arial"/>
                <a:sym typeface="Arial"/>
              </a:rPr>
              <a:t>molecular</a:t>
            </a:r>
            <a:r>
              <a:rPr lang="en-IN" dirty="0">
                <a:latin typeface="Arial"/>
                <a:cs typeface="Arial"/>
                <a:sym typeface="Arial"/>
              </a:rPr>
              <a:t> or a </a:t>
            </a:r>
            <a:r>
              <a:rPr lang="en-IN" i="1" dirty="0">
                <a:latin typeface="Arial"/>
                <a:cs typeface="Arial"/>
                <a:sym typeface="Arial"/>
              </a:rPr>
              <a:t>biophysical </a:t>
            </a:r>
            <a:r>
              <a:rPr lang="en-IN" dirty="0">
                <a:latin typeface="Arial"/>
                <a:cs typeface="Arial"/>
                <a:sym typeface="Arial"/>
              </a:rPr>
              <a:t>basis</a:t>
            </a:r>
          </a:p>
          <a:p>
            <a:pPr marL="285750" indent="-285750">
              <a:lnSpc>
                <a:spcPct val="150000"/>
              </a:lnSpc>
              <a:buFontTx/>
              <a:buChar char="-"/>
            </a:pPr>
            <a:r>
              <a:rPr lang="en-IN" dirty="0">
                <a:latin typeface="Arial"/>
                <a:cs typeface="Arial"/>
                <a:sym typeface="Arial"/>
              </a:rPr>
              <a:t>We are only considering intra-mitogenome translocations and not mitochondria-nucleus translocations in this workflow</a:t>
            </a:r>
          </a:p>
          <a:p>
            <a:pPr marL="285750" indent="-285750">
              <a:lnSpc>
                <a:spcPct val="150000"/>
              </a:lnSpc>
              <a:buFontTx/>
              <a:buChar char="-"/>
            </a:pPr>
            <a:r>
              <a:rPr lang="en-IN" dirty="0">
                <a:latin typeface="Arial"/>
                <a:cs typeface="Arial"/>
                <a:sym typeface="Arial"/>
              </a:rPr>
              <a:t>Divided all mitogenomes available on the NCBI database into three broad datasets: fungi-protists, plants, and animals</a:t>
            </a:r>
          </a:p>
          <a:p>
            <a:pPr marL="285750" indent="-285750">
              <a:lnSpc>
                <a:spcPct val="150000"/>
              </a:lnSpc>
              <a:buFontTx/>
              <a:buChar char="-"/>
            </a:pPr>
            <a:r>
              <a:rPr lang="en-IN" dirty="0">
                <a:latin typeface="Arial"/>
                <a:cs typeface="Arial"/>
                <a:sym typeface="Arial"/>
              </a:rPr>
              <a:t>Using only the animal dataset to refine the workflow for two reasons:</a:t>
            </a:r>
          </a:p>
          <a:p>
            <a:pPr marL="800100" lvl="1" indent="-342900">
              <a:lnSpc>
                <a:spcPct val="150000"/>
              </a:lnSpc>
              <a:buAutoNum type="arabicPeriod"/>
            </a:pPr>
            <a:r>
              <a:rPr lang="en-IN" dirty="0">
                <a:latin typeface="Arial"/>
                <a:cs typeface="Arial"/>
                <a:sym typeface="Arial"/>
              </a:rPr>
              <a:t>Animal mitochondrial genomes have nearly identical gene content, and is very small in number (~37)</a:t>
            </a:r>
          </a:p>
          <a:p>
            <a:pPr marL="800100" lvl="1" indent="-342900">
              <a:lnSpc>
                <a:spcPct val="150000"/>
              </a:lnSpc>
              <a:buAutoNum type="arabicPeriod"/>
            </a:pPr>
            <a:r>
              <a:rPr lang="en-IN" dirty="0">
                <a:latin typeface="Arial"/>
                <a:cs typeface="Arial"/>
                <a:sym typeface="Arial"/>
              </a:rPr>
              <a:t>Except for a small region of regulatory DNA around the TSS, there are little to no non-coding regions in between the genes</a:t>
            </a:r>
            <a:endParaRPr lang="en-IN"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88">
          <a:extLst>
            <a:ext uri="{FF2B5EF4-FFF2-40B4-BE49-F238E27FC236}">
              <a16:creationId xmlns:a16="http://schemas.microsoft.com/office/drawing/2014/main" id="{F148B3B7-167C-B89F-1609-8FEA19045E42}"/>
            </a:ext>
          </a:extLst>
        </p:cNvPr>
        <p:cNvGrpSpPr/>
        <p:nvPr/>
      </p:nvGrpSpPr>
      <p:grpSpPr>
        <a:xfrm>
          <a:off x="0" y="0"/>
          <a:ext cx="0" cy="0"/>
          <a:chOff x="0" y="0"/>
          <a:chExt cx="0" cy="0"/>
        </a:xfrm>
      </p:grpSpPr>
      <p:sp>
        <p:nvSpPr>
          <p:cNvPr id="89" name="Google Shape;89;g2009b74a80d_0_138">
            <a:extLst>
              <a:ext uri="{FF2B5EF4-FFF2-40B4-BE49-F238E27FC236}">
                <a16:creationId xmlns:a16="http://schemas.microsoft.com/office/drawing/2014/main" id="{0366678F-FC36-219A-9A60-3E1776B705FF}"/>
              </a:ext>
            </a:extLst>
          </p:cNvPr>
          <p:cNvSpPr/>
          <p:nvPr/>
        </p:nvSpPr>
        <p:spPr>
          <a:xfrm>
            <a:off x="650" y="479360"/>
            <a:ext cx="12179286" cy="438"/>
          </a:xfrm>
          <a:custGeom>
            <a:avLst/>
            <a:gdLst/>
            <a:ahLst/>
            <a:cxnLst/>
            <a:rect l="l" t="t" r="r" b="b"/>
            <a:pathLst>
              <a:path w="10070465" h="1904" extrusionOk="0">
                <a:moveTo>
                  <a:pt x="0" y="0"/>
                </a:moveTo>
                <a:lnTo>
                  <a:pt x="10070084" y="1524"/>
                </a:lnTo>
              </a:path>
            </a:pathLst>
          </a:custGeom>
          <a:noFill/>
          <a:ln w="9525" cap="flat" cmpd="sng">
            <a:solidFill>
              <a:srgbClr val="000000"/>
            </a:solidFill>
            <a:prstDash val="solid"/>
            <a:round/>
            <a:headEnd type="none" w="sm" len="sm"/>
            <a:tailEnd type="none" w="sm" len="sm"/>
          </a:ln>
        </p:spPr>
      </p:sp>
      <p:sp>
        <p:nvSpPr>
          <p:cNvPr id="90" name="Google Shape;90;g2009b74a80d_0_138">
            <a:extLst>
              <a:ext uri="{FF2B5EF4-FFF2-40B4-BE49-F238E27FC236}">
                <a16:creationId xmlns:a16="http://schemas.microsoft.com/office/drawing/2014/main" id="{9D568E26-418A-C085-0249-C272BC84EDFF}"/>
              </a:ext>
            </a:extLst>
          </p:cNvPr>
          <p:cNvSpPr/>
          <p:nvPr/>
        </p:nvSpPr>
        <p:spPr>
          <a:xfrm>
            <a:off x="426892" y="86207"/>
            <a:ext cx="1576099" cy="306947"/>
          </a:xfrm>
          <a:prstGeom prst="rect">
            <a:avLst/>
          </a:prstGeom>
          <a:noFill/>
          <a:ln>
            <a:noFill/>
          </a:ln>
        </p:spPr>
        <p:txBody>
          <a:bodyPr spcFirstLastPara="1" wrap="square" lIns="0" tIns="14785" rIns="0" bIns="0" anchor="t" anchorCtr="0">
            <a:noAutofit/>
          </a:bodyPr>
          <a:lstStyle/>
          <a:p>
            <a:pPr marL="15237">
              <a:buClr>
                <a:srgbClr val="000000"/>
              </a:buClr>
              <a:buSzPts val="1600"/>
            </a:pPr>
            <a:r>
              <a:rPr lang="en-IN" sz="1935" b="1" i="1" dirty="0">
                <a:solidFill>
                  <a:srgbClr val="CCCCCC"/>
                </a:solidFill>
                <a:latin typeface="Arial"/>
                <a:ea typeface="Arial"/>
                <a:cs typeface="Arial"/>
                <a:sym typeface="Arial"/>
              </a:rPr>
              <a:t>Introduction</a:t>
            </a:r>
            <a:endParaRPr sz="1935" dirty="0">
              <a:solidFill>
                <a:srgbClr val="000000"/>
              </a:solidFill>
              <a:latin typeface="Arial"/>
              <a:ea typeface="Arial"/>
              <a:cs typeface="Arial"/>
              <a:sym typeface="Arial"/>
            </a:endParaRPr>
          </a:p>
        </p:txBody>
      </p:sp>
      <p:sp>
        <p:nvSpPr>
          <p:cNvPr id="91" name="Google Shape;91;g2009b74a80d_0_138">
            <a:extLst>
              <a:ext uri="{FF2B5EF4-FFF2-40B4-BE49-F238E27FC236}">
                <a16:creationId xmlns:a16="http://schemas.microsoft.com/office/drawing/2014/main" id="{0F8C953D-F817-7A43-4ECC-8DECE5D7E92F}"/>
              </a:ext>
            </a:extLst>
          </p:cNvPr>
          <p:cNvSpPr/>
          <p:nvPr/>
        </p:nvSpPr>
        <p:spPr>
          <a:xfrm>
            <a:off x="5224850" y="87077"/>
            <a:ext cx="1705263" cy="306947"/>
          </a:xfrm>
          <a:prstGeom prst="rect">
            <a:avLst/>
          </a:prstGeom>
          <a:noFill/>
          <a:ln>
            <a:noFill/>
          </a:ln>
        </p:spPr>
        <p:txBody>
          <a:bodyPr spcFirstLastPara="1" wrap="square" lIns="0" tIns="14785" rIns="0" bIns="0" anchor="t" anchorCtr="0">
            <a:noAutofit/>
          </a:bodyPr>
          <a:lstStyle/>
          <a:p>
            <a:pPr marL="15237">
              <a:buClr>
                <a:srgbClr val="000000"/>
              </a:buClr>
              <a:buSzPts val="1600"/>
            </a:pPr>
            <a:r>
              <a:rPr lang="en-IN" sz="1935" b="1" i="1" dirty="0">
                <a:solidFill>
                  <a:srgbClr val="666666"/>
                </a:solidFill>
                <a:latin typeface="Arial"/>
                <a:ea typeface="Arial"/>
                <a:cs typeface="Arial"/>
                <a:sym typeface="Arial"/>
              </a:rPr>
              <a:t>Methodology</a:t>
            </a:r>
            <a:endParaRPr sz="1935" dirty="0">
              <a:solidFill>
                <a:srgbClr val="000000"/>
              </a:solidFill>
              <a:latin typeface="Arial"/>
              <a:ea typeface="Arial"/>
              <a:cs typeface="Arial"/>
              <a:sym typeface="Arial"/>
            </a:endParaRPr>
          </a:p>
        </p:txBody>
      </p:sp>
      <p:sp>
        <p:nvSpPr>
          <p:cNvPr id="92" name="Google Shape;92;g2009b74a80d_0_138">
            <a:extLst>
              <a:ext uri="{FF2B5EF4-FFF2-40B4-BE49-F238E27FC236}">
                <a16:creationId xmlns:a16="http://schemas.microsoft.com/office/drawing/2014/main" id="{AA2E6B62-FC41-15AF-2A5B-4659AD273BD8}"/>
              </a:ext>
            </a:extLst>
          </p:cNvPr>
          <p:cNvSpPr/>
          <p:nvPr/>
        </p:nvSpPr>
        <p:spPr>
          <a:xfrm>
            <a:off x="2699609" y="87077"/>
            <a:ext cx="1739368" cy="306947"/>
          </a:xfrm>
          <a:prstGeom prst="rect">
            <a:avLst/>
          </a:prstGeom>
          <a:noFill/>
          <a:ln>
            <a:noFill/>
          </a:ln>
        </p:spPr>
        <p:txBody>
          <a:bodyPr spcFirstLastPara="1" wrap="square" lIns="0" tIns="14785" rIns="0" bIns="0" anchor="t" anchorCtr="0">
            <a:noAutofit/>
          </a:bodyPr>
          <a:lstStyle/>
          <a:p>
            <a:pPr marL="15237">
              <a:buClr>
                <a:srgbClr val="000000"/>
              </a:buClr>
              <a:buSzPts val="1600"/>
            </a:pPr>
            <a:r>
              <a:rPr lang="en-IN" sz="1935" b="1" i="1" dirty="0">
                <a:solidFill>
                  <a:srgbClr val="CCCCCC"/>
                </a:solidFill>
                <a:latin typeface="Arial"/>
                <a:ea typeface="Arial"/>
                <a:cs typeface="Arial"/>
                <a:sym typeface="Arial"/>
              </a:rPr>
              <a:t>Specific  Aims</a:t>
            </a:r>
            <a:endParaRPr sz="1935" dirty="0">
              <a:solidFill>
                <a:srgbClr val="000000"/>
              </a:solidFill>
              <a:latin typeface="Arial"/>
              <a:ea typeface="Arial"/>
              <a:cs typeface="Arial"/>
              <a:sym typeface="Arial"/>
            </a:endParaRPr>
          </a:p>
        </p:txBody>
      </p:sp>
      <p:sp>
        <p:nvSpPr>
          <p:cNvPr id="93" name="Google Shape;93;g2009b74a80d_0_138">
            <a:extLst>
              <a:ext uri="{FF2B5EF4-FFF2-40B4-BE49-F238E27FC236}">
                <a16:creationId xmlns:a16="http://schemas.microsoft.com/office/drawing/2014/main" id="{BC1769AD-E579-5B24-4DA0-F8966472C5EF}"/>
              </a:ext>
            </a:extLst>
          </p:cNvPr>
          <p:cNvSpPr/>
          <p:nvPr/>
        </p:nvSpPr>
        <p:spPr>
          <a:xfrm>
            <a:off x="8132360" y="87077"/>
            <a:ext cx="1531109" cy="306947"/>
          </a:xfrm>
          <a:prstGeom prst="rect">
            <a:avLst/>
          </a:prstGeom>
          <a:noFill/>
          <a:ln>
            <a:noFill/>
          </a:ln>
        </p:spPr>
        <p:txBody>
          <a:bodyPr spcFirstLastPara="1" wrap="square" lIns="0" tIns="14785" rIns="0" bIns="0" anchor="t" anchorCtr="0">
            <a:noAutofit/>
          </a:bodyPr>
          <a:lstStyle/>
          <a:p>
            <a:pPr marL="15237">
              <a:buClr>
                <a:srgbClr val="000000"/>
              </a:buClr>
              <a:buSzPts val="1600"/>
            </a:pPr>
            <a:r>
              <a:rPr lang="en-IN" sz="1935" b="1" i="1" dirty="0">
                <a:solidFill>
                  <a:srgbClr val="CCCCCC"/>
                </a:solidFill>
                <a:latin typeface="Arial"/>
                <a:ea typeface="Arial"/>
                <a:cs typeface="Arial"/>
                <a:sym typeface="Arial"/>
              </a:rPr>
              <a:t>Results</a:t>
            </a:r>
            <a:endParaRPr sz="1935" dirty="0">
              <a:solidFill>
                <a:srgbClr val="000000"/>
              </a:solidFill>
              <a:latin typeface="Arial"/>
              <a:ea typeface="Arial"/>
              <a:cs typeface="Arial"/>
              <a:sym typeface="Arial"/>
            </a:endParaRPr>
          </a:p>
        </p:txBody>
      </p:sp>
      <p:sp>
        <p:nvSpPr>
          <p:cNvPr id="94" name="Google Shape;94;g2009b74a80d_0_138">
            <a:extLst>
              <a:ext uri="{FF2B5EF4-FFF2-40B4-BE49-F238E27FC236}">
                <a16:creationId xmlns:a16="http://schemas.microsoft.com/office/drawing/2014/main" id="{9943DFA3-18EC-8602-A69D-A49D15CC417C}"/>
              </a:ext>
            </a:extLst>
          </p:cNvPr>
          <p:cNvSpPr/>
          <p:nvPr/>
        </p:nvSpPr>
        <p:spPr>
          <a:xfrm>
            <a:off x="10275331" y="87077"/>
            <a:ext cx="1531109" cy="306947"/>
          </a:xfrm>
          <a:prstGeom prst="rect">
            <a:avLst/>
          </a:prstGeom>
          <a:noFill/>
          <a:ln>
            <a:noFill/>
          </a:ln>
        </p:spPr>
        <p:txBody>
          <a:bodyPr spcFirstLastPara="1" wrap="square" lIns="0" tIns="14785" rIns="0" bIns="0" anchor="t" anchorCtr="0">
            <a:noAutofit/>
          </a:bodyPr>
          <a:lstStyle/>
          <a:p>
            <a:pPr marL="15237">
              <a:buClr>
                <a:srgbClr val="000000"/>
              </a:buClr>
              <a:buSzPts val="1600"/>
            </a:pPr>
            <a:r>
              <a:rPr lang="en-IN" sz="1935" b="1" i="1">
                <a:solidFill>
                  <a:srgbClr val="CCCCCC"/>
                </a:solidFill>
                <a:latin typeface="Arial"/>
                <a:ea typeface="Arial"/>
                <a:cs typeface="Arial"/>
                <a:sym typeface="Arial"/>
              </a:rPr>
              <a:t>Future Work</a:t>
            </a:r>
            <a:endParaRPr sz="1935">
              <a:solidFill>
                <a:srgbClr val="000000"/>
              </a:solidFill>
              <a:latin typeface="Arial"/>
              <a:ea typeface="Arial"/>
              <a:cs typeface="Arial"/>
              <a:sym typeface="Arial"/>
            </a:endParaRPr>
          </a:p>
        </p:txBody>
      </p:sp>
      <p:sp>
        <p:nvSpPr>
          <p:cNvPr id="95" name="Google Shape;95;g2009b74a80d_0_138">
            <a:extLst>
              <a:ext uri="{FF2B5EF4-FFF2-40B4-BE49-F238E27FC236}">
                <a16:creationId xmlns:a16="http://schemas.microsoft.com/office/drawing/2014/main" id="{92E17833-81CC-0D85-2DA4-8AB8D1041D16}"/>
              </a:ext>
            </a:extLst>
          </p:cNvPr>
          <p:cNvSpPr/>
          <p:nvPr/>
        </p:nvSpPr>
        <p:spPr>
          <a:xfrm>
            <a:off x="0" y="629409"/>
            <a:ext cx="12192000" cy="674486"/>
          </a:xfrm>
          <a:prstGeom prst="rect">
            <a:avLst/>
          </a:prstGeom>
          <a:noFill/>
          <a:ln>
            <a:noFill/>
          </a:ln>
        </p:spPr>
        <p:txBody>
          <a:bodyPr spcFirstLastPara="1" wrap="square" lIns="0" tIns="14785" rIns="0" bIns="0" anchor="ctr" anchorCtr="0">
            <a:noAutofit/>
          </a:bodyPr>
          <a:lstStyle/>
          <a:p>
            <a:pPr marL="15237" algn="ctr">
              <a:buClr>
                <a:srgbClr val="000000"/>
              </a:buClr>
              <a:buSzPts val="2800"/>
            </a:pPr>
            <a:r>
              <a:rPr lang="en-IN" sz="3200" b="1" dirty="0">
                <a:solidFill>
                  <a:srgbClr val="1F2ED4"/>
                </a:solidFill>
                <a:latin typeface="Arial"/>
                <a:ea typeface="Arial"/>
                <a:cs typeface="Arial"/>
                <a:sym typeface="Arial"/>
              </a:rPr>
              <a:t>Workflow</a:t>
            </a:r>
            <a:endParaRPr sz="3200" dirty="0">
              <a:solidFill>
                <a:srgbClr val="000000"/>
              </a:solidFill>
              <a:latin typeface="Arial"/>
              <a:ea typeface="Arial"/>
              <a:cs typeface="Arial"/>
              <a:sym typeface="Arial"/>
            </a:endParaRPr>
          </a:p>
        </p:txBody>
      </p:sp>
      <p:sp>
        <p:nvSpPr>
          <p:cNvPr id="96" name="Google Shape;96;g2009b74a80d_0_138">
            <a:extLst>
              <a:ext uri="{FF2B5EF4-FFF2-40B4-BE49-F238E27FC236}">
                <a16:creationId xmlns:a16="http://schemas.microsoft.com/office/drawing/2014/main" id="{F8819EC8-B5BF-4854-D71B-FBEF66CB0CC0}"/>
              </a:ext>
            </a:extLst>
          </p:cNvPr>
          <p:cNvSpPr/>
          <p:nvPr/>
        </p:nvSpPr>
        <p:spPr>
          <a:xfrm>
            <a:off x="11493542" y="6356641"/>
            <a:ext cx="436112" cy="350486"/>
          </a:xfrm>
          <a:prstGeom prst="rect">
            <a:avLst/>
          </a:prstGeom>
          <a:noFill/>
          <a:ln>
            <a:noFill/>
          </a:ln>
        </p:spPr>
        <p:txBody>
          <a:bodyPr spcFirstLastPara="1" wrap="square" lIns="108847" tIns="54423" rIns="108847" bIns="54423" anchor="t" anchorCtr="0">
            <a:noAutofit/>
          </a:bodyPr>
          <a:lstStyle/>
          <a:p>
            <a:pPr>
              <a:buClr>
                <a:srgbClr val="000000"/>
              </a:buClr>
              <a:buSzPts val="1400"/>
            </a:pPr>
            <a:endParaRPr sz="1693">
              <a:solidFill>
                <a:srgbClr val="000000"/>
              </a:solidFill>
              <a:latin typeface="Arial"/>
              <a:ea typeface="Arial"/>
              <a:cs typeface="Arial"/>
              <a:sym typeface="Arial"/>
            </a:endParaRPr>
          </a:p>
        </p:txBody>
      </p:sp>
      <p:sp>
        <p:nvSpPr>
          <p:cNvPr id="97" name="Google Shape;97;g2009b74a80d_0_138">
            <a:extLst>
              <a:ext uri="{FF2B5EF4-FFF2-40B4-BE49-F238E27FC236}">
                <a16:creationId xmlns:a16="http://schemas.microsoft.com/office/drawing/2014/main" id="{7C66543D-6A17-2598-7B9A-A918E8185E11}"/>
              </a:ext>
            </a:extLst>
          </p:cNvPr>
          <p:cNvSpPr txBox="1">
            <a:spLocks noGrp="1"/>
          </p:cNvSpPr>
          <p:nvPr>
            <p:ph type="sldNum" idx="12"/>
          </p:nvPr>
        </p:nvSpPr>
        <p:spPr>
          <a:xfrm>
            <a:off x="11408860" y="6333135"/>
            <a:ext cx="731449" cy="525003"/>
          </a:xfrm>
          <a:prstGeom prst="rect">
            <a:avLst/>
          </a:prstGeom>
          <a:noFill/>
          <a:ln>
            <a:noFill/>
          </a:ln>
        </p:spPr>
        <p:txBody>
          <a:bodyPr spcFirstLastPara="1" vert="horz" wrap="square" lIns="110570" tIns="110570" rIns="110570" bIns="110570" rtlCol="0" anchor="t" anchorCtr="0">
            <a:noAutofit/>
          </a:bodyPr>
          <a:lstStyle/>
          <a:p>
            <a:pPr>
              <a:buSzPts val="1300"/>
            </a:pPr>
            <a:fld id="{00000000-1234-1234-1234-123412341234}" type="slidenum">
              <a:rPr lang="en-IN" smtClean="0"/>
              <a:pPr>
                <a:buSzPts val="1300"/>
              </a:pPr>
              <a:t>3</a:t>
            </a:fld>
            <a:r>
              <a:rPr lang="en-IN" dirty="0"/>
              <a:t>/9</a:t>
            </a:r>
            <a:endParaRPr dirty="0"/>
          </a:p>
        </p:txBody>
      </p:sp>
      <p:sp>
        <p:nvSpPr>
          <p:cNvPr id="3" name="TextBox 2">
            <a:extLst>
              <a:ext uri="{FF2B5EF4-FFF2-40B4-BE49-F238E27FC236}">
                <a16:creationId xmlns:a16="http://schemas.microsoft.com/office/drawing/2014/main" id="{BC4CBB8D-BBD6-B8AB-5601-D29B12DCF017}"/>
              </a:ext>
            </a:extLst>
          </p:cNvPr>
          <p:cNvSpPr txBox="1"/>
          <p:nvPr/>
        </p:nvSpPr>
        <p:spPr>
          <a:xfrm>
            <a:off x="273050" y="1720850"/>
            <a:ext cx="11656604" cy="2949525"/>
          </a:xfrm>
          <a:prstGeom prst="rect">
            <a:avLst/>
          </a:prstGeom>
          <a:noFill/>
        </p:spPr>
        <p:txBody>
          <a:bodyPr wrap="square" rtlCol="0">
            <a:spAutoFit/>
          </a:bodyPr>
          <a:lstStyle/>
          <a:p>
            <a:pPr marL="342900" indent="-342900">
              <a:lnSpc>
                <a:spcPct val="150000"/>
              </a:lnSpc>
              <a:buAutoNum type="arabicPeriod"/>
            </a:pPr>
            <a:r>
              <a:rPr lang="en-US" dirty="0">
                <a:latin typeface="Arial"/>
                <a:cs typeface="Arial"/>
                <a:sym typeface="Arial"/>
              </a:rPr>
              <a:t>S</a:t>
            </a:r>
            <a:r>
              <a:rPr lang="en-IN" dirty="0">
                <a:latin typeface="Arial"/>
                <a:cs typeface="Arial"/>
                <a:sym typeface="Arial"/>
              </a:rPr>
              <a:t>tart with a dataset of available mitochondrial genomes, and an ordered list of their genes.</a:t>
            </a:r>
          </a:p>
          <a:p>
            <a:pPr marL="342900" indent="-342900">
              <a:lnSpc>
                <a:spcPct val="150000"/>
              </a:lnSpc>
              <a:buAutoNum type="arabicPeriod"/>
            </a:pPr>
            <a:r>
              <a:rPr lang="en-IN" dirty="0">
                <a:latin typeface="Arial"/>
                <a:cs typeface="Arial"/>
                <a:sym typeface="Arial"/>
              </a:rPr>
              <a:t>Using a custom-distance metric, arrange these genomes in an order that is supposed to be how each of them actually originated over the course of evolution.</a:t>
            </a:r>
          </a:p>
          <a:p>
            <a:pPr marL="342900" indent="-342900">
              <a:lnSpc>
                <a:spcPct val="150000"/>
              </a:lnSpc>
              <a:buAutoNum type="arabicPeriod"/>
            </a:pPr>
            <a:r>
              <a:rPr lang="en-IN" dirty="0">
                <a:latin typeface="Arial"/>
                <a:cs typeface="Arial"/>
                <a:sym typeface="Arial"/>
              </a:rPr>
              <a:t>Identify ‘breakpoints’, which are disruptions in the order of genes when comparing two adjacent genomes in his order. Those are the locations at which our target sequences are.</a:t>
            </a:r>
          </a:p>
          <a:p>
            <a:pPr marL="342900" indent="-342900">
              <a:lnSpc>
                <a:spcPct val="150000"/>
              </a:lnSpc>
              <a:buAutoNum type="arabicPeriod"/>
            </a:pPr>
            <a:r>
              <a:rPr lang="en-IN" dirty="0">
                <a:latin typeface="Arial"/>
                <a:cs typeface="Arial"/>
                <a:sym typeface="Arial"/>
              </a:rPr>
              <a:t>Obtain the sequences in those regions with some leeway on either side.</a:t>
            </a:r>
          </a:p>
          <a:p>
            <a:pPr marL="342900" indent="-342900">
              <a:lnSpc>
                <a:spcPct val="150000"/>
              </a:lnSpc>
              <a:buAutoNum type="arabicPeriod"/>
            </a:pPr>
            <a:r>
              <a:rPr lang="en-IN" dirty="0">
                <a:latin typeface="Arial"/>
                <a:cs typeface="Arial"/>
                <a:sym typeface="Arial"/>
              </a:rPr>
              <a:t>Construct the vectors for these sequences and carry out further analysis.</a:t>
            </a:r>
          </a:p>
        </p:txBody>
      </p:sp>
    </p:spTree>
    <p:extLst>
      <p:ext uri="{BB962C8B-B14F-4D97-AF65-F5344CB8AC3E}">
        <p14:creationId xmlns:p14="http://schemas.microsoft.com/office/powerpoint/2010/main" val="151474527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88">
          <a:extLst>
            <a:ext uri="{FF2B5EF4-FFF2-40B4-BE49-F238E27FC236}">
              <a16:creationId xmlns:a16="http://schemas.microsoft.com/office/drawing/2014/main" id="{E6FEE3CC-02D7-BBA1-3759-4864DBA23E5C}"/>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40EE2388-07C4-2007-4445-3BCD9CA24A3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415600" y="502181"/>
            <a:ext cx="6330419" cy="6330419"/>
          </a:xfrm>
          <a:prstGeom prst="rect">
            <a:avLst/>
          </a:prstGeom>
        </p:spPr>
      </p:pic>
      <p:sp>
        <p:nvSpPr>
          <p:cNvPr id="89" name="Google Shape;89;g2009b74a80d_0_138">
            <a:extLst>
              <a:ext uri="{FF2B5EF4-FFF2-40B4-BE49-F238E27FC236}">
                <a16:creationId xmlns:a16="http://schemas.microsoft.com/office/drawing/2014/main" id="{B4A46D62-77C5-05B9-6EB4-9B945F6B29ED}"/>
              </a:ext>
            </a:extLst>
          </p:cNvPr>
          <p:cNvSpPr/>
          <p:nvPr/>
        </p:nvSpPr>
        <p:spPr>
          <a:xfrm>
            <a:off x="650" y="479360"/>
            <a:ext cx="12179286" cy="438"/>
          </a:xfrm>
          <a:custGeom>
            <a:avLst/>
            <a:gdLst/>
            <a:ahLst/>
            <a:cxnLst/>
            <a:rect l="l" t="t" r="r" b="b"/>
            <a:pathLst>
              <a:path w="10070465" h="1904" extrusionOk="0">
                <a:moveTo>
                  <a:pt x="0" y="0"/>
                </a:moveTo>
                <a:lnTo>
                  <a:pt x="10070084" y="1524"/>
                </a:lnTo>
              </a:path>
            </a:pathLst>
          </a:custGeom>
          <a:noFill/>
          <a:ln w="9525" cap="flat" cmpd="sng">
            <a:solidFill>
              <a:srgbClr val="000000"/>
            </a:solidFill>
            <a:prstDash val="solid"/>
            <a:round/>
            <a:headEnd type="none" w="sm" len="sm"/>
            <a:tailEnd type="none" w="sm" len="sm"/>
          </a:ln>
        </p:spPr>
      </p:sp>
      <p:sp>
        <p:nvSpPr>
          <p:cNvPr id="90" name="Google Shape;90;g2009b74a80d_0_138">
            <a:extLst>
              <a:ext uri="{FF2B5EF4-FFF2-40B4-BE49-F238E27FC236}">
                <a16:creationId xmlns:a16="http://schemas.microsoft.com/office/drawing/2014/main" id="{8493E7F8-84A3-FEA7-9C0E-6C0D0A107E94}"/>
              </a:ext>
            </a:extLst>
          </p:cNvPr>
          <p:cNvSpPr/>
          <p:nvPr/>
        </p:nvSpPr>
        <p:spPr>
          <a:xfrm>
            <a:off x="426892" y="86207"/>
            <a:ext cx="1576099" cy="306947"/>
          </a:xfrm>
          <a:prstGeom prst="rect">
            <a:avLst/>
          </a:prstGeom>
          <a:noFill/>
          <a:ln>
            <a:noFill/>
          </a:ln>
        </p:spPr>
        <p:txBody>
          <a:bodyPr spcFirstLastPara="1" wrap="square" lIns="0" tIns="14785" rIns="0" bIns="0" anchor="t" anchorCtr="0">
            <a:noAutofit/>
          </a:bodyPr>
          <a:lstStyle/>
          <a:p>
            <a:pPr marL="15237">
              <a:buClr>
                <a:srgbClr val="000000"/>
              </a:buClr>
              <a:buSzPts val="1600"/>
            </a:pPr>
            <a:r>
              <a:rPr lang="en-IN" sz="1935" b="1" i="1" dirty="0">
                <a:solidFill>
                  <a:srgbClr val="CCCCCC"/>
                </a:solidFill>
                <a:latin typeface="Arial"/>
                <a:ea typeface="Arial"/>
                <a:cs typeface="Arial"/>
                <a:sym typeface="Arial"/>
              </a:rPr>
              <a:t>Introduction</a:t>
            </a:r>
            <a:endParaRPr sz="1935" dirty="0">
              <a:solidFill>
                <a:srgbClr val="000000"/>
              </a:solidFill>
              <a:latin typeface="Arial"/>
              <a:ea typeface="Arial"/>
              <a:cs typeface="Arial"/>
              <a:sym typeface="Arial"/>
            </a:endParaRPr>
          </a:p>
        </p:txBody>
      </p:sp>
      <p:sp>
        <p:nvSpPr>
          <p:cNvPr id="91" name="Google Shape;91;g2009b74a80d_0_138">
            <a:extLst>
              <a:ext uri="{FF2B5EF4-FFF2-40B4-BE49-F238E27FC236}">
                <a16:creationId xmlns:a16="http://schemas.microsoft.com/office/drawing/2014/main" id="{F3198284-F56A-892C-6B49-A64380546197}"/>
              </a:ext>
            </a:extLst>
          </p:cNvPr>
          <p:cNvSpPr/>
          <p:nvPr/>
        </p:nvSpPr>
        <p:spPr>
          <a:xfrm>
            <a:off x="5224850" y="87077"/>
            <a:ext cx="1705263" cy="306947"/>
          </a:xfrm>
          <a:prstGeom prst="rect">
            <a:avLst/>
          </a:prstGeom>
          <a:noFill/>
          <a:ln>
            <a:noFill/>
          </a:ln>
        </p:spPr>
        <p:txBody>
          <a:bodyPr spcFirstLastPara="1" wrap="square" lIns="0" tIns="14785" rIns="0" bIns="0" anchor="t" anchorCtr="0">
            <a:noAutofit/>
          </a:bodyPr>
          <a:lstStyle/>
          <a:p>
            <a:pPr marL="15237">
              <a:buClr>
                <a:srgbClr val="000000"/>
              </a:buClr>
              <a:buSzPts val="1600"/>
            </a:pPr>
            <a:r>
              <a:rPr lang="en-IN" sz="1935" b="1" i="1" dirty="0">
                <a:solidFill>
                  <a:srgbClr val="CCCCCC"/>
                </a:solidFill>
                <a:latin typeface="Arial"/>
                <a:ea typeface="Arial"/>
                <a:cs typeface="Arial"/>
                <a:sym typeface="Arial"/>
              </a:rPr>
              <a:t>Methodology</a:t>
            </a:r>
            <a:endParaRPr sz="1935" dirty="0">
              <a:solidFill>
                <a:srgbClr val="000000"/>
              </a:solidFill>
              <a:latin typeface="Arial"/>
              <a:ea typeface="Arial"/>
              <a:cs typeface="Arial"/>
              <a:sym typeface="Arial"/>
            </a:endParaRPr>
          </a:p>
        </p:txBody>
      </p:sp>
      <p:sp>
        <p:nvSpPr>
          <p:cNvPr id="92" name="Google Shape;92;g2009b74a80d_0_138">
            <a:extLst>
              <a:ext uri="{FF2B5EF4-FFF2-40B4-BE49-F238E27FC236}">
                <a16:creationId xmlns:a16="http://schemas.microsoft.com/office/drawing/2014/main" id="{BBD265F5-0B6C-C563-7DF2-2056571CEA82}"/>
              </a:ext>
            </a:extLst>
          </p:cNvPr>
          <p:cNvSpPr/>
          <p:nvPr/>
        </p:nvSpPr>
        <p:spPr>
          <a:xfrm>
            <a:off x="2699609" y="87077"/>
            <a:ext cx="1739368" cy="306947"/>
          </a:xfrm>
          <a:prstGeom prst="rect">
            <a:avLst/>
          </a:prstGeom>
          <a:noFill/>
          <a:ln>
            <a:noFill/>
          </a:ln>
        </p:spPr>
        <p:txBody>
          <a:bodyPr spcFirstLastPara="1" wrap="square" lIns="0" tIns="14785" rIns="0" bIns="0" anchor="t" anchorCtr="0">
            <a:noAutofit/>
          </a:bodyPr>
          <a:lstStyle/>
          <a:p>
            <a:pPr marL="15237">
              <a:buClr>
                <a:srgbClr val="000000"/>
              </a:buClr>
              <a:buSzPts val="1600"/>
            </a:pPr>
            <a:r>
              <a:rPr lang="en-IN" sz="1935" b="1" i="1" dirty="0">
                <a:solidFill>
                  <a:srgbClr val="CCCCCC"/>
                </a:solidFill>
                <a:latin typeface="Arial"/>
                <a:ea typeface="Arial"/>
                <a:cs typeface="Arial"/>
                <a:sym typeface="Arial"/>
              </a:rPr>
              <a:t>Specific  Aims</a:t>
            </a:r>
            <a:endParaRPr sz="1935" dirty="0">
              <a:solidFill>
                <a:srgbClr val="000000"/>
              </a:solidFill>
              <a:latin typeface="Arial"/>
              <a:ea typeface="Arial"/>
              <a:cs typeface="Arial"/>
              <a:sym typeface="Arial"/>
            </a:endParaRPr>
          </a:p>
        </p:txBody>
      </p:sp>
      <p:sp>
        <p:nvSpPr>
          <p:cNvPr id="93" name="Google Shape;93;g2009b74a80d_0_138">
            <a:extLst>
              <a:ext uri="{FF2B5EF4-FFF2-40B4-BE49-F238E27FC236}">
                <a16:creationId xmlns:a16="http://schemas.microsoft.com/office/drawing/2014/main" id="{AADC0AD9-DA1B-7C83-7F22-15E9A783D89F}"/>
              </a:ext>
            </a:extLst>
          </p:cNvPr>
          <p:cNvSpPr/>
          <p:nvPr/>
        </p:nvSpPr>
        <p:spPr>
          <a:xfrm>
            <a:off x="8132360" y="87077"/>
            <a:ext cx="1531109" cy="306947"/>
          </a:xfrm>
          <a:prstGeom prst="rect">
            <a:avLst/>
          </a:prstGeom>
          <a:noFill/>
          <a:ln>
            <a:noFill/>
          </a:ln>
        </p:spPr>
        <p:txBody>
          <a:bodyPr spcFirstLastPara="1" wrap="square" lIns="0" tIns="14785" rIns="0" bIns="0" anchor="t" anchorCtr="0">
            <a:noAutofit/>
          </a:bodyPr>
          <a:lstStyle/>
          <a:p>
            <a:pPr marL="15237">
              <a:buClr>
                <a:srgbClr val="000000"/>
              </a:buClr>
              <a:buSzPts val="1600"/>
            </a:pPr>
            <a:r>
              <a:rPr lang="en-IN" sz="1935" b="1" i="1" dirty="0">
                <a:solidFill>
                  <a:srgbClr val="666666"/>
                </a:solidFill>
                <a:latin typeface="Arial"/>
                <a:ea typeface="Arial"/>
                <a:cs typeface="Arial"/>
                <a:sym typeface="Arial"/>
              </a:rPr>
              <a:t>Results</a:t>
            </a:r>
            <a:endParaRPr lang="en-IN" sz="1935" dirty="0">
              <a:solidFill>
                <a:srgbClr val="000000"/>
              </a:solidFill>
              <a:latin typeface="Arial"/>
              <a:ea typeface="Arial"/>
              <a:cs typeface="Arial"/>
              <a:sym typeface="Arial"/>
            </a:endParaRPr>
          </a:p>
        </p:txBody>
      </p:sp>
      <p:sp>
        <p:nvSpPr>
          <p:cNvPr id="94" name="Google Shape;94;g2009b74a80d_0_138">
            <a:extLst>
              <a:ext uri="{FF2B5EF4-FFF2-40B4-BE49-F238E27FC236}">
                <a16:creationId xmlns:a16="http://schemas.microsoft.com/office/drawing/2014/main" id="{9F265A3B-504D-F30C-D457-5CA436986C93}"/>
              </a:ext>
            </a:extLst>
          </p:cNvPr>
          <p:cNvSpPr/>
          <p:nvPr/>
        </p:nvSpPr>
        <p:spPr>
          <a:xfrm>
            <a:off x="10275331" y="87077"/>
            <a:ext cx="1531109" cy="306947"/>
          </a:xfrm>
          <a:prstGeom prst="rect">
            <a:avLst/>
          </a:prstGeom>
          <a:noFill/>
          <a:ln>
            <a:noFill/>
          </a:ln>
        </p:spPr>
        <p:txBody>
          <a:bodyPr spcFirstLastPara="1" wrap="square" lIns="0" tIns="14785" rIns="0" bIns="0" anchor="t" anchorCtr="0">
            <a:noAutofit/>
          </a:bodyPr>
          <a:lstStyle/>
          <a:p>
            <a:pPr marL="15237">
              <a:buClr>
                <a:srgbClr val="000000"/>
              </a:buClr>
              <a:buSzPts val="1600"/>
            </a:pPr>
            <a:r>
              <a:rPr lang="en-IN" sz="1935" b="1" i="1" dirty="0">
                <a:solidFill>
                  <a:srgbClr val="CCCCCC"/>
                </a:solidFill>
                <a:latin typeface="Arial"/>
                <a:ea typeface="Arial"/>
                <a:cs typeface="Arial"/>
                <a:sym typeface="Arial"/>
              </a:rPr>
              <a:t>Future Work</a:t>
            </a:r>
            <a:endParaRPr sz="1935" dirty="0">
              <a:solidFill>
                <a:srgbClr val="000000"/>
              </a:solidFill>
              <a:latin typeface="Arial"/>
              <a:ea typeface="Arial"/>
              <a:cs typeface="Arial"/>
              <a:sym typeface="Arial"/>
            </a:endParaRPr>
          </a:p>
        </p:txBody>
      </p:sp>
      <p:sp>
        <p:nvSpPr>
          <p:cNvPr id="96" name="Google Shape;96;g2009b74a80d_0_138">
            <a:extLst>
              <a:ext uri="{FF2B5EF4-FFF2-40B4-BE49-F238E27FC236}">
                <a16:creationId xmlns:a16="http://schemas.microsoft.com/office/drawing/2014/main" id="{4EBB9FBC-6C5C-0928-9FA7-4EF4BA0A5965}"/>
              </a:ext>
            </a:extLst>
          </p:cNvPr>
          <p:cNvSpPr/>
          <p:nvPr/>
        </p:nvSpPr>
        <p:spPr>
          <a:xfrm>
            <a:off x="11493542" y="6356641"/>
            <a:ext cx="436112" cy="350486"/>
          </a:xfrm>
          <a:prstGeom prst="rect">
            <a:avLst/>
          </a:prstGeom>
          <a:noFill/>
          <a:ln>
            <a:noFill/>
          </a:ln>
        </p:spPr>
        <p:txBody>
          <a:bodyPr spcFirstLastPara="1" wrap="square" lIns="108847" tIns="54423" rIns="108847" bIns="54423" anchor="t" anchorCtr="0">
            <a:noAutofit/>
          </a:bodyPr>
          <a:lstStyle/>
          <a:p>
            <a:pPr>
              <a:buClr>
                <a:srgbClr val="000000"/>
              </a:buClr>
              <a:buSzPts val="1400"/>
            </a:pPr>
            <a:endParaRPr sz="1693">
              <a:solidFill>
                <a:srgbClr val="000000"/>
              </a:solidFill>
              <a:latin typeface="Arial"/>
              <a:ea typeface="Arial"/>
              <a:cs typeface="Arial"/>
              <a:sym typeface="Arial"/>
            </a:endParaRPr>
          </a:p>
        </p:txBody>
      </p:sp>
      <p:sp>
        <p:nvSpPr>
          <p:cNvPr id="97" name="Google Shape;97;g2009b74a80d_0_138">
            <a:extLst>
              <a:ext uri="{FF2B5EF4-FFF2-40B4-BE49-F238E27FC236}">
                <a16:creationId xmlns:a16="http://schemas.microsoft.com/office/drawing/2014/main" id="{8A0D4B6C-9516-31CD-E698-B07A272B85D9}"/>
              </a:ext>
            </a:extLst>
          </p:cNvPr>
          <p:cNvSpPr txBox="1">
            <a:spLocks noGrp="1"/>
          </p:cNvSpPr>
          <p:nvPr>
            <p:ph type="sldNum" idx="12"/>
          </p:nvPr>
        </p:nvSpPr>
        <p:spPr>
          <a:xfrm>
            <a:off x="11408860" y="6333135"/>
            <a:ext cx="731449" cy="525003"/>
          </a:xfrm>
          <a:prstGeom prst="rect">
            <a:avLst/>
          </a:prstGeom>
          <a:noFill/>
          <a:ln>
            <a:noFill/>
          </a:ln>
        </p:spPr>
        <p:txBody>
          <a:bodyPr spcFirstLastPara="1" vert="horz" wrap="square" lIns="110570" tIns="110570" rIns="110570" bIns="110570" rtlCol="0" anchor="t" anchorCtr="0">
            <a:noAutofit/>
          </a:bodyPr>
          <a:lstStyle/>
          <a:p>
            <a:pPr>
              <a:buSzPts val="1300"/>
            </a:pPr>
            <a:fld id="{00000000-1234-1234-1234-123412341234}" type="slidenum">
              <a:rPr lang="en-IN" smtClean="0"/>
              <a:pPr>
                <a:buSzPts val="1300"/>
              </a:pPr>
              <a:t>4</a:t>
            </a:fld>
            <a:r>
              <a:rPr lang="en-IN" dirty="0"/>
              <a:t>/9</a:t>
            </a:r>
            <a:endParaRPr dirty="0"/>
          </a:p>
        </p:txBody>
      </p:sp>
    </p:spTree>
    <p:extLst>
      <p:ext uri="{BB962C8B-B14F-4D97-AF65-F5344CB8AC3E}">
        <p14:creationId xmlns:p14="http://schemas.microsoft.com/office/powerpoint/2010/main" val="359454145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88">
          <a:extLst>
            <a:ext uri="{FF2B5EF4-FFF2-40B4-BE49-F238E27FC236}">
              <a16:creationId xmlns:a16="http://schemas.microsoft.com/office/drawing/2014/main" id="{3C08C456-8A76-3F18-0A3D-F60660861CE2}"/>
            </a:ext>
          </a:extLst>
        </p:cNvPr>
        <p:cNvGrpSpPr/>
        <p:nvPr/>
      </p:nvGrpSpPr>
      <p:grpSpPr>
        <a:xfrm>
          <a:off x="0" y="0"/>
          <a:ext cx="0" cy="0"/>
          <a:chOff x="0" y="0"/>
          <a:chExt cx="0" cy="0"/>
        </a:xfrm>
      </p:grpSpPr>
      <p:sp>
        <p:nvSpPr>
          <p:cNvPr id="89" name="Google Shape;89;g2009b74a80d_0_138">
            <a:extLst>
              <a:ext uri="{FF2B5EF4-FFF2-40B4-BE49-F238E27FC236}">
                <a16:creationId xmlns:a16="http://schemas.microsoft.com/office/drawing/2014/main" id="{E0F44462-B9FE-7C54-72E8-1BAF4BEB4268}"/>
              </a:ext>
            </a:extLst>
          </p:cNvPr>
          <p:cNvSpPr/>
          <p:nvPr/>
        </p:nvSpPr>
        <p:spPr>
          <a:xfrm>
            <a:off x="650" y="479360"/>
            <a:ext cx="12179286" cy="438"/>
          </a:xfrm>
          <a:custGeom>
            <a:avLst/>
            <a:gdLst/>
            <a:ahLst/>
            <a:cxnLst/>
            <a:rect l="l" t="t" r="r" b="b"/>
            <a:pathLst>
              <a:path w="10070465" h="1904" extrusionOk="0">
                <a:moveTo>
                  <a:pt x="0" y="0"/>
                </a:moveTo>
                <a:lnTo>
                  <a:pt x="10070084" y="1524"/>
                </a:lnTo>
              </a:path>
            </a:pathLst>
          </a:custGeom>
          <a:noFill/>
          <a:ln w="9525" cap="flat" cmpd="sng">
            <a:solidFill>
              <a:srgbClr val="000000"/>
            </a:solidFill>
            <a:prstDash val="solid"/>
            <a:round/>
            <a:headEnd type="none" w="sm" len="sm"/>
            <a:tailEnd type="none" w="sm" len="sm"/>
          </a:ln>
        </p:spPr>
      </p:sp>
      <p:sp>
        <p:nvSpPr>
          <p:cNvPr id="90" name="Google Shape;90;g2009b74a80d_0_138">
            <a:extLst>
              <a:ext uri="{FF2B5EF4-FFF2-40B4-BE49-F238E27FC236}">
                <a16:creationId xmlns:a16="http://schemas.microsoft.com/office/drawing/2014/main" id="{BB8F79FE-9C16-89A3-3AFF-F6FEE7011027}"/>
              </a:ext>
            </a:extLst>
          </p:cNvPr>
          <p:cNvSpPr/>
          <p:nvPr/>
        </p:nvSpPr>
        <p:spPr>
          <a:xfrm>
            <a:off x="426892" y="86207"/>
            <a:ext cx="1576099" cy="306947"/>
          </a:xfrm>
          <a:prstGeom prst="rect">
            <a:avLst/>
          </a:prstGeom>
          <a:noFill/>
          <a:ln>
            <a:noFill/>
          </a:ln>
        </p:spPr>
        <p:txBody>
          <a:bodyPr spcFirstLastPara="1" wrap="square" lIns="0" tIns="14785" rIns="0" bIns="0" anchor="t" anchorCtr="0">
            <a:noAutofit/>
          </a:bodyPr>
          <a:lstStyle/>
          <a:p>
            <a:pPr marL="15237">
              <a:buClr>
                <a:srgbClr val="000000"/>
              </a:buClr>
              <a:buSzPts val="1600"/>
            </a:pPr>
            <a:r>
              <a:rPr lang="en-IN" sz="1935" b="1" i="1" dirty="0">
                <a:solidFill>
                  <a:srgbClr val="CCCCCC"/>
                </a:solidFill>
                <a:latin typeface="Arial"/>
                <a:ea typeface="Arial"/>
                <a:cs typeface="Arial"/>
                <a:sym typeface="Arial"/>
              </a:rPr>
              <a:t>Introduction</a:t>
            </a:r>
            <a:endParaRPr sz="1935" dirty="0">
              <a:solidFill>
                <a:srgbClr val="000000"/>
              </a:solidFill>
              <a:latin typeface="Arial"/>
              <a:ea typeface="Arial"/>
              <a:cs typeface="Arial"/>
              <a:sym typeface="Arial"/>
            </a:endParaRPr>
          </a:p>
        </p:txBody>
      </p:sp>
      <p:sp>
        <p:nvSpPr>
          <p:cNvPr id="91" name="Google Shape;91;g2009b74a80d_0_138">
            <a:extLst>
              <a:ext uri="{FF2B5EF4-FFF2-40B4-BE49-F238E27FC236}">
                <a16:creationId xmlns:a16="http://schemas.microsoft.com/office/drawing/2014/main" id="{474D1F65-4F2B-7276-926F-C6C1FFF1C774}"/>
              </a:ext>
            </a:extLst>
          </p:cNvPr>
          <p:cNvSpPr/>
          <p:nvPr/>
        </p:nvSpPr>
        <p:spPr>
          <a:xfrm>
            <a:off x="5224850" y="87077"/>
            <a:ext cx="1705263" cy="306947"/>
          </a:xfrm>
          <a:prstGeom prst="rect">
            <a:avLst/>
          </a:prstGeom>
          <a:noFill/>
          <a:ln>
            <a:noFill/>
          </a:ln>
        </p:spPr>
        <p:txBody>
          <a:bodyPr spcFirstLastPara="1" wrap="square" lIns="0" tIns="14785" rIns="0" bIns="0" anchor="t" anchorCtr="0">
            <a:noAutofit/>
          </a:bodyPr>
          <a:lstStyle/>
          <a:p>
            <a:pPr marL="15237">
              <a:buClr>
                <a:srgbClr val="000000"/>
              </a:buClr>
              <a:buSzPts val="1600"/>
            </a:pPr>
            <a:r>
              <a:rPr lang="en-IN" sz="1935" b="1" i="1" dirty="0">
                <a:solidFill>
                  <a:srgbClr val="666666"/>
                </a:solidFill>
                <a:latin typeface="Arial"/>
                <a:ea typeface="Arial"/>
                <a:cs typeface="Arial"/>
                <a:sym typeface="Arial"/>
              </a:rPr>
              <a:t>Methodology</a:t>
            </a:r>
            <a:endParaRPr sz="1935" dirty="0">
              <a:solidFill>
                <a:srgbClr val="000000"/>
              </a:solidFill>
              <a:latin typeface="Arial"/>
              <a:ea typeface="Arial"/>
              <a:cs typeface="Arial"/>
              <a:sym typeface="Arial"/>
            </a:endParaRPr>
          </a:p>
        </p:txBody>
      </p:sp>
      <p:sp>
        <p:nvSpPr>
          <p:cNvPr id="92" name="Google Shape;92;g2009b74a80d_0_138">
            <a:extLst>
              <a:ext uri="{FF2B5EF4-FFF2-40B4-BE49-F238E27FC236}">
                <a16:creationId xmlns:a16="http://schemas.microsoft.com/office/drawing/2014/main" id="{60F9501F-A5C3-FEE4-A541-E69D5F58A085}"/>
              </a:ext>
            </a:extLst>
          </p:cNvPr>
          <p:cNvSpPr/>
          <p:nvPr/>
        </p:nvSpPr>
        <p:spPr>
          <a:xfrm>
            <a:off x="2699609" y="87077"/>
            <a:ext cx="1739368" cy="306947"/>
          </a:xfrm>
          <a:prstGeom prst="rect">
            <a:avLst/>
          </a:prstGeom>
          <a:noFill/>
          <a:ln>
            <a:noFill/>
          </a:ln>
        </p:spPr>
        <p:txBody>
          <a:bodyPr spcFirstLastPara="1" wrap="square" lIns="0" tIns="14785" rIns="0" bIns="0" anchor="t" anchorCtr="0">
            <a:noAutofit/>
          </a:bodyPr>
          <a:lstStyle/>
          <a:p>
            <a:pPr marL="15237">
              <a:buClr>
                <a:srgbClr val="000000"/>
              </a:buClr>
              <a:buSzPts val="1600"/>
            </a:pPr>
            <a:r>
              <a:rPr lang="en-IN" sz="1935" b="1" i="1" dirty="0">
                <a:solidFill>
                  <a:srgbClr val="CCCCCC"/>
                </a:solidFill>
                <a:latin typeface="Arial"/>
                <a:ea typeface="Arial"/>
                <a:cs typeface="Arial"/>
                <a:sym typeface="Arial"/>
              </a:rPr>
              <a:t>Specific  Aims</a:t>
            </a:r>
            <a:endParaRPr sz="1935" dirty="0">
              <a:solidFill>
                <a:srgbClr val="000000"/>
              </a:solidFill>
              <a:latin typeface="Arial"/>
              <a:ea typeface="Arial"/>
              <a:cs typeface="Arial"/>
              <a:sym typeface="Arial"/>
            </a:endParaRPr>
          </a:p>
        </p:txBody>
      </p:sp>
      <p:sp>
        <p:nvSpPr>
          <p:cNvPr id="93" name="Google Shape;93;g2009b74a80d_0_138">
            <a:extLst>
              <a:ext uri="{FF2B5EF4-FFF2-40B4-BE49-F238E27FC236}">
                <a16:creationId xmlns:a16="http://schemas.microsoft.com/office/drawing/2014/main" id="{DDC0E9A6-95F7-0D0A-3EED-766D83E7CFC4}"/>
              </a:ext>
            </a:extLst>
          </p:cNvPr>
          <p:cNvSpPr/>
          <p:nvPr/>
        </p:nvSpPr>
        <p:spPr>
          <a:xfrm>
            <a:off x="8132360" y="87077"/>
            <a:ext cx="1531109" cy="306947"/>
          </a:xfrm>
          <a:prstGeom prst="rect">
            <a:avLst/>
          </a:prstGeom>
          <a:noFill/>
          <a:ln>
            <a:noFill/>
          </a:ln>
        </p:spPr>
        <p:txBody>
          <a:bodyPr spcFirstLastPara="1" wrap="square" lIns="0" tIns="14785" rIns="0" bIns="0" anchor="t" anchorCtr="0">
            <a:noAutofit/>
          </a:bodyPr>
          <a:lstStyle/>
          <a:p>
            <a:pPr marL="15237">
              <a:buClr>
                <a:srgbClr val="000000"/>
              </a:buClr>
              <a:buSzPts val="1600"/>
            </a:pPr>
            <a:r>
              <a:rPr lang="en-IN" sz="1935" b="1" i="1" dirty="0">
                <a:solidFill>
                  <a:srgbClr val="CCCCCC"/>
                </a:solidFill>
                <a:latin typeface="Arial"/>
                <a:ea typeface="Arial"/>
                <a:cs typeface="Arial"/>
                <a:sym typeface="Arial"/>
              </a:rPr>
              <a:t>Results</a:t>
            </a:r>
            <a:endParaRPr sz="1935" dirty="0">
              <a:solidFill>
                <a:srgbClr val="000000"/>
              </a:solidFill>
              <a:latin typeface="Arial"/>
              <a:ea typeface="Arial"/>
              <a:cs typeface="Arial"/>
              <a:sym typeface="Arial"/>
            </a:endParaRPr>
          </a:p>
        </p:txBody>
      </p:sp>
      <p:sp>
        <p:nvSpPr>
          <p:cNvPr id="94" name="Google Shape;94;g2009b74a80d_0_138">
            <a:extLst>
              <a:ext uri="{FF2B5EF4-FFF2-40B4-BE49-F238E27FC236}">
                <a16:creationId xmlns:a16="http://schemas.microsoft.com/office/drawing/2014/main" id="{35C4CAD3-9A1C-B330-3028-F578F14A03B9}"/>
              </a:ext>
            </a:extLst>
          </p:cNvPr>
          <p:cNvSpPr/>
          <p:nvPr/>
        </p:nvSpPr>
        <p:spPr>
          <a:xfrm>
            <a:off x="10275331" y="87077"/>
            <a:ext cx="1531109" cy="306947"/>
          </a:xfrm>
          <a:prstGeom prst="rect">
            <a:avLst/>
          </a:prstGeom>
          <a:noFill/>
          <a:ln>
            <a:noFill/>
          </a:ln>
        </p:spPr>
        <p:txBody>
          <a:bodyPr spcFirstLastPara="1" wrap="square" lIns="0" tIns="14785" rIns="0" bIns="0" anchor="t" anchorCtr="0">
            <a:noAutofit/>
          </a:bodyPr>
          <a:lstStyle/>
          <a:p>
            <a:pPr marL="15237">
              <a:buClr>
                <a:srgbClr val="000000"/>
              </a:buClr>
              <a:buSzPts val="1600"/>
            </a:pPr>
            <a:r>
              <a:rPr lang="en-IN" sz="1935" b="1" i="1">
                <a:solidFill>
                  <a:srgbClr val="CCCCCC"/>
                </a:solidFill>
                <a:latin typeface="Arial"/>
                <a:ea typeface="Arial"/>
                <a:cs typeface="Arial"/>
                <a:sym typeface="Arial"/>
              </a:rPr>
              <a:t>Future Work</a:t>
            </a:r>
            <a:endParaRPr sz="1935">
              <a:solidFill>
                <a:srgbClr val="000000"/>
              </a:solidFill>
              <a:latin typeface="Arial"/>
              <a:ea typeface="Arial"/>
              <a:cs typeface="Arial"/>
              <a:sym typeface="Arial"/>
            </a:endParaRPr>
          </a:p>
        </p:txBody>
      </p:sp>
      <p:sp>
        <p:nvSpPr>
          <p:cNvPr id="95" name="Google Shape;95;g2009b74a80d_0_138">
            <a:extLst>
              <a:ext uri="{FF2B5EF4-FFF2-40B4-BE49-F238E27FC236}">
                <a16:creationId xmlns:a16="http://schemas.microsoft.com/office/drawing/2014/main" id="{A0F4BEB0-43DD-6C07-F471-C475D29A1DBF}"/>
              </a:ext>
            </a:extLst>
          </p:cNvPr>
          <p:cNvSpPr/>
          <p:nvPr/>
        </p:nvSpPr>
        <p:spPr>
          <a:xfrm>
            <a:off x="0" y="629409"/>
            <a:ext cx="12192000" cy="674486"/>
          </a:xfrm>
          <a:prstGeom prst="rect">
            <a:avLst/>
          </a:prstGeom>
          <a:noFill/>
          <a:ln>
            <a:noFill/>
          </a:ln>
        </p:spPr>
        <p:txBody>
          <a:bodyPr spcFirstLastPara="1" wrap="square" lIns="0" tIns="14785" rIns="0" bIns="0" anchor="ctr" anchorCtr="0">
            <a:noAutofit/>
          </a:bodyPr>
          <a:lstStyle/>
          <a:p>
            <a:pPr marL="15237" algn="ctr">
              <a:buClr>
                <a:srgbClr val="000000"/>
              </a:buClr>
              <a:buSzPts val="2800"/>
            </a:pPr>
            <a:r>
              <a:rPr lang="en-IN" sz="3200" b="1" dirty="0">
                <a:solidFill>
                  <a:srgbClr val="1F2ED4"/>
                </a:solidFill>
                <a:latin typeface="Arial"/>
                <a:ea typeface="Arial"/>
                <a:cs typeface="Arial"/>
                <a:sym typeface="Arial"/>
              </a:rPr>
              <a:t>Distance metric</a:t>
            </a:r>
            <a:endParaRPr sz="3200" dirty="0">
              <a:solidFill>
                <a:srgbClr val="000000"/>
              </a:solidFill>
              <a:latin typeface="Arial"/>
              <a:ea typeface="Arial"/>
              <a:cs typeface="Arial"/>
              <a:sym typeface="Arial"/>
            </a:endParaRPr>
          </a:p>
        </p:txBody>
      </p:sp>
      <p:sp>
        <p:nvSpPr>
          <p:cNvPr id="96" name="Google Shape;96;g2009b74a80d_0_138">
            <a:extLst>
              <a:ext uri="{FF2B5EF4-FFF2-40B4-BE49-F238E27FC236}">
                <a16:creationId xmlns:a16="http://schemas.microsoft.com/office/drawing/2014/main" id="{EA1D6994-4D93-4153-D9CD-07027B169428}"/>
              </a:ext>
            </a:extLst>
          </p:cNvPr>
          <p:cNvSpPr/>
          <p:nvPr/>
        </p:nvSpPr>
        <p:spPr>
          <a:xfrm>
            <a:off x="11493542" y="6356641"/>
            <a:ext cx="436112" cy="350486"/>
          </a:xfrm>
          <a:prstGeom prst="rect">
            <a:avLst/>
          </a:prstGeom>
          <a:noFill/>
          <a:ln>
            <a:noFill/>
          </a:ln>
        </p:spPr>
        <p:txBody>
          <a:bodyPr spcFirstLastPara="1" wrap="square" lIns="108847" tIns="54423" rIns="108847" bIns="54423" anchor="t" anchorCtr="0">
            <a:noAutofit/>
          </a:bodyPr>
          <a:lstStyle/>
          <a:p>
            <a:pPr>
              <a:buClr>
                <a:srgbClr val="000000"/>
              </a:buClr>
              <a:buSzPts val="1400"/>
            </a:pPr>
            <a:endParaRPr sz="1693">
              <a:solidFill>
                <a:srgbClr val="000000"/>
              </a:solidFill>
              <a:latin typeface="Arial"/>
              <a:ea typeface="Arial"/>
              <a:cs typeface="Arial"/>
              <a:sym typeface="Arial"/>
            </a:endParaRPr>
          </a:p>
        </p:txBody>
      </p:sp>
      <p:sp>
        <p:nvSpPr>
          <p:cNvPr id="97" name="Google Shape;97;g2009b74a80d_0_138">
            <a:extLst>
              <a:ext uri="{FF2B5EF4-FFF2-40B4-BE49-F238E27FC236}">
                <a16:creationId xmlns:a16="http://schemas.microsoft.com/office/drawing/2014/main" id="{133C23F4-6015-0EB5-F043-311BD07F5A11}"/>
              </a:ext>
            </a:extLst>
          </p:cNvPr>
          <p:cNvSpPr txBox="1">
            <a:spLocks noGrp="1"/>
          </p:cNvSpPr>
          <p:nvPr>
            <p:ph type="sldNum" idx="12"/>
          </p:nvPr>
        </p:nvSpPr>
        <p:spPr>
          <a:xfrm>
            <a:off x="11408860" y="6333135"/>
            <a:ext cx="731449" cy="525003"/>
          </a:xfrm>
          <a:prstGeom prst="rect">
            <a:avLst/>
          </a:prstGeom>
          <a:noFill/>
          <a:ln>
            <a:noFill/>
          </a:ln>
        </p:spPr>
        <p:txBody>
          <a:bodyPr spcFirstLastPara="1" vert="horz" wrap="square" lIns="110570" tIns="110570" rIns="110570" bIns="110570" rtlCol="0" anchor="t" anchorCtr="0">
            <a:noAutofit/>
          </a:bodyPr>
          <a:lstStyle/>
          <a:p>
            <a:pPr>
              <a:buSzPts val="1300"/>
            </a:pPr>
            <a:fld id="{00000000-1234-1234-1234-123412341234}" type="slidenum">
              <a:rPr lang="en-IN" smtClean="0"/>
              <a:pPr>
                <a:buSzPts val="1300"/>
              </a:pPr>
              <a:t>5</a:t>
            </a:fld>
            <a:r>
              <a:rPr lang="en-IN" dirty="0"/>
              <a:t>/9</a:t>
            </a:r>
            <a:endParaRPr dirty="0"/>
          </a:p>
        </p:txBody>
      </p:sp>
      <p:sp>
        <p:nvSpPr>
          <p:cNvPr id="3" name="TextBox 2">
            <a:extLst>
              <a:ext uri="{FF2B5EF4-FFF2-40B4-BE49-F238E27FC236}">
                <a16:creationId xmlns:a16="http://schemas.microsoft.com/office/drawing/2014/main" id="{FD4F4D2C-7695-AC4D-C9CB-ABD9638CED46}"/>
              </a:ext>
            </a:extLst>
          </p:cNvPr>
          <p:cNvSpPr txBox="1"/>
          <p:nvPr/>
        </p:nvSpPr>
        <p:spPr>
          <a:xfrm>
            <a:off x="273050" y="1720850"/>
            <a:ext cx="11656604" cy="3365024"/>
          </a:xfrm>
          <a:prstGeom prst="rect">
            <a:avLst/>
          </a:prstGeom>
          <a:noFill/>
        </p:spPr>
        <p:txBody>
          <a:bodyPr wrap="square" rtlCol="0">
            <a:spAutoFit/>
          </a:bodyPr>
          <a:lstStyle/>
          <a:p>
            <a:pPr marL="342900" indent="-342900">
              <a:lnSpc>
                <a:spcPct val="150000"/>
              </a:lnSpc>
              <a:buFontTx/>
              <a:buAutoNum type="arabicPeriod"/>
            </a:pPr>
            <a:r>
              <a:rPr lang="en-US" b="1" dirty="0" err="1">
                <a:latin typeface="Arial"/>
                <a:cs typeface="Arial"/>
                <a:sym typeface="Arial"/>
              </a:rPr>
              <a:t>Levenshtein</a:t>
            </a:r>
            <a:r>
              <a:rPr lang="en-US" b="1" dirty="0">
                <a:latin typeface="Arial"/>
                <a:cs typeface="Arial"/>
                <a:sym typeface="Arial"/>
              </a:rPr>
              <a:t>-Distance Score</a:t>
            </a:r>
            <a:r>
              <a:rPr lang="en-US" dirty="0">
                <a:latin typeface="Arial"/>
                <a:cs typeface="Arial"/>
                <a:sym typeface="Arial"/>
              </a:rPr>
              <a:t> (a DP, edit-based metric)</a:t>
            </a:r>
          </a:p>
          <a:p>
            <a:pPr marL="342900" indent="-342900">
              <a:lnSpc>
                <a:spcPct val="150000"/>
              </a:lnSpc>
              <a:buAutoNum type="arabicPeriod"/>
            </a:pPr>
            <a:endParaRPr lang="en-US" dirty="0">
              <a:latin typeface="Arial"/>
              <a:cs typeface="Arial"/>
              <a:sym typeface="Arial"/>
            </a:endParaRPr>
          </a:p>
          <a:p>
            <a:pPr lvl="1">
              <a:lnSpc>
                <a:spcPct val="150000"/>
              </a:lnSpc>
            </a:pPr>
            <a:endParaRPr lang="en-US" dirty="0">
              <a:latin typeface="Arial"/>
              <a:cs typeface="Arial"/>
              <a:sym typeface="Arial"/>
            </a:endParaRPr>
          </a:p>
          <a:p>
            <a:pPr lvl="1">
              <a:lnSpc>
                <a:spcPct val="150000"/>
              </a:lnSpc>
            </a:pPr>
            <a:endParaRPr lang="en-US" dirty="0">
              <a:latin typeface="Arial"/>
              <a:cs typeface="Arial"/>
              <a:sym typeface="Arial"/>
            </a:endParaRPr>
          </a:p>
          <a:p>
            <a:pPr lvl="1">
              <a:lnSpc>
                <a:spcPct val="150000"/>
              </a:lnSpc>
            </a:pPr>
            <a:endParaRPr lang="en-US" dirty="0">
              <a:latin typeface="Arial"/>
              <a:cs typeface="Arial"/>
              <a:sym typeface="Arial"/>
            </a:endParaRPr>
          </a:p>
          <a:p>
            <a:pPr lvl="1">
              <a:lnSpc>
                <a:spcPct val="150000"/>
              </a:lnSpc>
            </a:pPr>
            <a:endParaRPr lang="en-US" dirty="0">
              <a:latin typeface="Arial"/>
              <a:cs typeface="Arial"/>
              <a:sym typeface="Arial"/>
            </a:endParaRPr>
          </a:p>
          <a:p>
            <a:pPr lvl="1">
              <a:lnSpc>
                <a:spcPct val="150000"/>
              </a:lnSpc>
            </a:pPr>
            <a:endParaRPr lang="en-US" dirty="0">
              <a:latin typeface="Arial"/>
              <a:cs typeface="Arial"/>
              <a:sym typeface="Arial"/>
            </a:endParaRPr>
          </a:p>
          <a:p>
            <a:pPr marL="342900" indent="-342900">
              <a:lnSpc>
                <a:spcPct val="150000"/>
              </a:lnSpc>
              <a:buAutoNum type="arabicPeriod"/>
            </a:pPr>
            <a:r>
              <a:rPr lang="en-US" b="1" dirty="0">
                <a:latin typeface="Arial"/>
                <a:cs typeface="Arial"/>
                <a:sym typeface="Arial"/>
              </a:rPr>
              <a:t>Double-cut and Join Model</a:t>
            </a:r>
            <a:r>
              <a:rPr lang="en-US" dirty="0">
                <a:latin typeface="Arial"/>
                <a:cs typeface="Arial"/>
                <a:sym typeface="Arial"/>
              </a:rPr>
              <a:t> (a graph-based metric)</a:t>
            </a:r>
          </a:p>
        </p:txBody>
      </p:sp>
      <p:sp>
        <p:nvSpPr>
          <p:cNvPr id="2" name="Google Shape;388;g2762e187aa4_1_1348">
            <a:extLst>
              <a:ext uri="{FF2B5EF4-FFF2-40B4-BE49-F238E27FC236}">
                <a16:creationId xmlns:a16="http://schemas.microsoft.com/office/drawing/2014/main" id="{0E1ACA79-A862-6B4E-C606-9621D7A67839}"/>
              </a:ext>
            </a:extLst>
          </p:cNvPr>
          <p:cNvSpPr txBox="1"/>
          <p:nvPr/>
        </p:nvSpPr>
        <p:spPr>
          <a:xfrm>
            <a:off x="426892" y="6173731"/>
            <a:ext cx="10373904" cy="164920"/>
          </a:xfrm>
          <a:prstGeom prst="rect">
            <a:avLst/>
          </a:prstGeom>
          <a:noFill/>
          <a:ln>
            <a:noFill/>
          </a:ln>
        </p:spPr>
        <p:txBody>
          <a:bodyPr spcFirstLastPara="1" wrap="square" lIns="0" tIns="10925" rIns="0" bIns="0" anchor="t" anchorCtr="0">
            <a:spAutoFit/>
          </a:bodyPr>
          <a:lstStyle/>
          <a:p>
            <a:pPr marL="0" lvl="0" indent="0" algn="l" rtl="0">
              <a:lnSpc>
                <a:spcPct val="100000"/>
              </a:lnSpc>
              <a:spcBef>
                <a:spcPts val="0"/>
              </a:spcBef>
              <a:spcAft>
                <a:spcPts val="0"/>
              </a:spcAft>
              <a:buNone/>
            </a:pPr>
            <a:r>
              <a:rPr lang="en-US" sz="1000" dirty="0"/>
              <a:t>Shao, M., Lin, Y. and Moret, B.M.E., 2015. An exact algorithm to compute the double-cut-and-join distance for genomes with duplicate genes. </a:t>
            </a:r>
            <a:r>
              <a:rPr lang="en-US" sz="1000" i="1" dirty="0"/>
              <a:t>Journal of Computational Biology</a:t>
            </a:r>
            <a:r>
              <a:rPr lang="en-US" sz="1000" dirty="0"/>
              <a:t>, 22(5).</a:t>
            </a:r>
            <a:endParaRPr lang="en-IN" sz="1000" dirty="0"/>
          </a:p>
        </p:txBody>
      </p:sp>
      <p:sp>
        <p:nvSpPr>
          <p:cNvPr id="4" name="AutoShape 2" descr="{\displaystyle d_{a,b}(i,j)=\min {\begin{cases}0&amp;{\text{if }}i=j=0,\\d_{a,b}(i-1,j)+1&amp;{\text{if }}i&gt;0,\\d_{a,b}(i,j-1)+1&amp;{\text{if }}j&gt;0,\\d_{a,b}(i-1,j-1)+1_{(a_{i}\neq b_{j})}&amp;{\text{if }}i,j&gt;0,\\d_{a,b}(i-2,j-2)+1_{(a_{i}\neq b_{j})}&amp;{\text{if }}i,j&gt;1{\text{ and }}a_{i}=b_{j-1}{\text{ and }}a_{i-1}=b_{j},\\\end{cases}}}">
            <a:extLst>
              <a:ext uri="{FF2B5EF4-FFF2-40B4-BE49-F238E27FC236}">
                <a16:creationId xmlns:a16="http://schemas.microsoft.com/office/drawing/2014/main" id="{66B48714-B43A-A9FE-4E87-3F038C211A3E}"/>
              </a:ext>
            </a:extLst>
          </p:cNvPr>
          <p:cNvSpPr>
            <a:spLocks noChangeAspect="1" noChangeArrowheads="1"/>
          </p:cNvSpPr>
          <p:nvPr/>
        </p:nvSpPr>
        <p:spPr bwMode="auto">
          <a:xfrm>
            <a:off x="5943600" y="32766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pic>
        <p:nvPicPr>
          <p:cNvPr id="6" name="Picture 5">
            <a:extLst>
              <a:ext uri="{FF2B5EF4-FFF2-40B4-BE49-F238E27FC236}">
                <a16:creationId xmlns:a16="http://schemas.microsoft.com/office/drawing/2014/main" id="{82AE8108-FAD0-5F7A-7275-88999D8C3F60}"/>
              </a:ext>
            </a:extLst>
          </p:cNvPr>
          <p:cNvPicPr>
            <a:picLocks noChangeAspect="1"/>
          </p:cNvPicPr>
          <p:nvPr/>
        </p:nvPicPr>
        <p:blipFill>
          <a:blip r:embed="rId3"/>
          <a:stretch>
            <a:fillRect/>
          </a:stretch>
        </p:blipFill>
        <p:spPr>
          <a:xfrm>
            <a:off x="1668271" y="2615708"/>
            <a:ext cx="8550658" cy="1575308"/>
          </a:xfrm>
          <a:prstGeom prst="rect">
            <a:avLst/>
          </a:prstGeom>
        </p:spPr>
      </p:pic>
    </p:spTree>
    <p:extLst>
      <p:ext uri="{BB962C8B-B14F-4D97-AF65-F5344CB8AC3E}">
        <p14:creationId xmlns:p14="http://schemas.microsoft.com/office/powerpoint/2010/main" val="264103846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88">
          <a:extLst>
            <a:ext uri="{FF2B5EF4-FFF2-40B4-BE49-F238E27FC236}">
              <a16:creationId xmlns:a16="http://schemas.microsoft.com/office/drawing/2014/main" id="{94AA51F5-D2F2-E5D7-CFDC-12F5377B2F98}"/>
            </a:ext>
          </a:extLst>
        </p:cNvPr>
        <p:cNvGrpSpPr/>
        <p:nvPr/>
      </p:nvGrpSpPr>
      <p:grpSpPr>
        <a:xfrm>
          <a:off x="0" y="0"/>
          <a:ext cx="0" cy="0"/>
          <a:chOff x="0" y="0"/>
          <a:chExt cx="0" cy="0"/>
        </a:xfrm>
      </p:grpSpPr>
      <p:sp>
        <p:nvSpPr>
          <p:cNvPr id="89" name="Google Shape;89;g2009b74a80d_0_138">
            <a:extLst>
              <a:ext uri="{FF2B5EF4-FFF2-40B4-BE49-F238E27FC236}">
                <a16:creationId xmlns:a16="http://schemas.microsoft.com/office/drawing/2014/main" id="{AAA8969A-394B-A121-E9A8-287A79B865B5}"/>
              </a:ext>
            </a:extLst>
          </p:cNvPr>
          <p:cNvSpPr/>
          <p:nvPr/>
        </p:nvSpPr>
        <p:spPr>
          <a:xfrm>
            <a:off x="650" y="479360"/>
            <a:ext cx="12179286" cy="438"/>
          </a:xfrm>
          <a:custGeom>
            <a:avLst/>
            <a:gdLst/>
            <a:ahLst/>
            <a:cxnLst/>
            <a:rect l="l" t="t" r="r" b="b"/>
            <a:pathLst>
              <a:path w="10070465" h="1904" extrusionOk="0">
                <a:moveTo>
                  <a:pt x="0" y="0"/>
                </a:moveTo>
                <a:lnTo>
                  <a:pt x="10070084" y="1524"/>
                </a:lnTo>
              </a:path>
            </a:pathLst>
          </a:custGeom>
          <a:noFill/>
          <a:ln w="9525" cap="flat" cmpd="sng">
            <a:solidFill>
              <a:srgbClr val="000000"/>
            </a:solidFill>
            <a:prstDash val="solid"/>
            <a:round/>
            <a:headEnd type="none" w="sm" len="sm"/>
            <a:tailEnd type="none" w="sm" len="sm"/>
          </a:ln>
        </p:spPr>
      </p:sp>
      <p:sp>
        <p:nvSpPr>
          <p:cNvPr id="90" name="Google Shape;90;g2009b74a80d_0_138">
            <a:extLst>
              <a:ext uri="{FF2B5EF4-FFF2-40B4-BE49-F238E27FC236}">
                <a16:creationId xmlns:a16="http://schemas.microsoft.com/office/drawing/2014/main" id="{A1255975-1E98-A8C4-983D-65C192828709}"/>
              </a:ext>
            </a:extLst>
          </p:cNvPr>
          <p:cNvSpPr/>
          <p:nvPr/>
        </p:nvSpPr>
        <p:spPr>
          <a:xfrm>
            <a:off x="426892" y="86207"/>
            <a:ext cx="1576099" cy="306947"/>
          </a:xfrm>
          <a:prstGeom prst="rect">
            <a:avLst/>
          </a:prstGeom>
          <a:noFill/>
          <a:ln>
            <a:noFill/>
          </a:ln>
        </p:spPr>
        <p:txBody>
          <a:bodyPr spcFirstLastPara="1" wrap="square" lIns="0" tIns="14785" rIns="0" bIns="0" anchor="t" anchorCtr="0">
            <a:noAutofit/>
          </a:bodyPr>
          <a:lstStyle/>
          <a:p>
            <a:pPr marL="15237">
              <a:buClr>
                <a:srgbClr val="000000"/>
              </a:buClr>
              <a:buSzPts val="1600"/>
            </a:pPr>
            <a:r>
              <a:rPr lang="en-IN" sz="1935" b="1" i="1" dirty="0">
                <a:solidFill>
                  <a:srgbClr val="CCCCCC"/>
                </a:solidFill>
                <a:latin typeface="Arial"/>
                <a:ea typeface="Arial"/>
                <a:cs typeface="Arial"/>
                <a:sym typeface="Arial"/>
              </a:rPr>
              <a:t>Introduction</a:t>
            </a:r>
            <a:endParaRPr sz="1935" dirty="0">
              <a:solidFill>
                <a:srgbClr val="000000"/>
              </a:solidFill>
              <a:latin typeface="Arial"/>
              <a:ea typeface="Arial"/>
              <a:cs typeface="Arial"/>
              <a:sym typeface="Arial"/>
            </a:endParaRPr>
          </a:p>
        </p:txBody>
      </p:sp>
      <p:sp>
        <p:nvSpPr>
          <p:cNvPr id="91" name="Google Shape;91;g2009b74a80d_0_138">
            <a:extLst>
              <a:ext uri="{FF2B5EF4-FFF2-40B4-BE49-F238E27FC236}">
                <a16:creationId xmlns:a16="http://schemas.microsoft.com/office/drawing/2014/main" id="{3ED63F79-BC35-F83C-8C09-25123E25708A}"/>
              </a:ext>
            </a:extLst>
          </p:cNvPr>
          <p:cNvSpPr/>
          <p:nvPr/>
        </p:nvSpPr>
        <p:spPr>
          <a:xfrm>
            <a:off x="5224850" y="87077"/>
            <a:ext cx="1705263" cy="306947"/>
          </a:xfrm>
          <a:prstGeom prst="rect">
            <a:avLst/>
          </a:prstGeom>
          <a:noFill/>
          <a:ln>
            <a:noFill/>
          </a:ln>
        </p:spPr>
        <p:txBody>
          <a:bodyPr spcFirstLastPara="1" wrap="square" lIns="0" tIns="14785" rIns="0" bIns="0" anchor="t" anchorCtr="0">
            <a:noAutofit/>
          </a:bodyPr>
          <a:lstStyle/>
          <a:p>
            <a:pPr marL="15237">
              <a:buClr>
                <a:srgbClr val="000000"/>
              </a:buClr>
              <a:buSzPts val="1600"/>
            </a:pPr>
            <a:r>
              <a:rPr lang="en-IN" sz="1935" b="1" i="1" dirty="0">
                <a:solidFill>
                  <a:srgbClr val="666666"/>
                </a:solidFill>
                <a:latin typeface="Arial"/>
                <a:ea typeface="Arial"/>
                <a:cs typeface="Arial"/>
                <a:sym typeface="Arial"/>
              </a:rPr>
              <a:t>Methodology</a:t>
            </a:r>
            <a:endParaRPr sz="1935" dirty="0">
              <a:solidFill>
                <a:srgbClr val="000000"/>
              </a:solidFill>
              <a:latin typeface="Arial"/>
              <a:ea typeface="Arial"/>
              <a:cs typeface="Arial"/>
              <a:sym typeface="Arial"/>
            </a:endParaRPr>
          </a:p>
        </p:txBody>
      </p:sp>
      <p:sp>
        <p:nvSpPr>
          <p:cNvPr id="92" name="Google Shape;92;g2009b74a80d_0_138">
            <a:extLst>
              <a:ext uri="{FF2B5EF4-FFF2-40B4-BE49-F238E27FC236}">
                <a16:creationId xmlns:a16="http://schemas.microsoft.com/office/drawing/2014/main" id="{9CD2D997-194B-3ABD-0E0E-6E8D1E4F1F32}"/>
              </a:ext>
            </a:extLst>
          </p:cNvPr>
          <p:cNvSpPr/>
          <p:nvPr/>
        </p:nvSpPr>
        <p:spPr>
          <a:xfrm>
            <a:off x="2699609" y="87077"/>
            <a:ext cx="1739368" cy="306947"/>
          </a:xfrm>
          <a:prstGeom prst="rect">
            <a:avLst/>
          </a:prstGeom>
          <a:noFill/>
          <a:ln>
            <a:noFill/>
          </a:ln>
        </p:spPr>
        <p:txBody>
          <a:bodyPr spcFirstLastPara="1" wrap="square" lIns="0" tIns="14785" rIns="0" bIns="0" anchor="t" anchorCtr="0">
            <a:noAutofit/>
          </a:bodyPr>
          <a:lstStyle/>
          <a:p>
            <a:pPr marL="15237">
              <a:buClr>
                <a:srgbClr val="000000"/>
              </a:buClr>
              <a:buSzPts val="1600"/>
            </a:pPr>
            <a:r>
              <a:rPr lang="en-IN" sz="1935" b="1" i="1" dirty="0">
                <a:solidFill>
                  <a:srgbClr val="CCCCCC"/>
                </a:solidFill>
                <a:latin typeface="Arial"/>
                <a:ea typeface="Arial"/>
                <a:cs typeface="Arial"/>
                <a:sym typeface="Arial"/>
              </a:rPr>
              <a:t>Specific  Aims</a:t>
            </a:r>
            <a:endParaRPr sz="1935" dirty="0">
              <a:solidFill>
                <a:srgbClr val="000000"/>
              </a:solidFill>
              <a:latin typeface="Arial"/>
              <a:ea typeface="Arial"/>
              <a:cs typeface="Arial"/>
              <a:sym typeface="Arial"/>
            </a:endParaRPr>
          </a:p>
        </p:txBody>
      </p:sp>
      <p:sp>
        <p:nvSpPr>
          <p:cNvPr id="93" name="Google Shape;93;g2009b74a80d_0_138">
            <a:extLst>
              <a:ext uri="{FF2B5EF4-FFF2-40B4-BE49-F238E27FC236}">
                <a16:creationId xmlns:a16="http://schemas.microsoft.com/office/drawing/2014/main" id="{A2A3A862-D236-0BB1-29B7-50D65C9953B4}"/>
              </a:ext>
            </a:extLst>
          </p:cNvPr>
          <p:cNvSpPr/>
          <p:nvPr/>
        </p:nvSpPr>
        <p:spPr>
          <a:xfrm>
            <a:off x="8132360" y="87077"/>
            <a:ext cx="1531109" cy="306947"/>
          </a:xfrm>
          <a:prstGeom prst="rect">
            <a:avLst/>
          </a:prstGeom>
          <a:noFill/>
          <a:ln>
            <a:noFill/>
          </a:ln>
        </p:spPr>
        <p:txBody>
          <a:bodyPr spcFirstLastPara="1" wrap="square" lIns="0" tIns="14785" rIns="0" bIns="0" anchor="t" anchorCtr="0">
            <a:noAutofit/>
          </a:bodyPr>
          <a:lstStyle/>
          <a:p>
            <a:pPr marL="15237">
              <a:buClr>
                <a:srgbClr val="000000"/>
              </a:buClr>
              <a:buSzPts val="1600"/>
            </a:pPr>
            <a:r>
              <a:rPr lang="en-IN" sz="1935" b="1" i="1" dirty="0">
                <a:solidFill>
                  <a:srgbClr val="CCCCCC"/>
                </a:solidFill>
                <a:latin typeface="Arial"/>
                <a:ea typeface="Arial"/>
                <a:cs typeface="Arial"/>
                <a:sym typeface="Arial"/>
              </a:rPr>
              <a:t>Results</a:t>
            </a:r>
            <a:endParaRPr sz="1935" dirty="0">
              <a:solidFill>
                <a:srgbClr val="000000"/>
              </a:solidFill>
              <a:latin typeface="Arial"/>
              <a:ea typeface="Arial"/>
              <a:cs typeface="Arial"/>
              <a:sym typeface="Arial"/>
            </a:endParaRPr>
          </a:p>
        </p:txBody>
      </p:sp>
      <p:sp>
        <p:nvSpPr>
          <p:cNvPr id="94" name="Google Shape;94;g2009b74a80d_0_138">
            <a:extLst>
              <a:ext uri="{FF2B5EF4-FFF2-40B4-BE49-F238E27FC236}">
                <a16:creationId xmlns:a16="http://schemas.microsoft.com/office/drawing/2014/main" id="{E81F2831-7223-7968-C377-6DC48F3EC17F}"/>
              </a:ext>
            </a:extLst>
          </p:cNvPr>
          <p:cNvSpPr/>
          <p:nvPr/>
        </p:nvSpPr>
        <p:spPr>
          <a:xfrm>
            <a:off x="10275331" y="87077"/>
            <a:ext cx="1531109" cy="306947"/>
          </a:xfrm>
          <a:prstGeom prst="rect">
            <a:avLst/>
          </a:prstGeom>
          <a:noFill/>
          <a:ln>
            <a:noFill/>
          </a:ln>
        </p:spPr>
        <p:txBody>
          <a:bodyPr spcFirstLastPara="1" wrap="square" lIns="0" tIns="14785" rIns="0" bIns="0" anchor="t" anchorCtr="0">
            <a:noAutofit/>
          </a:bodyPr>
          <a:lstStyle/>
          <a:p>
            <a:pPr marL="15237">
              <a:buClr>
                <a:srgbClr val="000000"/>
              </a:buClr>
              <a:buSzPts val="1600"/>
            </a:pPr>
            <a:r>
              <a:rPr lang="en-IN" sz="1935" b="1" i="1">
                <a:solidFill>
                  <a:srgbClr val="CCCCCC"/>
                </a:solidFill>
                <a:latin typeface="Arial"/>
                <a:ea typeface="Arial"/>
                <a:cs typeface="Arial"/>
                <a:sym typeface="Arial"/>
              </a:rPr>
              <a:t>Future Work</a:t>
            </a:r>
            <a:endParaRPr sz="1935">
              <a:solidFill>
                <a:srgbClr val="000000"/>
              </a:solidFill>
              <a:latin typeface="Arial"/>
              <a:ea typeface="Arial"/>
              <a:cs typeface="Arial"/>
              <a:sym typeface="Arial"/>
            </a:endParaRPr>
          </a:p>
        </p:txBody>
      </p:sp>
      <p:sp>
        <p:nvSpPr>
          <p:cNvPr id="95" name="Google Shape;95;g2009b74a80d_0_138">
            <a:extLst>
              <a:ext uri="{FF2B5EF4-FFF2-40B4-BE49-F238E27FC236}">
                <a16:creationId xmlns:a16="http://schemas.microsoft.com/office/drawing/2014/main" id="{4372BB63-8AA8-C3BE-1BF0-EC070D126887}"/>
              </a:ext>
            </a:extLst>
          </p:cNvPr>
          <p:cNvSpPr/>
          <p:nvPr/>
        </p:nvSpPr>
        <p:spPr>
          <a:xfrm>
            <a:off x="0" y="629409"/>
            <a:ext cx="12192000" cy="674486"/>
          </a:xfrm>
          <a:prstGeom prst="rect">
            <a:avLst/>
          </a:prstGeom>
          <a:noFill/>
          <a:ln>
            <a:noFill/>
          </a:ln>
        </p:spPr>
        <p:txBody>
          <a:bodyPr spcFirstLastPara="1" wrap="square" lIns="0" tIns="14785" rIns="0" bIns="0" anchor="ctr" anchorCtr="0">
            <a:noAutofit/>
          </a:bodyPr>
          <a:lstStyle/>
          <a:p>
            <a:pPr marL="15237" algn="ctr">
              <a:buClr>
                <a:srgbClr val="000000"/>
              </a:buClr>
              <a:buSzPts val="2800"/>
            </a:pPr>
            <a:r>
              <a:rPr lang="en-IN" sz="3200" b="1" dirty="0">
                <a:solidFill>
                  <a:srgbClr val="1F2ED4"/>
                </a:solidFill>
                <a:latin typeface="Arial"/>
                <a:ea typeface="Arial"/>
                <a:cs typeface="Arial"/>
                <a:sym typeface="Arial"/>
              </a:rPr>
              <a:t>Target-sequence lengths</a:t>
            </a:r>
            <a:endParaRPr sz="3200" dirty="0">
              <a:solidFill>
                <a:srgbClr val="000000"/>
              </a:solidFill>
              <a:latin typeface="Arial"/>
              <a:ea typeface="Arial"/>
              <a:cs typeface="Arial"/>
              <a:sym typeface="Arial"/>
            </a:endParaRPr>
          </a:p>
        </p:txBody>
      </p:sp>
      <p:sp>
        <p:nvSpPr>
          <p:cNvPr id="96" name="Google Shape;96;g2009b74a80d_0_138">
            <a:extLst>
              <a:ext uri="{FF2B5EF4-FFF2-40B4-BE49-F238E27FC236}">
                <a16:creationId xmlns:a16="http://schemas.microsoft.com/office/drawing/2014/main" id="{6268AF57-ABFE-599C-3A93-F614659AAC55}"/>
              </a:ext>
            </a:extLst>
          </p:cNvPr>
          <p:cNvSpPr/>
          <p:nvPr/>
        </p:nvSpPr>
        <p:spPr>
          <a:xfrm>
            <a:off x="11493542" y="6356641"/>
            <a:ext cx="436112" cy="350486"/>
          </a:xfrm>
          <a:prstGeom prst="rect">
            <a:avLst/>
          </a:prstGeom>
          <a:noFill/>
          <a:ln>
            <a:noFill/>
          </a:ln>
        </p:spPr>
        <p:txBody>
          <a:bodyPr spcFirstLastPara="1" wrap="square" lIns="108847" tIns="54423" rIns="108847" bIns="54423" anchor="t" anchorCtr="0">
            <a:noAutofit/>
          </a:bodyPr>
          <a:lstStyle/>
          <a:p>
            <a:pPr>
              <a:buClr>
                <a:srgbClr val="000000"/>
              </a:buClr>
              <a:buSzPts val="1400"/>
            </a:pPr>
            <a:endParaRPr sz="1693">
              <a:solidFill>
                <a:srgbClr val="000000"/>
              </a:solidFill>
              <a:latin typeface="Arial"/>
              <a:ea typeface="Arial"/>
              <a:cs typeface="Arial"/>
              <a:sym typeface="Arial"/>
            </a:endParaRPr>
          </a:p>
        </p:txBody>
      </p:sp>
      <p:sp>
        <p:nvSpPr>
          <p:cNvPr id="97" name="Google Shape;97;g2009b74a80d_0_138">
            <a:extLst>
              <a:ext uri="{FF2B5EF4-FFF2-40B4-BE49-F238E27FC236}">
                <a16:creationId xmlns:a16="http://schemas.microsoft.com/office/drawing/2014/main" id="{89741DBF-4AD4-E81F-F9C7-39F7B8BE7A18}"/>
              </a:ext>
            </a:extLst>
          </p:cNvPr>
          <p:cNvSpPr txBox="1">
            <a:spLocks noGrp="1"/>
          </p:cNvSpPr>
          <p:nvPr>
            <p:ph type="sldNum" idx="12"/>
          </p:nvPr>
        </p:nvSpPr>
        <p:spPr>
          <a:xfrm>
            <a:off x="11408860" y="6333135"/>
            <a:ext cx="731449" cy="525003"/>
          </a:xfrm>
          <a:prstGeom prst="rect">
            <a:avLst/>
          </a:prstGeom>
          <a:noFill/>
          <a:ln>
            <a:noFill/>
          </a:ln>
        </p:spPr>
        <p:txBody>
          <a:bodyPr spcFirstLastPara="1" vert="horz" wrap="square" lIns="110570" tIns="110570" rIns="110570" bIns="110570" rtlCol="0" anchor="t" anchorCtr="0">
            <a:noAutofit/>
          </a:bodyPr>
          <a:lstStyle/>
          <a:p>
            <a:pPr>
              <a:buSzPts val="1300"/>
            </a:pPr>
            <a:fld id="{00000000-1234-1234-1234-123412341234}" type="slidenum">
              <a:rPr lang="en-IN" smtClean="0"/>
              <a:pPr>
                <a:buSzPts val="1300"/>
              </a:pPr>
              <a:t>6</a:t>
            </a:fld>
            <a:r>
              <a:rPr lang="en-IN" dirty="0"/>
              <a:t>/9</a:t>
            </a:r>
          </a:p>
        </p:txBody>
      </p:sp>
      <p:sp>
        <p:nvSpPr>
          <p:cNvPr id="3" name="TextBox 2">
            <a:extLst>
              <a:ext uri="{FF2B5EF4-FFF2-40B4-BE49-F238E27FC236}">
                <a16:creationId xmlns:a16="http://schemas.microsoft.com/office/drawing/2014/main" id="{3FA6C815-A644-664F-04C3-EA8C6C372162}"/>
              </a:ext>
            </a:extLst>
          </p:cNvPr>
          <p:cNvSpPr txBox="1"/>
          <p:nvPr/>
        </p:nvSpPr>
        <p:spPr>
          <a:xfrm>
            <a:off x="273050" y="1720850"/>
            <a:ext cx="11656604" cy="3780522"/>
          </a:xfrm>
          <a:prstGeom prst="rect">
            <a:avLst/>
          </a:prstGeom>
          <a:noFill/>
        </p:spPr>
        <p:txBody>
          <a:bodyPr wrap="square" rtlCol="0">
            <a:spAutoFit/>
          </a:bodyPr>
          <a:lstStyle/>
          <a:p>
            <a:pPr marL="285750" indent="-285750">
              <a:lnSpc>
                <a:spcPct val="150000"/>
              </a:lnSpc>
              <a:buFontTx/>
              <a:buChar char="-"/>
            </a:pPr>
            <a:r>
              <a:rPr lang="en-US" dirty="0">
                <a:latin typeface="Arial"/>
                <a:cs typeface="Arial"/>
                <a:sym typeface="Arial"/>
              </a:rPr>
              <a:t>Regions between gene sequences are at most around 10 bases long, barring the TSS-regulatory region.</a:t>
            </a:r>
          </a:p>
          <a:p>
            <a:pPr marL="285750" indent="-285750">
              <a:lnSpc>
                <a:spcPct val="150000"/>
              </a:lnSpc>
              <a:buFontTx/>
              <a:buChar char="-"/>
            </a:pPr>
            <a:r>
              <a:rPr lang="en-US" dirty="0">
                <a:latin typeface="Arial"/>
                <a:cs typeface="Arial"/>
                <a:sym typeface="Arial"/>
              </a:rPr>
              <a:t>Smallest known translocation in mitochondrial genomes (one such example) is between two </a:t>
            </a:r>
            <a:r>
              <a:rPr lang="en-US" i="1" dirty="0">
                <a:latin typeface="Arial"/>
                <a:cs typeface="Arial"/>
                <a:sym typeface="Arial"/>
              </a:rPr>
              <a:t>adjacent</a:t>
            </a:r>
            <a:r>
              <a:rPr lang="en-US" dirty="0">
                <a:latin typeface="Arial"/>
                <a:cs typeface="Arial"/>
                <a:sym typeface="Arial"/>
              </a:rPr>
              <a:t> TRNAs genes coding for Isoleucine (</a:t>
            </a:r>
            <a:r>
              <a:rPr lang="en-US" dirty="0" err="1">
                <a:latin typeface="Arial"/>
                <a:cs typeface="Arial"/>
                <a:sym typeface="Arial"/>
              </a:rPr>
              <a:t>TrnI</a:t>
            </a:r>
            <a:r>
              <a:rPr lang="en-US" dirty="0">
                <a:latin typeface="Arial"/>
                <a:cs typeface="Arial"/>
                <a:sym typeface="Arial"/>
              </a:rPr>
              <a:t>) and Glutamine (</a:t>
            </a:r>
            <a:r>
              <a:rPr lang="en-US" dirty="0" err="1">
                <a:latin typeface="Arial"/>
                <a:cs typeface="Arial"/>
                <a:sym typeface="Arial"/>
              </a:rPr>
              <a:t>TrnQ</a:t>
            </a:r>
            <a:r>
              <a:rPr lang="en-US" dirty="0">
                <a:latin typeface="Arial"/>
                <a:cs typeface="Arial"/>
                <a:sym typeface="Arial"/>
              </a:rPr>
              <a:t>) seen in lizards and closely-related species</a:t>
            </a:r>
          </a:p>
          <a:p>
            <a:pPr marL="285750" indent="-285750">
              <a:lnSpc>
                <a:spcPct val="150000"/>
              </a:lnSpc>
              <a:buFontTx/>
              <a:buChar char="-"/>
            </a:pPr>
            <a:r>
              <a:rPr lang="en-US" dirty="0">
                <a:latin typeface="Arial"/>
                <a:cs typeface="Arial"/>
                <a:sym typeface="Arial"/>
              </a:rPr>
              <a:t>It made sense to take around 20-30 base pairs on either side since the TRNA genes are usually about 60 bases long. </a:t>
            </a:r>
          </a:p>
          <a:p>
            <a:pPr marL="285750" indent="-285750">
              <a:lnSpc>
                <a:spcPct val="150000"/>
              </a:lnSpc>
              <a:buFontTx/>
              <a:buChar char="-"/>
            </a:pPr>
            <a:r>
              <a:rPr lang="en-US" dirty="0">
                <a:latin typeface="Arial"/>
                <a:cs typeface="Arial"/>
                <a:sym typeface="Arial"/>
              </a:rPr>
              <a:t>Any longer of a sequence may bring in unwanted motifs (‘noise’)</a:t>
            </a:r>
          </a:p>
          <a:p>
            <a:pPr>
              <a:lnSpc>
                <a:spcPct val="150000"/>
              </a:lnSpc>
            </a:pPr>
            <a:endParaRPr lang="en-US" dirty="0">
              <a:latin typeface="Arial"/>
              <a:cs typeface="Arial"/>
              <a:sym typeface="Arial"/>
            </a:endParaRPr>
          </a:p>
          <a:p>
            <a:pPr>
              <a:lnSpc>
                <a:spcPct val="150000"/>
              </a:lnSpc>
            </a:pPr>
            <a:endParaRPr lang="en-US" dirty="0">
              <a:latin typeface="Arial"/>
              <a:cs typeface="Arial"/>
              <a:sym typeface="Arial"/>
            </a:endParaRPr>
          </a:p>
          <a:p>
            <a:pPr>
              <a:lnSpc>
                <a:spcPct val="150000"/>
              </a:lnSpc>
            </a:pPr>
            <a:r>
              <a:rPr lang="en-US" dirty="0">
                <a:latin typeface="Arial"/>
                <a:cs typeface="Arial"/>
                <a:sym typeface="Arial"/>
              </a:rPr>
              <a:t>Short target sequence lengths result in further problems (elaborated further on the next slide)</a:t>
            </a:r>
          </a:p>
        </p:txBody>
      </p:sp>
      <p:sp>
        <p:nvSpPr>
          <p:cNvPr id="2" name="Google Shape;388;g2762e187aa4_1_1348">
            <a:extLst>
              <a:ext uri="{FF2B5EF4-FFF2-40B4-BE49-F238E27FC236}">
                <a16:creationId xmlns:a16="http://schemas.microsoft.com/office/drawing/2014/main" id="{BF51E21E-EFAB-37C8-7617-E82C668C25C9}"/>
              </a:ext>
            </a:extLst>
          </p:cNvPr>
          <p:cNvSpPr txBox="1"/>
          <p:nvPr/>
        </p:nvSpPr>
        <p:spPr>
          <a:xfrm>
            <a:off x="426892" y="6173731"/>
            <a:ext cx="10373904" cy="318808"/>
          </a:xfrm>
          <a:prstGeom prst="rect">
            <a:avLst/>
          </a:prstGeom>
          <a:noFill/>
          <a:ln>
            <a:noFill/>
          </a:ln>
        </p:spPr>
        <p:txBody>
          <a:bodyPr spcFirstLastPara="1" wrap="square" lIns="0" tIns="10925" rIns="0" bIns="0" anchor="t" anchorCtr="0">
            <a:spAutoFit/>
          </a:bodyPr>
          <a:lstStyle/>
          <a:p>
            <a:pPr marL="0" lvl="0" indent="0" algn="l" rtl="0">
              <a:lnSpc>
                <a:spcPct val="100000"/>
              </a:lnSpc>
              <a:spcBef>
                <a:spcPts val="0"/>
              </a:spcBef>
              <a:spcAft>
                <a:spcPts val="0"/>
              </a:spcAft>
              <a:buNone/>
            </a:pPr>
            <a:r>
              <a:rPr lang="en-IN" sz="1000" dirty="0"/>
              <a:t>Boore, J.L. (1999) Animal mitochondrial genomes. Nucleic Acids Res., 27, 1767–1780. </a:t>
            </a:r>
          </a:p>
          <a:p>
            <a:pPr marL="0" lvl="0" indent="0" algn="l" rtl="0">
              <a:lnSpc>
                <a:spcPct val="100000"/>
              </a:lnSpc>
              <a:spcBef>
                <a:spcPts val="0"/>
              </a:spcBef>
              <a:spcAft>
                <a:spcPts val="0"/>
              </a:spcAft>
              <a:buNone/>
            </a:pPr>
            <a:r>
              <a:rPr lang="en-IN" sz="1000" dirty="0" err="1"/>
              <a:t>Macey,J.R</a:t>
            </a:r>
            <a:r>
              <a:rPr lang="en-IN" sz="1000" dirty="0"/>
              <a:t>., </a:t>
            </a:r>
            <a:r>
              <a:rPr lang="en-IN" sz="1000" dirty="0" err="1"/>
              <a:t>Larson,A</a:t>
            </a:r>
            <a:r>
              <a:rPr lang="en-IN" sz="1000" dirty="0"/>
              <a:t>., </a:t>
            </a:r>
            <a:r>
              <a:rPr lang="en-IN" sz="1000" dirty="0" err="1"/>
              <a:t>Ananjeva,N.B</a:t>
            </a:r>
            <a:r>
              <a:rPr lang="en-IN" sz="1000" dirty="0"/>
              <a:t>. and </a:t>
            </a:r>
            <a:r>
              <a:rPr lang="en-IN" sz="1000" dirty="0" err="1"/>
              <a:t>Papenfuss,T</a:t>
            </a:r>
            <a:r>
              <a:rPr lang="en-IN" sz="1000" dirty="0"/>
              <a:t>. (1997) Evolutionary shifts in three major structural features of the mitochondrial genome among iguanian lizards. J. Mol. </a:t>
            </a:r>
            <a:r>
              <a:rPr lang="en-IN" sz="1000" dirty="0" err="1"/>
              <a:t>Evol</a:t>
            </a:r>
            <a:r>
              <a:rPr lang="en-IN" sz="1000" dirty="0"/>
              <a:t>., 44, 660–674.</a:t>
            </a:r>
          </a:p>
        </p:txBody>
      </p:sp>
    </p:spTree>
    <p:extLst>
      <p:ext uri="{BB962C8B-B14F-4D97-AF65-F5344CB8AC3E}">
        <p14:creationId xmlns:p14="http://schemas.microsoft.com/office/powerpoint/2010/main" val="73828028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88">
          <a:extLst>
            <a:ext uri="{FF2B5EF4-FFF2-40B4-BE49-F238E27FC236}">
              <a16:creationId xmlns:a16="http://schemas.microsoft.com/office/drawing/2014/main" id="{D255F871-7068-7099-51FF-5E054F22F29D}"/>
            </a:ext>
          </a:extLst>
        </p:cNvPr>
        <p:cNvGrpSpPr/>
        <p:nvPr/>
      </p:nvGrpSpPr>
      <p:grpSpPr>
        <a:xfrm>
          <a:off x="0" y="0"/>
          <a:ext cx="0" cy="0"/>
          <a:chOff x="0" y="0"/>
          <a:chExt cx="0" cy="0"/>
        </a:xfrm>
      </p:grpSpPr>
      <p:sp>
        <p:nvSpPr>
          <p:cNvPr id="89" name="Google Shape;89;g2009b74a80d_0_138">
            <a:extLst>
              <a:ext uri="{FF2B5EF4-FFF2-40B4-BE49-F238E27FC236}">
                <a16:creationId xmlns:a16="http://schemas.microsoft.com/office/drawing/2014/main" id="{215DD7BE-B7C1-DD38-2F25-D9A5AA0366FA}"/>
              </a:ext>
            </a:extLst>
          </p:cNvPr>
          <p:cNvSpPr/>
          <p:nvPr/>
        </p:nvSpPr>
        <p:spPr>
          <a:xfrm>
            <a:off x="650" y="479360"/>
            <a:ext cx="12179286" cy="438"/>
          </a:xfrm>
          <a:custGeom>
            <a:avLst/>
            <a:gdLst/>
            <a:ahLst/>
            <a:cxnLst/>
            <a:rect l="l" t="t" r="r" b="b"/>
            <a:pathLst>
              <a:path w="10070465" h="1904" extrusionOk="0">
                <a:moveTo>
                  <a:pt x="0" y="0"/>
                </a:moveTo>
                <a:lnTo>
                  <a:pt x="10070084" y="1524"/>
                </a:lnTo>
              </a:path>
            </a:pathLst>
          </a:custGeom>
          <a:noFill/>
          <a:ln w="9525" cap="flat" cmpd="sng">
            <a:solidFill>
              <a:srgbClr val="000000"/>
            </a:solidFill>
            <a:prstDash val="solid"/>
            <a:round/>
            <a:headEnd type="none" w="sm" len="sm"/>
            <a:tailEnd type="none" w="sm" len="sm"/>
          </a:ln>
        </p:spPr>
      </p:sp>
      <p:sp>
        <p:nvSpPr>
          <p:cNvPr id="90" name="Google Shape;90;g2009b74a80d_0_138">
            <a:extLst>
              <a:ext uri="{FF2B5EF4-FFF2-40B4-BE49-F238E27FC236}">
                <a16:creationId xmlns:a16="http://schemas.microsoft.com/office/drawing/2014/main" id="{1B6EE6F7-D46F-EEE8-EFCC-14C1312A0507}"/>
              </a:ext>
            </a:extLst>
          </p:cNvPr>
          <p:cNvSpPr/>
          <p:nvPr/>
        </p:nvSpPr>
        <p:spPr>
          <a:xfrm>
            <a:off x="426892" y="86207"/>
            <a:ext cx="1576099" cy="306947"/>
          </a:xfrm>
          <a:prstGeom prst="rect">
            <a:avLst/>
          </a:prstGeom>
          <a:noFill/>
          <a:ln>
            <a:noFill/>
          </a:ln>
        </p:spPr>
        <p:txBody>
          <a:bodyPr spcFirstLastPara="1" wrap="square" lIns="0" tIns="14785" rIns="0" bIns="0" anchor="t" anchorCtr="0">
            <a:noAutofit/>
          </a:bodyPr>
          <a:lstStyle/>
          <a:p>
            <a:pPr marL="15237">
              <a:buClr>
                <a:srgbClr val="000000"/>
              </a:buClr>
              <a:buSzPts val="1600"/>
            </a:pPr>
            <a:r>
              <a:rPr lang="en-IN" sz="1935" b="1" i="1" dirty="0">
                <a:solidFill>
                  <a:srgbClr val="CCCCCC"/>
                </a:solidFill>
                <a:latin typeface="Arial"/>
                <a:ea typeface="Arial"/>
                <a:cs typeface="Arial"/>
                <a:sym typeface="Arial"/>
              </a:rPr>
              <a:t>Introduction</a:t>
            </a:r>
            <a:endParaRPr sz="1935" dirty="0">
              <a:solidFill>
                <a:srgbClr val="000000"/>
              </a:solidFill>
              <a:latin typeface="Arial"/>
              <a:ea typeface="Arial"/>
              <a:cs typeface="Arial"/>
              <a:sym typeface="Arial"/>
            </a:endParaRPr>
          </a:p>
        </p:txBody>
      </p:sp>
      <p:sp>
        <p:nvSpPr>
          <p:cNvPr id="91" name="Google Shape;91;g2009b74a80d_0_138">
            <a:extLst>
              <a:ext uri="{FF2B5EF4-FFF2-40B4-BE49-F238E27FC236}">
                <a16:creationId xmlns:a16="http://schemas.microsoft.com/office/drawing/2014/main" id="{D279EDA4-723E-C356-9631-A10F195BCB84}"/>
              </a:ext>
            </a:extLst>
          </p:cNvPr>
          <p:cNvSpPr/>
          <p:nvPr/>
        </p:nvSpPr>
        <p:spPr>
          <a:xfrm>
            <a:off x="5224850" y="87077"/>
            <a:ext cx="1705263" cy="306947"/>
          </a:xfrm>
          <a:prstGeom prst="rect">
            <a:avLst/>
          </a:prstGeom>
          <a:noFill/>
          <a:ln>
            <a:noFill/>
          </a:ln>
        </p:spPr>
        <p:txBody>
          <a:bodyPr spcFirstLastPara="1" wrap="square" lIns="0" tIns="14785" rIns="0" bIns="0" anchor="t" anchorCtr="0">
            <a:noAutofit/>
          </a:bodyPr>
          <a:lstStyle/>
          <a:p>
            <a:pPr marL="15237">
              <a:buClr>
                <a:srgbClr val="000000"/>
              </a:buClr>
              <a:buSzPts val="1600"/>
            </a:pPr>
            <a:r>
              <a:rPr lang="en-IN" sz="1935" b="1" i="1" dirty="0">
                <a:solidFill>
                  <a:srgbClr val="666666"/>
                </a:solidFill>
                <a:latin typeface="Arial"/>
                <a:ea typeface="Arial"/>
                <a:cs typeface="Arial"/>
                <a:sym typeface="Arial"/>
              </a:rPr>
              <a:t>Methodology</a:t>
            </a:r>
            <a:endParaRPr sz="1935" dirty="0">
              <a:solidFill>
                <a:srgbClr val="000000"/>
              </a:solidFill>
              <a:latin typeface="Arial"/>
              <a:ea typeface="Arial"/>
              <a:cs typeface="Arial"/>
              <a:sym typeface="Arial"/>
            </a:endParaRPr>
          </a:p>
        </p:txBody>
      </p:sp>
      <p:sp>
        <p:nvSpPr>
          <p:cNvPr id="92" name="Google Shape;92;g2009b74a80d_0_138">
            <a:extLst>
              <a:ext uri="{FF2B5EF4-FFF2-40B4-BE49-F238E27FC236}">
                <a16:creationId xmlns:a16="http://schemas.microsoft.com/office/drawing/2014/main" id="{41A5FAB0-BA96-8B82-4771-0370560391FE}"/>
              </a:ext>
            </a:extLst>
          </p:cNvPr>
          <p:cNvSpPr/>
          <p:nvPr/>
        </p:nvSpPr>
        <p:spPr>
          <a:xfrm>
            <a:off x="2699609" y="87077"/>
            <a:ext cx="1739368" cy="306947"/>
          </a:xfrm>
          <a:prstGeom prst="rect">
            <a:avLst/>
          </a:prstGeom>
          <a:noFill/>
          <a:ln>
            <a:noFill/>
          </a:ln>
        </p:spPr>
        <p:txBody>
          <a:bodyPr spcFirstLastPara="1" wrap="square" lIns="0" tIns="14785" rIns="0" bIns="0" anchor="t" anchorCtr="0">
            <a:noAutofit/>
          </a:bodyPr>
          <a:lstStyle/>
          <a:p>
            <a:pPr marL="15237">
              <a:buClr>
                <a:srgbClr val="000000"/>
              </a:buClr>
              <a:buSzPts val="1600"/>
            </a:pPr>
            <a:r>
              <a:rPr lang="en-IN" sz="1935" b="1" i="1" dirty="0">
                <a:solidFill>
                  <a:srgbClr val="CCCCCC"/>
                </a:solidFill>
                <a:latin typeface="Arial"/>
                <a:ea typeface="Arial"/>
                <a:cs typeface="Arial"/>
                <a:sym typeface="Arial"/>
              </a:rPr>
              <a:t>Specific  Aims</a:t>
            </a:r>
            <a:endParaRPr sz="1935" dirty="0">
              <a:solidFill>
                <a:srgbClr val="000000"/>
              </a:solidFill>
              <a:latin typeface="Arial"/>
              <a:ea typeface="Arial"/>
              <a:cs typeface="Arial"/>
              <a:sym typeface="Arial"/>
            </a:endParaRPr>
          </a:p>
        </p:txBody>
      </p:sp>
      <p:sp>
        <p:nvSpPr>
          <p:cNvPr id="93" name="Google Shape;93;g2009b74a80d_0_138">
            <a:extLst>
              <a:ext uri="{FF2B5EF4-FFF2-40B4-BE49-F238E27FC236}">
                <a16:creationId xmlns:a16="http://schemas.microsoft.com/office/drawing/2014/main" id="{CD016097-3C4D-2F4B-6F5D-B45B8B036DF8}"/>
              </a:ext>
            </a:extLst>
          </p:cNvPr>
          <p:cNvSpPr/>
          <p:nvPr/>
        </p:nvSpPr>
        <p:spPr>
          <a:xfrm>
            <a:off x="8132360" y="87077"/>
            <a:ext cx="1531109" cy="306947"/>
          </a:xfrm>
          <a:prstGeom prst="rect">
            <a:avLst/>
          </a:prstGeom>
          <a:noFill/>
          <a:ln>
            <a:noFill/>
          </a:ln>
        </p:spPr>
        <p:txBody>
          <a:bodyPr spcFirstLastPara="1" wrap="square" lIns="0" tIns="14785" rIns="0" bIns="0" anchor="t" anchorCtr="0">
            <a:noAutofit/>
          </a:bodyPr>
          <a:lstStyle/>
          <a:p>
            <a:pPr marL="15237">
              <a:buClr>
                <a:srgbClr val="000000"/>
              </a:buClr>
              <a:buSzPts val="1600"/>
            </a:pPr>
            <a:r>
              <a:rPr lang="en-IN" sz="1935" b="1" i="1" dirty="0">
                <a:solidFill>
                  <a:srgbClr val="CCCCCC"/>
                </a:solidFill>
                <a:latin typeface="Arial"/>
                <a:ea typeface="Arial"/>
                <a:cs typeface="Arial"/>
                <a:sym typeface="Arial"/>
              </a:rPr>
              <a:t>Results</a:t>
            </a:r>
            <a:endParaRPr sz="1935" dirty="0">
              <a:solidFill>
                <a:srgbClr val="000000"/>
              </a:solidFill>
              <a:latin typeface="Arial"/>
              <a:ea typeface="Arial"/>
              <a:cs typeface="Arial"/>
              <a:sym typeface="Arial"/>
            </a:endParaRPr>
          </a:p>
        </p:txBody>
      </p:sp>
      <p:sp>
        <p:nvSpPr>
          <p:cNvPr id="94" name="Google Shape;94;g2009b74a80d_0_138">
            <a:extLst>
              <a:ext uri="{FF2B5EF4-FFF2-40B4-BE49-F238E27FC236}">
                <a16:creationId xmlns:a16="http://schemas.microsoft.com/office/drawing/2014/main" id="{591753E1-EC4F-68BB-B442-0B18D185A5F9}"/>
              </a:ext>
            </a:extLst>
          </p:cNvPr>
          <p:cNvSpPr/>
          <p:nvPr/>
        </p:nvSpPr>
        <p:spPr>
          <a:xfrm>
            <a:off x="10275331" y="87077"/>
            <a:ext cx="1531109" cy="306947"/>
          </a:xfrm>
          <a:prstGeom prst="rect">
            <a:avLst/>
          </a:prstGeom>
          <a:noFill/>
          <a:ln>
            <a:noFill/>
          </a:ln>
        </p:spPr>
        <p:txBody>
          <a:bodyPr spcFirstLastPara="1" wrap="square" lIns="0" tIns="14785" rIns="0" bIns="0" anchor="t" anchorCtr="0">
            <a:noAutofit/>
          </a:bodyPr>
          <a:lstStyle/>
          <a:p>
            <a:pPr marL="15237">
              <a:buClr>
                <a:srgbClr val="000000"/>
              </a:buClr>
              <a:buSzPts val="1600"/>
            </a:pPr>
            <a:r>
              <a:rPr lang="en-IN" sz="1935" b="1" i="1">
                <a:solidFill>
                  <a:srgbClr val="CCCCCC"/>
                </a:solidFill>
                <a:latin typeface="Arial"/>
                <a:ea typeface="Arial"/>
                <a:cs typeface="Arial"/>
                <a:sym typeface="Arial"/>
              </a:rPr>
              <a:t>Future Work</a:t>
            </a:r>
            <a:endParaRPr sz="1935">
              <a:solidFill>
                <a:srgbClr val="000000"/>
              </a:solidFill>
              <a:latin typeface="Arial"/>
              <a:ea typeface="Arial"/>
              <a:cs typeface="Arial"/>
              <a:sym typeface="Arial"/>
            </a:endParaRPr>
          </a:p>
        </p:txBody>
      </p:sp>
      <p:sp>
        <p:nvSpPr>
          <p:cNvPr id="95" name="Google Shape;95;g2009b74a80d_0_138">
            <a:extLst>
              <a:ext uri="{FF2B5EF4-FFF2-40B4-BE49-F238E27FC236}">
                <a16:creationId xmlns:a16="http://schemas.microsoft.com/office/drawing/2014/main" id="{32125DA0-9579-1962-9B14-9BF0AB4C2250}"/>
              </a:ext>
            </a:extLst>
          </p:cNvPr>
          <p:cNvSpPr/>
          <p:nvPr/>
        </p:nvSpPr>
        <p:spPr>
          <a:xfrm>
            <a:off x="0" y="629409"/>
            <a:ext cx="12192000" cy="674486"/>
          </a:xfrm>
          <a:prstGeom prst="rect">
            <a:avLst/>
          </a:prstGeom>
          <a:noFill/>
          <a:ln>
            <a:noFill/>
          </a:ln>
        </p:spPr>
        <p:txBody>
          <a:bodyPr spcFirstLastPara="1" wrap="square" lIns="0" tIns="14785" rIns="0" bIns="0" anchor="ctr" anchorCtr="0">
            <a:noAutofit/>
          </a:bodyPr>
          <a:lstStyle/>
          <a:p>
            <a:pPr marL="15237" algn="ctr">
              <a:buClr>
                <a:srgbClr val="000000"/>
              </a:buClr>
              <a:buSzPts val="2800"/>
            </a:pPr>
            <a:r>
              <a:rPr lang="en-IN" sz="3200" b="1" dirty="0">
                <a:solidFill>
                  <a:srgbClr val="1F2ED4"/>
                </a:solidFill>
                <a:latin typeface="Arial"/>
                <a:ea typeface="Arial"/>
                <a:cs typeface="Arial"/>
                <a:sym typeface="Arial"/>
              </a:rPr>
              <a:t>Constructing motif vectors for these obtained sequences</a:t>
            </a:r>
            <a:endParaRPr sz="3200" dirty="0">
              <a:solidFill>
                <a:srgbClr val="000000"/>
              </a:solidFill>
              <a:latin typeface="Arial"/>
              <a:ea typeface="Arial"/>
              <a:cs typeface="Arial"/>
              <a:sym typeface="Arial"/>
            </a:endParaRPr>
          </a:p>
        </p:txBody>
      </p:sp>
      <p:sp>
        <p:nvSpPr>
          <p:cNvPr id="96" name="Google Shape;96;g2009b74a80d_0_138">
            <a:extLst>
              <a:ext uri="{FF2B5EF4-FFF2-40B4-BE49-F238E27FC236}">
                <a16:creationId xmlns:a16="http://schemas.microsoft.com/office/drawing/2014/main" id="{C36703CE-DA7E-4825-96F3-E6D1F40B46FA}"/>
              </a:ext>
            </a:extLst>
          </p:cNvPr>
          <p:cNvSpPr/>
          <p:nvPr/>
        </p:nvSpPr>
        <p:spPr>
          <a:xfrm>
            <a:off x="11493542" y="6356641"/>
            <a:ext cx="436112" cy="350486"/>
          </a:xfrm>
          <a:prstGeom prst="rect">
            <a:avLst/>
          </a:prstGeom>
          <a:noFill/>
          <a:ln>
            <a:noFill/>
          </a:ln>
        </p:spPr>
        <p:txBody>
          <a:bodyPr spcFirstLastPara="1" wrap="square" lIns="108847" tIns="54423" rIns="108847" bIns="54423" anchor="t" anchorCtr="0">
            <a:noAutofit/>
          </a:bodyPr>
          <a:lstStyle/>
          <a:p>
            <a:pPr>
              <a:buClr>
                <a:srgbClr val="000000"/>
              </a:buClr>
              <a:buSzPts val="1400"/>
            </a:pPr>
            <a:endParaRPr sz="1693">
              <a:solidFill>
                <a:srgbClr val="000000"/>
              </a:solidFill>
              <a:latin typeface="Arial"/>
              <a:ea typeface="Arial"/>
              <a:cs typeface="Arial"/>
              <a:sym typeface="Arial"/>
            </a:endParaRPr>
          </a:p>
        </p:txBody>
      </p:sp>
      <p:sp>
        <p:nvSpPr>
          <p:cNvPr id="97" name="Google Shape;97;g2009b74a80d_0_138">
            <a:extLst>
              <a:ext uri="{FF2B5EF4-FFF2-40B4-BE49-F238E27FC236}">
                <a16:creationId xmlns:a16="http://schemas.microsoft.com/office/drawing/2014/main" id="{5F18CCC2-7736-1FAC-9283-36A39A9E8951}"/>
              </a:ext>
            </a:extLst>
          </p:cNvPr>
          <p:cNvSpPr txBox="1">
            <a:spLocks noGrp="1"/>
          </p:cNvSpPr>
          <p:nvPr>
            <p:ph type="sldNum" idx="12"/>
          </p:nvPr>
        </p:nvSpPr>
        <p:spPr>
          <a:xfrm>
            <a:off x="11408860" y="6333135"/>
            <a:ext cx="731449" cy="525003"/>
          </a:xfrm>
          <a:prstGeom prst="rect">
            <a:avLst/>
          </a:prstGeom>
          <a:noFill/>
          <a:ln>
            <a:noFill/>
          </a:ln>
        </p:spPr>
        <p:txBody>
          <a:bodyPr spcFirstLastPara="1" vert="horz" wrap="square" lIns="110570" tIns="110570" rIns="110570" bIns="110570" rtlCol="0" anchor="t" anchorCtr="0">
            <a:noAutofit/>
          </a:bodyPr>
          <a:lstStyle/>
          <a:p>
            <a:pPr>
              <a:buSzPts val="1300"/>
            </a:pPr>
            <a:fld id="{00000000-1234-1234-1234-123412341234}" type="slidenum">
              <a:rPr lang="en-IN" smtClean="0"/>
              <a:pPr>
                <a:buSzPts val="1300"/>
              </a:pPr>
              <a:t>7</a:t>
            </a:fld>
            <a:r>
              <a:rPr lang="en-IN" dirty="0"/>
              <a:t>/9</a:t>
            </a:r>
            <a:endParaRPr dirty="0"/>
          </a:p>
        </p:txBody>
      </p:sp>
      <p:sp>
        <p:nvSpPr>
          <p:cNvPr id="3" name="TextBox 2">
            <a:extLst>
              <a:ext uri="{FF2B5EF4-FFF2-40B4-BE49-F238E27FC236}">
                <a16:creationId xmlns:a16="http://schemas.microsoft.com/office/drawing/2014/main" id="{F6126F6B-F1AE-44C6-AD3F-4D3E8EDA2D4C}"/>
              </a:ext>
            </a:extLst>
          </p:cNvPr>
          <p:cNvSpPr txBox="1"/>
          <p:nvPr/>
        </p:nvSpPr>
        <p:spPr>
          <a:xfrm>
            <a:off x="273050" y="1720850"/>
            <a:ext cx="11656604" cy="1703030"/>
          </a:xfrm>
          <a:prstGeom prst="rect">
            <a:avLst/>
          </a:prstGeom>
          <a:noFill/>
        </p:spPr>
        <p:txBody>
          <a:bodyPr wrap="square" rtlCol="0">
            <a:spAutoFit/>
          </a:bodyPr>
          <a:lstStyle/>
          <a:p>
            <a:pPr marL="285750" indent="-285750">
              <a:lnSpc>
                <a:spcPct val="150000"/>
              </a:lnSpc>
              <a:buFontTx/>
              <a:buChar char="-"/>
            </a:pPr>
            <a:r>
              <a:rPr lang="en-US" dirty="0">
                <a:latin typeface="Arial"/>
                <a:cs typeface="Arial"/>
                <a:sym typeface="Arial"/>
              </a:rPr>
              <a:t>For a sequence length of 30 bases, if we were to construct a 5-mer vector of length 512 for this sequence, we would end up with only about 512-30+1 non-zero entries in this vector</a:t>
            </a:r>
          </a:p>
          <a:p>
            <a:pPr marL="285750" indent="-285750">
              <a:lnSpc>
                <a:spcPct val="150000"/>
              </a:lnSpc>
              <a:buFontTx/>
              <a:buChar char="-"/>
            </a:pPr>
            <a:r>
              <a:rPr lang="en-US" dirty="0">
                <a:latin typeface="Arial"/>
                <a:cs typeface="Arial"/>
                <a:sym typeface="Arial"/>
              </a:rPr>
              <a:t>Most of the whole vectors will therefore have a high correlation with each other owing to multiple entries being zeroes.</a:t>
            </a:r>
          </a:p>
        </p:txBody>
      </p:sp>
    </p:spTree>
    <p:extLst>
      <p:ext uri="{BB962C8B-B14F-4D97-AF65-F5344CB8AC3E}">
        <p14:creationId xmlns:p14="http://schemas.microsoft.com/office/powerpoint/2010/main" val="374744253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88">
          <a:extLst>
            <a:ext uri="{FF2B5EF4-FFF2-40B4-BE49-F238E27FC236}">
              <a16:creationId xmlns:a16="http://schemas.microsoft.com/office/drawing/2014/main" id="{28DAC2BC-A694-0337-B1E0-1182C9C8FCF1}"/>
            </a:ext>
          </a:extLst>
        </p:cNvPr>
        <p:cNvGrpSpPr/>
        <p:nvPr/>
      </p:nvGrpSpPr>
      <p:grpSpPr>
        <a:xfrm>
          <a:off x="0" y="0"/>
          <a:ext cx="0" cy="0"/>
          <a:chOff x="0" y="0"/>
          <a:chExt cx="0" cy="0"/>
        </a:xfrm>
      </p:grpSpPr>
      <p:sp>
        <p:nvSpPr>
          <p:cNvPr id="89" name="Google Shape;89;g2009b74a80d_0_138">
            <a:extLst>
              <a:ext uri="{FF2B5EF4-FFF2-40B4-BE49-F238E27FC236}">
                <a16:creationId xmlns:a16="http://schemas.microsoft.com/office/drawing/2014/main" id="{B6372CD2-AD9A-A7F9-7B40-2815AD0F9C13}"/>
              </a:ext>
            </a:extLst>
          </p:cNvPr>
          <p:cNvSpPr/>
          <p:nvPr/>
        </p:nvSpPr>
        <p:spPr>
          <a:xfrm>
            <a:off x="650" y="479360"/>
            <a:ext cx="12179286" cy="438"/>
          </a:xfrm>
          <a:custGeom>
            <a:avLst/>
            <a:gdLst/>
            <a:ahLst/>
            <a:cxnLst/>
            <a:rect l="l" t="t" r="r" b="b"/>
            <a:pathLst>
              <a:path w="10070465" h="1904" extrusionOk="0">
                <a:moveTo>
                  <a:pt x="0" y="0"/>
                </a:moveTo>
                <a:lnTo>
                  <a:pt x="10070084" y="1524"/>
                </a:lnTo>
              </a:path>
            </a:pathLst>
          </a:custGeom>
          <a:noFill/>
          <a:ln w="9525" cap="flat" cmpd="sng">
            <a:solidFill>
              <a:srgbClr val="000000"/>
            </a:solidFill>
            <a:prstDash val="solid"/>
            <a:round/>
            <a:headEnd type="none" w="sm" len="sm"/>
            <a:tailEnd type="none" w="sm" len="sm"/>
          </a:ln>
        </p:spPr>
      </p:sp>
      <p:sp>
        <p:nvSpPr>
          <p:cNvPr id="90" name="Google Shape;90;g2009b74a80d_0_138">
            <a:extLst>
              <a:ext uri="{FF2B5EF4-FFF2-40B4-BE49-F238E27FC236}">
                <a16:creationId xmlns:a16="http://schemas.microsoft.com/office/drawing/2014/main" id="{C27301E8-B29B-FC84-3CC8-25FD70E59637}"/>
              </a:ext>
            </a:extLst>
          </p:cNvPr>
          <p:cNvSpPr/>
          <p:nvPr/>
        </p:nvSpPr>
        <p:spPr>
          <a:xfrm>
            <a:off x="426892" y="86207"/>
            <a:ext cx="1576099" cy="306947"/>
          </a:xfrm>
          <a:prstGeom prst="rect">
            <a:avLst/>
          </a:prstGeom>
          <a:noFill/>
          <a:ln>
            <a:noFill/>
          </a:ln>
        </p:spPr>
        <p:txBody>
          <a:bodyPr spcFirstLastPara="1" wrap="square" lIns="0" tIns="14785" rIns="0" bIns="0" anchor="t" anchorCtr="0">
            <a:noAutofit/>
          </a:bodyPr>
          <a:lstStyle/>
          <a:p>
            <a:pPr marL="15237">
              <a:buClr>
                <a:srgbClr val="000000"/>
              </a:buClr>
              <a:buSzPts val="1600"/>
            </a:pPr>
            <a:r>
              <a:rPr lang="en-IN" sz="1935" b="1" i="1" dirty="0">
                <a:solidFill>
                  <a:srgbClr val="CCCCCC"/>
                </a:solidFill>
                <a:latin typeface="Arial"/>
                <a:ea typeface="Arial"/>
                <a:cs typeface="Arial"/>
                <a:sym typeface="Arial"/>
              </a:rPr>
              <a:t>Introduction</a:t>
            </a:r>
            <a:endParaRPr sz="1935" dirty="0">
              <a:solidFill>
                <a:srgbClr val="000000"/>
              </a:solidFill>
              <a:latin typeface="Arial"/>
              <a:ea typeface="Arial"/>
              <a:cs typeface="Arial"/>
              <a:sym typeface="Arial"/>
            </a:endParaRPr>
          </a:p>
        </p:txBody>
      </p:sp>
      <p:sp>
        <p:nvSpPr>
          <p:cNvPr id="91" name="Google Shape;91;g2009b74a80d_0_138">
            <a:extLst>
              <a:ext uri="{FF2B5EF4-FFF2-40B4-BE49-F238E27FC236}">
                <a16:creationId xmlns:a16="http://schemas.microsoft.com/office/drawing/2014/main" id="{DF1E40C9-663F-A4C5-6359-F977DB6B348C}"/>
              </a:ext>
            </a:extLst>
          </p:cNvPr>
          <p:cNvSpPr/>
          <p:nvPr/>
        </p:nvSpPr>
        <p:spPr>
          <a:xfrm>
            <a:off x="5224850" y="87077"/>
            <a:ext cx="1705263" cy="306947"/>
          </a:xfrm>
          <a:prstGeom prst="rect">
            <a:avLst/>
          </a:prstGeom>
          <a:noFill/>
          <a:ln>
            <a:noFill/>
          </a:ln>
        </p:spPr>
        <p:txBody>
          <a:bodyPr spcFirstLastPara="1" wrap="square" lIns="0" tIns="14785" rIns="0" bIns="0" anchor="t" anchorCtr="0">
            <a:noAutofit/>
          </a:bodyPr>
          <a:lstStyle/>
          <a:p>
            <a:pPr marL="15237">
              <a:buClr>
                <a:srgbClr val="000000"/>
              </a:buClr>
              <a:buSzPts val="1600"/>
            </a:pPr>
            <a:r>
              <a:rPr lang="en-IN" sz="1935" b="1" i="1" dirty="0">
                <a:solidFill>
                  <a:srgbClr val="666666"/>
                </a:solidFill>
                <a:latin typeface="Arial"/>
                <a:ea typeface="Arial"/>
                <a:cs typeface="Arial"/>
                <a:sym typeface="Arial"/>
              </a:rPr>
              <a:t>Methodology</a:t>
            </a:r>
            <a:endParaRPr sz="1935" dirty="0">
              <a:solidFill>
                <a:srgbClr val="000000"/>
              </a:solidFill>
              <a:latin typeface="Arial"/>
              <a:ea typeface="Arial"/>
              <a:cs typeface="Arial"/>
              <a:sym typeface="Arial"/>
            </a:endParaRPr>
          </a:p>
        </p:txBody>
      </p:sp>
      <p:sp>
        <p:nvSpPr>
          <p:cNvPr id="92" name="Google Shape;92;g2009b74a80d_0_138">
            <a:extLst>
              <a:ext uri="{FF2B5EF4-FFF2-40B4-BE49-F238E27FC236}">
                <a16:creationId xmlns:a16="http://schemas.microsoft.com/office/drawing/2014/main" id="{F6CDFB86-DF47-ACA3-66CB-C7E5D57A3C8E}"/>
              </a:ext>
            </a:extLst>
          </p:cNvPr>
          <p:cNvSpPr/>
          <p:nvPr/>
        </p:nvSpPr>
        <p:spPr>
          <a:xfrm>
            <a:off x="2699609" y="87077"/>
            <a:ext cx="1739368" cy="306947"/>
          </a:xfrm>
          <a:prstGeom prst="rect">
            <a:avLst/>
          </a:prstGeom>
          <a:noFill/>
          <a:ln>
            <a:noFill/>
          </a:ln>
        </p:spPr>
        <p:txBody>
          <a:bodyPr spcFirstLastPara="1" wrap="square" lIns="0" tIns="14785" rIns="0" bIns="0" anchor="t" anchorCtr="0">
            <a:noAutofit/>
          </a:bodyPr>
          <a:lstStyle/>
          <a:p>
            <a:pPr marL="15237">
              <a:buClr>
                <a:srgbClr val="000000"/>
              </a:buClr>
              <a:buSzPts val="1600"/>
            </a:pPr>
            <a:r>
              <a:rPr lang="en-IN" sz="1935" b="1" i="1" dirty="0">
                <a:solidFill>
                  <a:srgbClr val="CCCCCC"/>
                </a:solidFill>
                <a:latin typeface="Arial"/>
                <a:ea typeface="Arial"/>
                <a:cs typeface="Arial"/>
                <a:sym typeface="Arial"/>
              </a:rPr>
              <a:t>Specific  Aims</a:t>
            </a:r>
            <a:endParaRPr sz="1935" dirty="0">
              <a:solidFill>
                <a:srgbClr val="000000"/>
              </a:solidFill>
              <a:latin typeface="Arial"/>
              <a:ea typeface="Arial"/>
              <a:cs typeface="Arial"/>
              <a:sym typeface="Arial"/>
            </a:endParaRPr>
          </a:p>
        </p:txBody>
      </p:sp>
      <p:sp>
        <p:nvSpPr>
          <p:cNvPr id="93" name="Google Shape;93;g2009b74a80d_0_138">
            <a:extLst>
              <a:ext uri="{FF2B5EF4-FFF2-40B4-BE49-F238E27FC236}">
                <a16:creationId xmlns:a16="http://schemas.microsoft.com/office/drawing/2014/main" id="{43CAAA75-1713-036E-D918-C2712642C91D}"/>
              </a:ext>
            </a:extLst>
          </p:cNvPr>
          <p:cNvSpPr/>
          <p:nvPr/>
        </p:nvSpPr>
        <p:spPr>
          <a:xfrm>
            <a:off x="8132360" y="87077"/>
            <a:ext cx="1531109" cy="306947"/>
          </a:xfrm>
          <a:prstGeom prst="rect">
            <a:avLst/>
          </a:prstGeom>
          <a:noFill/>
          <a:ln>
            <a:noFill/>
          </a:ln>
        </p:spPr>
        <p:txBody>
          <a:bodyPr spcFirstLastPara="1" wrap="square" lIns="0" tIns="14785" rIns="0" bIns="0" anchor="t" anchorCtr="0">
            <a:noAutofit/>
          </a:bodyPr>
          <a:lstStyle/>
          <a:p>
            <a:pPr marL="15237">
              <a:buClr>
                <a:srgbClr val="000000"/>
              </a:buClr>
              <a:buSzPts val="1600"/>
            </a:pPr>
            <a:r>
              <a:rPr lang="en-IN" sz="1935" b="1" i="1" dirty="0">
                <a:solidFill>
                  <a:srgbClr val="CCCCCC"/>
                </a:solidFill>
                <a:latin typeface="Arial"/>
                <a:ea typeface="Arial"/>
                <a:cs typeface="Arial"/>
                <a:sym typeface="Arial"/>
              </a:rPr>
              <a:t>Results</a:t>
            </a:r>
            <a:endParaRPr sz="1935" dirty="0">
              <a:solidFill>
                <a:srgbClr val="000000"/>
              </a:solidFill>
              <a:latin typeface="Arial"/>
              <a:ea typeface="Arial"/>
              <a:cs typeface="Arial"/>
              <a:sym typeface="Arial"/>
            </a:endParaRPr>
          </a:p>
        </p:txBody>
      </p:sp>
      <p:sp>
        <p:nvSpPr>
          <p:cNvPr id="94" name="Google Shape;94;g2009b74a80d_0_138">
            <a:extLst>
              <a:ext uri="{FF2B5EF4-FFF2-40B4-BE49-F238E27FC236}">
                <a16:creationId xmlns:a16="http://schemas.microsoft.com/office/drawing/2014/main" id="{9C1B9624-CA1B-181D-A849-58C444B8748B}"/>
              </a:ext>
            </a:extLst>
          </p:cNvPr>
          <p:cNvSpPr/>
          <p:nvPr/>
        </p:nvSpPr>
        <p:spPr>
          <a:xfrm>
            <a:off x="10275331" y="87077"/>
            <a:ext cx="1531109" cy="306947"/>
          </a:xfrm>
          <a:prstGeom prst="rect">
            <a:avLst/>
          </a:prstGeom>
          <a:noFill/>
          <a:ln>
            <a:noFill/>
          </a:ln>
        </p:spPr>
        <p:txBody>
          <a:bodyPr spcFirstLastPara="1" wrap="square" lIns="0" tIns="14785" rIns="0" bIns="0" anchor="t" anchorCtr="0">
            <a:noAutofit/>
          </a:bodyPr>
          <a:lstStyle/>
          <a:p>
            <a:pPr marL="15237">
              <a:buClr>
                <a:srgbClr val="000000"/>
              </a:buClr>
              <a:buSzPts val="1600"/>
            </a:pPr>
            <a:r>
              <a:rPr lang="en-IN" sz="1935" b="1" i="1">
                <a:solidFill>
                  <a:srgbClr val="CCCCCC"/>
                </a:solidFill>
                <a:latin typeface="Arial"/>
                <a:ea typeface="Arial"/>
                <a:cs typeface="Arial"/>
                <a:sym typeface="Arial"/>
              </a:rPr>
              <a:t>Future Work</a:t>
            </a:r>
            <a:endParaRPr sz="1935">
              <a:solidFill>
                <a:srgbClr val="000000"/>
              </a:solidFill>
              <a:latin typeface="Arial"/>
              <a:ea typeface="Arial"/>
              <a:cs typeface="Arial"/>
              <a:sym typeface="Arial"/>
            </a:endParaRPr>
          </a:p>
        </p:txBody>
      </p:sp>
      <p:sp>
        <p:nvSpPr>
          <p:cNvPr id="95" name="Google Shape;95;g2009b74a80d_0_138">
            <a:extLst>
              <a:ext uri="{FF2B5EF4-FFF2-40B4-BE49-F238E27FC236}">
                <a16:creationId xmlns:a16="http://schemas.microsoft.com/office/drawing/2014/main" id="{F27F0783-4334-F489-B93B-F2F28FA30438}"/>
              </a:ext>
            </a:extLst>
          </p:cNvPr>
          <p:cNvSpPr/>
          <p:nvPr/>
        </p:nvSpPr>
        <p:spPr>
          <a:xfrm>
            <a:off x="0" y="629409"/>
            <a:ext cx="12192000" cy="674486"/>
          </a:xfrm>
          <a:prstGeom prst="rect">
            <a:avLst/>
          </a:prstGeom>
          <a:noFill/>
          <a:ln>
            <a:noFill/>
          </a:ln>
        </p:spPr>
        <p:txBody>
          <a:bodyPr spcFirstLastPara="1" wrap="square" lIns="0" tIns="14785" rIns="0" bIns="0" anchor="ctr" anchorCtr="0">
            <a:noAutofit/>
          </a:bodyPr>
          <a:lstStyle/>
          <a:p>
            <a:pPr marL="15237" algn="ctr">
              <a:buClr>
                <a:srgbClr val="000000"/>
              </a:buClr>
              <a:buSzPts val="2800"/>
            </a:pPr>
            <a:r>
              <a:rPr lang="en-IN" sz="3200" b="1" dirty="0">
                <a:solidFill>
                  <a:srgbClr val="1F2ED4"/>
                </a:solidFill>
                <a:latin typeface="Arial"/>
                <a:ea typeface="Arial"/>
                <a:cs typeface="Arial"/>
                <a:sym typeface="Arial"/>
              </a:rPr>
              <a:t>Correlations between vectors?</a:t>
            </a:r>
            <a:endParaRPr sz="3200" dirty="0">
              <a:solidFill>
                <a:srgbClr val="000000"/>
              </a:solidFill>
              <a:latin typeface="Arial"/>
              <a:ea typeface="Arial"/>
              <a:cs typeface="Arial"/>
              <a:sym typeface="Arial"/>
            </a:endParaRPr>
          </a:p>
        </p:txBody>
      </p:sp>
      <p:sp>
        <p:nvSpPr>
          <p:cNvPr id="96" name="Google Shape;96;g2009b74a80d_0_138">
            <a:extLst>
              <a:ext uri="{FF2B5EF4-FFF2-40B4-BE49-F238E27FC236}">
                <a16:creationId xmlns:a16="http://schemas.microsoft.com/office/drawing/2014/main" id="{B83A4CD0-3744-A7EA-2625-A0C02A0E5E73}"/>
              </a:ext>
            </a:extLst>
          </p:cNvPr>
          <p:cNvSpPr/>
          <p:nvPr/>
        </p:nvSpPr>
        <p:spPr>
          <a:xfrm>
            <a:off x="11493542" y="6356641"/>
            <a:ext cx="436112" cy="350486"/>
          </a:xfrm>
          <a:prstGeom prst="rect">
            <a:avLst/>
          </a:prstGeom>
          <a:noFill/>
          <a:ln>
            <a:noFill/>
          </a:ln>
        </p:spPr>
        <p:txBody>
          <a:bodyPr spcFirstLastPara="1" wrap="square" lIns="108847" tIns="54423" rIns="108847" bIns="54423" anchor="t" anchorCtr="0">
            <a:noAutofit/>
          </a:bodyPr>
          <a:lstStyle/>
          <a:p>
            <a:pPr>
              <a:buClr>
                <a:srgbClr val="000000"/>
              </a:buClr>
              <a:buSzPts val="1400"/>
            </a:pPr>
            <a:endParaRPr sz="1693">
              <a:solidFill>
                <a:srgbClr val="000000"/>
              </a:solidFill>
              <a:latin typeface="Arial"/>
              <a:ea typeface="Arial"/>
              <a:cs typeface="Arial"/>
              <a:sym typeface="Arial"/>
            </a:endParaRPr>
          </a:p>
        </p:txBody>
      </p:sp>
      <p:sp>
        <p:nvSpPr>
          <p:cNvPr id="97" name="Google Shape;97;g2009b74a80d_0_138">
            <a:extLst>
              <a:ext uri="{FF2B5EF4-FFF2-40B4-BE49-F238E27FC236}">
                <a16:creationId xmlns:a16="http://schemas.microsoft.com/office/drawing/2014/main" id="{FC2C4B9D-EDB9-E1C5-8AB3-4B18C1F1BFD3}"/>
              </a:ext>
            </a:extLst>
          </p:cNvPr>
          <p:cNvSpPr txBox="1">
            <a:spLocks noGrp="1"/>
          </p:cNvSpPr>
          <p:nvPr>
            <p:ph type="sldNum" idx="12"/>
          </p:nvPr>
        </p:nvSpPr>
        <p:spPr>
          <a:xfrm>
            <a:off x="11408860" y="6333135"/>
            <a:ext cx="731449" cy="525003"/>
          </a:xfrm>
          <a:prstGeom prst="rect">
            <a:avLst/>
          </a:prstGeom>
          <a:noFill/>
          <a:ln>
            <a:noFill/>
          </a:ln>
        </p:spPr>
        <p:txBody>
          <a:bodyPr spcFirstLastPara="1" vert="horz" wrap="square" lIns="110570" tIns="110570" rIns="110570" bIns="110570" rtlCol="0" anchor="t" anchorCtr="0">
            <a:noAutofit/>
          </a:bodyPr>
          <a:lstStyle/>
          <a:p>
            <a:pPr>
              <a:buSzPts val="1300"/>
            </a:pPr>
            <a:fld id="{00000000-1234-1234-1234-123412341234}" type="slidenum">
              <a:rPr lang="en-IN" smtClean="0"/>
              <a:pPr>
                <a:buSzPts val="1300"/>
              </a:pPr>
              <a:t>8</a:t>
            </a:fld>
            <a:r>
              <a:rPr lang="en-IN" dirty="0"/>
              <a:t>/9</a:t>
            </a:r>
            <a:endParaRPr dirty="0"/>
          </a:p>
        </p:txBody>
      </p:sp>
      <p:sp>
        <p:nvSpPr>
          <p:cNvPr id="3" name="TextBox 2">
            <a:extLst>
              <a:ext uri="{FF2B5EF4-FFF2-40B4-BE49-F238E27FC236}">
                <a16:creationId xmlns:a16="http://schemas.microsoft.com/office/drawing/2014/main" id="{BA1B8FEC-5970-E211-FD91-750D75FE5B3E}"/>
              </a:ext>
            </a:extLst>
          </p:cNvPr>
          <p:cNvSpPr txBox="1"/>
          <p:nvPr/>
        </p:nvSpPr>
        <p:spPr>
          <a:xfrm>
            <a:off x="273050" y="1720850"/>
            <a:ext cx="11656604" cy="3365024"/>
          </a:xfrm>
          <a:prstGeom prst="rect">
            <a:avLst/>
          </a:prstGeom>
          <a:noFill/>
        </p:spPr>
        <p:txBody>
          <a:bodyPr wrap="square" rtlCol="0">
            <a:spAutoFit/>
          </a:bodyPr>
          <a:lstStyle/>
          <a:p>
            <a:pPr marL="285750" indent="-285750">
              <a:lnSpc>
                <a:spcPct val="150000"/>
              </a:lnSpc>
              <a:buFontTx/>
              <a:buChar char="-"/>
            </a:pPr>
            <a:r>
              <a:rPr lang="en-US" dirty="0">
                <a:latin typeface="Arial"/>
                <a:cs typeface="Arial"/>
                <a:sym typeface="Arial"/>
              </a:rPr>
              <a:t>Assigning a cutoff before performing a correlation is very dicey, since none of the motifs are expected to be ‘abundant’ in any way since they do not correspond to any functional regulation.</a:t>
            </a:r>
          </a:p>
          <a:p>
            <a:pPr marL="285750" indent="-285750">
              <a:lnSpc>
                <a:spcPct val="150000"/>
              </a:lnSpc>
              <a:buFontTx/>
              <a:buChar char="-"/>
            </a:pPr>
            <a:r>
              <a:rPr lang="en-US" dirty="0">
                <a:latin typeface="Arial"/>
                <a:cs typeface="Arial"/>
                <a:sym typeface="Arial"/>
              </a:rPr>
              <a:t>Therefore, using motif distributions to extrapolate and obtain ‘unknown’ motifs becomes even more trickier</a:t>
            </a:r>
          </a:p>
          <a:p>
            <a:pPr>
              <a:lnSpc>
                <a:spcPct val="150000"/>
              </a:lnSpc>
            </a:pPr>
            <a:endParaRPr lang="en-US" dirty="0">
              <a:latin typeface="Arial"/>
              <a:cs typeface="Arial"/>
              <a:sym typeface="Arial"/>
            </a:endParaRPr>
          </a:p>
          <a:p>
            <a:pPr>
              <a:lnSpc>
                <a:spcPct val="150000"/>
              </a:lnSpc>
            </a:pPr>
            <a:endParaRPr lang="en-US" dirty="0">
              <a:latin typeface="Arial"/>
              <a:cs typeface="Arial"/>
              <a:sym typeface="Arial"/>
            </a:endParaRPr>
          </a:p>
          <a:p>
            <a:pPr marL="285750" indent="-285750">
              <a:lnSpc>
                <a:spcPct val="150000"/>
              </a:lnSpc>
              <a:buFontTx/>
              <a:buChar char="-"/>
            </a:pPr>
            <a:r>
              <a:rPr lang="en-US" dirty="0">
                <a:latin typeface="Arial"/>
                <a:cs typeface="Arial"/>
                <a:sym typeface="Arial"/>
              </a:rPr>
              <a:t>One more problem is, if the unknown protein(s) chopped up the motif right in the middle, then we would never be able to detect it post-translocation. Things become further complicated if the sequences evolutionarily diverge over time.</a:t>
            </a:r>
          </a:p>
        </p:txBody>
      </p:sp>
    </p:spTree>
    <p:extLst>
      <p:ext uri="{BB962C8B-B14F-4D97-AF65-F5344CB8AC3E}">
        <p14:creationId xmlns:p14="http://schemas.microsoft.com/office/powerpoint/2010/main" val="307764632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88">
          <a:extLst>
            <a:ext uri="{FF2B5EF4-FFF2-40B4-BE49-F238E27FC236}">
              <a16:creationId xmlns:a16="http://schemas.microsoft.com/office/drawing/2014/main" id="{24F86B0D-900B-C2C8-C5D1-8359360693EF}"/>
            </a:ext>
          </a:extLst>
        </p:cNvPr>
        <p:cNvGrpSpPr/>
        <p:nvPr/>
      </p:nvGrpSpPr>
      <p:grpSpPr>
        <a:xfrm>
          <a:off x="0" y="0"/>
          <a:ext cx="0" cy="0"/>
          <a:chOff x="0" y="0"/>
          <a:chExt cx="0" cy="0"/>
        </a:xfrm>
      </p:grpSpPr>
      <p:sp>
        <p:nvSpPr>
          <p:cNvPr id="89" name="Google Shape;89;g2009b74a80d_0_138">
            <a:extLst>
              <a:ext uri="{FF2B5EF4-FFF2-40B4-BE49-F238E27FC236}">
                <a16:creationId xmlns:a16="http://schemas.microsoft.com/office/drawing/2014/main" id="{C583F86E-B61D-7DFB-1547-6F3119B154B7}"/>
              </a:ext>
            </a:extLst>
          </p:cNvPr>
          <p:cNvSpPr/>
          <p:nvPr/>
        </p:nvSpPr>
        <p:spPr>
          <a:xfrm>
            <a:off x="650" y="479360"/>
            <a:ext cx="12179286" cy="438"/>
          </a:xfrm>
          <a:custGeom>
            <a:avLst/>
            <a:gdLst/>
            <a:ahLst/>
            <a:cxnLst/>
            <a:rect l="l" t="t" r="r" b="b"/>
            <a:pathLst>
              <a:path w="10070465" h="1904" extrusionOk="0">
                <a:moveTo>
                  <a:pt x="0" y="0"/>
                </a:moveTo>
                <a:lnTo>
                  <a:pt x="10070084" y="1524"/>
                </a:lnTo>
              </a:path>
            </a:pathLst>
          </a:custGeom>
          <a:noFill/>
          <a:ln w="9525" cap="flat" cmpd="sng">
            <a:solidFill>
              <a:srgbClr val="000000"/>
            </a:solidFill>
            <a:prstDash val="solid"/>
            <a:round/>
            <a:headEnd type="none" w="sm" len="sm"/>
            <a:tailEnd type="none" w="sm" len="sm"/>
          </a:ln>
        </p:spPr>
      </p:sp>
      <p:sp>
        <p:nvSpPr>
          <p:cNvPr id="90" name="Google Shape;90;g2009b74a80d_0_138">
            <a:extLst>
              <a:ext uri="{FF2B5EF4-FFF2-40B4-BE49-F238E27FC236}">
                <a16:creationId xmlns:a16="http://schemas.microsoft.com/office/drawing/2014/main" id="{60328EEA-92F8-7EDB-69F7-D2E9E844FE33}"/>
              </a:ext>
            </a:extLst>
          </p:cNvPr>
          <p:cNvSpPr/>
          <p:nvPr/>
        </p:nvSpPr>
        <p:spPr>
          <a:xfrm>
            <a:off x="426892" y="86207"/>
            <a:ext cx="1576099" cy="306947"/>
          </a:xfrm>
          <a:prstGeom prst="rect">
            <a:avLst/>
          </a:prstGeom>
          <a:noFill/>
          <a:ln>
            <a:noFill/>
          </a:ln>
        </p:spPr>
        <p:txBody>
          <a:bodyPr spcFirstLastPara="1" wrap="square" lIns="0" tIns="14785" rIns="0" bIns="0" anchor="t" anchorCtr="0">
            <a:noAutofit/>
          </a:bodyPr>
          <a:lstStyle/>
          <a:p>
            <a:pPr marL="15237">
              <a:buClr>
                <a:srgbClr val="000000"/>
              </a:buClr>
              <a:buSzPts val="1600"/>
            </a:pPr>
            <a:r>
              <a:rPr lang="en-IN" sz="1935" b="1" i="1" dirty="0">
                <a:solidFill>
                  <a:srgbClr val="CCCCCC"/>
                </a:solidFill>
                <a:latin typeface="Arial"/>
                <a:ea typeface="Arial"/>
                <a:cs typeface="Arial"/>
                <a:sym typeface="Arial"/>
              </a:rPr>
              <a:t>Introduction</a:t>
            </a:r>
            <a:endParaRPr sz="1935" dirty="0">
              <a:solidFill>
                <a:srgbClr val="000000"/>
              </a:solidFill>
              <a:latin typeface="Arial"/>
              <a:ea typeface="Arial"/>
              <a:cs typeface="Arial"/>
              <a:sym typeface="Arial"/>
            </a:endParaRPr>
          </a:p>
        </p:txBody>
      </p:sp>
      <p:sp>
        <p:nvSpPr>
          <p:cNvPr id="91" name="Google Shape;91;g2009b74a80d_0_138">
            <a:extLst>
              <a:ext uri="{FF2B5EF4-FFF2-40B4-BE49-F238E27FC236}">
                <a16:creationId xmlns:a16="http://schemas.microsoft.com/office/drawing/2014/main" id="{A8912C3B-1B0E-7C10-B6B3-5261672A104C}"/>
              </a:ext>
            </a:extLst>
          </p:cNvPr>
          <p:cNvSpPr/>
          <p:nvPr/>
        </p:nvSpPr>
        <p:spPr>
          <a:xfrm>
            <a:off x="5224850" y="87077"/>
            <a:ext cx="1705263" cy="306947"/>
          </a:xfrm>
          <a:prstGeom prst="rect">
            <a:avLst/>
          </a:prstGeom>
          <a:noFill/>
          <a:ln>
            <a:noFill/>
          </a:ln>
        </p:spPr>
        <p:txBody>
          <a:bodyPr spcFirstLastPara="1" wrap="square" lIns="0" tIns="14785" rIns="0" bIns="0" anchor="t" anchorCtr="0">
            <a:noAutofit/>
          </a:bodyPr>
          <a:lstStyle/>
          <a:p>
            <a:pPr marL="15237">
              <a:buClr>
                <a:srgbClr val="000000"/>
              </a:buClr>
              <a:buSzPts val="1600"/>
            </a:pPr>
            <a:r>
              <a:rPr lang="en-IN" sz="1935" b="1" i="1" dirty="0">
                <a:solidFill>
                  <a:srgbClr val="CCCCCC"/>
                </a:solidFill>
                <a:latin typeface="Arial"/>
                <a:ea typeface="Arial"/>
                <a:cs typeface="Arial"/>
                <a:sym typeface="Arial"/>
              </a:rPr>
              <a:t>Methodology</a:t>
            </a:r>
            <a:endParaRPr sz="1935" dirty="0">
              <a:solidFill>
                <a:srgbClr val="000000"/>
              </a:solidFill>
              <a:latin typeface="Arial"/>
              <a:ea typeface="Arial"/>
              <a:cs typeface="Arial"/>
              <a:sym typeface="Arial"/>
            </a:endParaRPr>
          </a:p>
        </p:txBody>
      </p:sp>
      <p:sp>
        <p:nvSpPr>
          <p:cNvPr id="92" name="Google Shape;92;g2009b74a80d_0_138">
            <a:extLst>
              <a:ext uri="{FF2B5EF4-FFF2-40B4-BE49-F238E27FC236}">
                <a16:creationId xmlns:a16="http://schemas.microsoft.com/office/drawing/2014/main" id="{4301DA9E-678B-3F48-CF15-5BA32C76C3D5}"/>
              </a:ext>
            </a:extLst>
          </p:cNvPr>
          <p:cNvSpPr/>
          <p:nvPr/>
        </p:nvSpPr>
        <p:spPr>
          <a:xfrm>
            <a:off x="2699609" y="87077"/>
            <a:ext cx="1739368" cy="306947"/>
          </a:xfrm>
          <a:prstGeom prst="rect">
            <a:avLst/>
          </a:prstGeom>
          <a:noFill/>
          <a:ln>
            <a:noFill/>
          </a:ln>
        </p:spPr>
        <p:txBody>
          <a:bodyPr spcFirstLastPara="1" wrap="square" lIns="0" tIns="14785" rIns="0" bIns="0" anchor="t" anchorCtr="0">
            <a:noAutofit/>
          </a:bodyPr>
          <a:lstStyle/>
          <a:p>
            <a:pPr marL="15237">
              <a:buClr>
                <a:srgbClr val="000000"/>
              </a:buClr>
              <a:buSzPts val="1600"/>
            </a:pPr>
            <a:r>
              <a:rPr lang="en-IN" sz="1935" b="1" i="1" dirty="0">
                <a:solidFill>
                  <a:srgbClr val="CCCCCC"/>
                </a:solidFill>
                <a:latin typeface="Arial"/>
                <a:ea typeface="Arial"/>
                <a:cs typeface="Arial"/>
                <a:sym typeface="Arial"/>
              </a:rPr>
              <a:t>Specific  Aims</a:t>
            </a:r>
            <a:endParaRPr sz="1935" dirty="0">
              <a:solidFill>
                <a:srgbClr val="000000"/>
              </a:solidFill>
              <a:latin typeface="Arial"/>
              <a:ea typeface="Arial"/>
              <a:cs typeface="Arial"/>
              <a:sym typeface="Arial"/>
            </a:endParaRPr>
          </a:p>
        </p:txBody>
      </p:sp>
      <p:sp>
        <p:nvSpPr>
          <p:cNvPr id="93" name="Google Shape;93;g2009b74a80d_0_138">
            <a:extLst>
              <a:ext uri="{FF2B5EF4-FFF2-40B4-BE49-F238E27FC236}">
                <a16:creationId xmlns:a16="http://schemas.microsoft.com/office/drawing/2014/main" id="{96F93EEA-6DE3-655E-63FB-EF83DDC47DBF}"/>
              </a:ext>
            </a:extLst>
          </p:cNvPr>
          <p:cNvSpPr/>
          <p:nvPr/>
        </p:nvSpPr>
        <p:spPr>
          <a:xfrm>
            <a:off x="8132360" y="87077"/>
            <a:ext cx="1531109" cy="306947"/>
          </a:xfrm>
          <a:prstGeom prst="rect">
            <a:avLst/>
          </a:prstGeom>
          <a:noFill/>
          <a:ln>
            <a:noFill/>
          </a:ln>
        </p:spPr>
        <p:txBody>
          <a:bodyPr spcFirstLastPara="1" wrap="square" lIns="0" tIns="14785" rIns="0" bIns="0" anchor="t" anchorCtr="0">
            <a:noAutofit/>
          </a:bodyPr>
          <a:lstStyle/>
          <a:p>
            <a:pPr marL="15237">
              <a:buClr>
                <a:srgbClr val="000000"/>
              </a:buClr>
              <a:buSzPts val="1600"/>
            </a:pPr>
            <a:r>
              <a:rPr lang="en-IN" sz="1935" b="1" i="1" dirty="0">
                <a:solidFill>
                  <a:srgbClr val="CCCCCC"/>
                </a:solidFill>
                <a:latin typeface="Arial"/>
                <a:ea typeface="Arial"/>
                <a:cs typeface="Arial"/>
                <a:sym typeface="Arial"/>
              </a:rPr>
              <a:t>Results</a:t>
            </a:r>
            <a:endParaRPr sz="1935" dirty="0">
              <a:solidFill>
                <a:srgbClr val="000000"/>
              </a:solidFill>
              <a:latin typeface="Arial"/>
              <a:ea typeface="Arial"/>
              <a:cs typeface="Arial"/>
              <a:sym typeface="Arial"/>
            </a:endParaRPr>
          </a:p>
        </p:txBody>
      </p:sp>
      <p:sp>
        <p:nvSpPr>
          <p:cNvPr id="94" name="Google Shape;94;g2009b74a80d_0_138">
            <a:extLst>
              <a:ext uri="{FF2B5EF4-FFF2-40B4-BE49-F238E27FC236}">
                <a16:creationId xmlns:a16="http://schemas.microsoft.com/office/drawing/2014/main" id="{C034FBAB-1317-CD1C-8035-DD71D1490B73}"/>
              </a:ext>
            </a:extLst>
          </p:cNvPr>
          <p:cNvSpPr/>
          <p:nvPr/>
        </p:nvSpPr>
        <p:spPr>
          <a:xfrm>
            <a:off x="10275331" y="87077"/>
            <a:ext cx="1531109" cy="306947"/>
          </a:xfrm>
          <a:prstGeom prst="rect">
            <a:avLst/>
          </a:prstGeom>
          <a:noFill/>
          <a:ln>
            <a:noFill/>
          </a:ln>
        </p:spPr>
        <p:txBody>
          <a:bodyPr spcFirstLastPara="1" wrap="square" lIns="0" tIns="14785" rIns="0" bIns="0" anchor="t" anchorCtr="0">
            <a:noAutofit/>
          </a:bodyPr>
          <a:lstStyle/>
          <a:p>
            <a:pPr marL="15237">
              <a:buClr>
                <a:srgbClr val="000000"/>
              </a:buClr>
              <a:buSzPts val="1600"/>
            </a:pPr>
            <a:r>
              <a:rPr lang="en-IN" sz="1935" b="1" i="1" dirty="0">
                <a:solidFill>
                  <a:srgbClr val="666666"/>
                </a:solidFill>
                <a:latin typeface="Arial"/>
                <a:ea typeface="Arial"/>
                <a:cs typeface="Arial"/>
                <a:sym typeface="Arial"/>
              </a:rPr>
              <a:t>Future Work</a:t>
            </a:r>
            <a:endParaRPr sz="1935" dirty="0">
              <a:solidFill>
                <a:srgbClr val="000000"/>
              </a:solidFill>
              <a:latin typeface="Arial"/>
              <a:ea typeface="Arial"/>
              <a:cs typeface="Arial"/>
              <a:sym typeface="Arial"/>
            </a:endParaRPr>
          </a:p>
        </p:txBody>
      </p:sp>
      <p:sp>
        <p:nvSpPr>
          <p:cNvPr id="95" name="Google Shape;95;g2009b74a80d_0_138">
            <a:extLst>
              <a:ext uri="{FF2B5EF4-FFF2-40B4-BE49-F238E27FC236}">
                <a16:creationId xmlns:a16="http://schemas.microsoft.com/office/drawing/2014/main" id="{106A02D3-DF64-95BF-65F4-2DB8CFAB11D4}"/>
              </a:ext>
            </a:extLst>
          </p:cNvPr>
          <p:cNvSpPr/>
          <p:nvPr/>
        </p:nvSpPr>
        <p:spPr>
          <a:xfrm>
            <a:off x="0" y="629409"/>
            <a:ext cx="12192000" cy="674486"/>
          </a:xfrm>
          <a:prstGeom prst="rect">
            <a:avLst/>
          </a:prstGeom>
          <a:noFill/>
          <a:ln>
            <a:noFill/>
          </a:ln>
        </p:spPr>
        <p:txBody>
          <a:bodyPr spcFirstLastPara="1" wrap="square" lIns="0" tIns="14785" rIns="0" bIns="0" anchor="ctr" anchorCtr="0">
            <a:noAutofit/>
          </a:bodyPr>
          <a:lstStyle/>
          <a:p>
            <a:pPr marL="15237" algn="ctr">
              <a:buClr>
                <a:srgbClr val="000000"/>
              </a:buClr>
              <a:buSzPts val="2800"/>
            </a:pPr>
            <a:r>
              <a:rPr lang="en-IN" sz="3200" b="1" dirty="0">
                <a:solidFill>
                  <a:srgbClr val="1F2ED4"/>
                </a:solidFill>
                <a:latin typeface="Arial"/>
                <a:ea typeface="Arial"/>
                <a:cs typeface="Arial"/>
                <a:sym typeface="Arial"/>
              </a:rPr>
              <a:t>A molecular signal-hypothesis vs. a biophysical explanation</a:t>
            </a:r>
            <a:endParaRPr sz="3200" dirty="0">
              <a:solidFill>
                <a:srgbClr val="000000"/>
              </a:solidFill>
              <a:latin typeface="Arial"/>
              <a:ea typeface="Arial"/>
              <a:cs typeface="Arial"/>
              <a:sym typeface="Arial"/>
            </a:endParaRPr>
          </a:p>
        </p:txBody>
      </p:sp>
      <p:sp>
        <p:nvSpPr>
          <p:cNvPr id="96" name="Google Shape;96;g2009b74a80d_0_138">
            <a:extLst>
              <a:ext uri="{FF2B5EF4-FFF2-40B4-BE49-F238E27FC236}">
                <a16:creationId xmlns:a16="http://schemas.microsoft.com/office/drawing/2014/main" id="{5364D065-FC1D-EC7B-CB7F-E9A3B25C43BA}"/>
              </a:ext>
            </a:extLst>
          </p:cNvPr>
          <p:cNvSpPr/>
          <p:nvPr/>
        </p:nvSpPr>
        <p:spPr>
          <a:xfrm>
            <a:off x="11493542" y="6356641"/>
            <a:ext cx="436112" cy="350486"/>
          </a:xfrm>
          <a:prstGeom prst="rect">
            <a:avLst/>
          </a:prstGeom>
          <a:noFill/>
          <a:ln>
            <a:noFill/>
          </a:ln>
        </p:spPr>
        <p:txBody>
          <a:bodyPr spcFirstLastPara="1" wrap="square" lIns="108847" tIns="54423" rIns="108847" bIns="54423" anchor="t" anchorCtr="0">
            <a:noAutofit/>
          </a:bodyPr>
          <a:lstStyle/>
          <a:p>
            <a:pPr>
              <a:buClr>
                <a:srgbClr val="000000"/>
              </a:buClr>
              <a:buSzPts val="1400"/>
            </a:pPr>
            <a:endParaRPr sz="1693">
              <a:solidFill>
                <a:srgbClr val="000000"/>
              </a:solidFill>
              <a:latin typeface="Arial"/>
              <a:ea typeface="Arial"/>
              <a:cs typeface="Arial"/>
              <a:sym typeface="Arial"/>
            </a:endParaRPr>
          </a:p>
        </p:txBody>
      </p:sp>
      <p:sp>
        <p:nvSpPr>
          <p:cNvPr id="97" name="Google Shape;97;g2009b74a80d_0_138">
            <a:extLst>
              <a:ext uri="{FF2B5EF4-FFF2-40B4-BE49-F238E27FC236}">
                <a16:creationId xmlns:a16="http://schemas.microsoft.com/office/drawing/2014/main" id="{D178A29C-E9AF-F285-05E3-F71B53E4129D}"/>
              </a:ext>
            </a:extLst>
          </p:cNvPr>
          <p:cNvSpPr txBox="1">
            <a:spLocks noGrp="1"/>
          </p:cNvSpPr>
          <p:nvPr>
            <p:ph type="sldNum" idx="12"/>
          </p:nvPr>
        </p:nvSpPr>
        <p:spPr>
          <a:xfrm>
            <a:off x="11408860" y="6333135"/>
            <a:ext cx="731449" cy="525003"/>
          </a:xfrm>
          <a:prstGeom prst="rect">
            <a:avLst/>
          </a:prstGeom>
          <a:noFill/>
          <a:ln>
            <a:noFill/>
          </a:ln>
        </p:spPr>
        <p:txBody>
          <a:bodyPr spcFirstLastPara="1" vert="horz" wrap="square" lIns="110570" tIns="110570" rIns="110570" bIns="110570" rtlCol="0" anchor="t" anchorCtr="0">
            <a:noAutofit/>
          </a:bodyPr>
          <a:lstStyle/>
          <a:p>
            <a:pPr>
              <a:buSzPts val="1300"/>
            </a:pPr>
            <a:fld id="{00000000-1234-1234-1234-123412341234}" type="slidenum">
              <a:rPr lang="en-IN" smtClean="0"/>
              <a:pPr>
                <a:buSzPts val="1300"/>
              </a:pPr>
              <a:t>9</a:t>
            </a:fld>
            <a:r>
              <a:rPr lang="en-IN" dirty="0"/>
              <a:t>/9</a:t>
            </a:r>
            <a:endParaRPr dirty="0"/>
          </a:p>
        </p:txBody>
      </p:sp>
      <p:sp>
        <p:nvSpPr>
          <p:cNvPr id="3" name="TextBox 2">
            <a:extLst>
              <a:ext uri="{FF2B5EF4-FFF2-40B4-BE49-F238E27FC236}">
                <a16:creationId xmlns:a16="http://schemas.microsoft.com/office/drawing/2014/main" id="{D0675BDC-B649-B3A5-72C7-1D1546B92AAC}"/>
              </a:ext>
            </a:extLst>
          </p:cNvPr>
          <p:cNvSpPr txBox="1"/>
          <p:nvPr/>
        </p:nvSpPr>
        <p:spPr>
          <a:xfrm>
            <a:off x="273050" y="1720850"/>
            <a:ext cx="11656604" cy="4611519"/>
          </a:xfrm>
          <a:prstGeom prst="rect">
            <a:avLst/>
          </a:prstGeom>
          <a:noFill/>
        </p:spPr>
        <p:txBody>
          <a:bodyPr wrap="square" rtlCol="0">
            <a:spAutoFit/>
          </a:bodyPr>
          <a:lstStyle/>
          <a:p>
            <a:pPr marL="285750" indent="-285750">
              <a:lnSpc>
                <a:spcPct val="150000"/>
              </a:lnSpc>
              <a:buFontTx/>
              <a:buChar char="-"/>
            </a:pPr>
            <a:r>
              <a:rPr lang="en-US" dirty="0">
                <a:latin typeface="Arial"/>
                <a:cs typeface="Arial"/>
                <a:sym typeface="Arial"/>
              </a:rPr>
              <a:t>A molecular signal hypothesis – look at all known mechanisms in which translocations could potentially take place in the human nuclear genome; proteins involved in some of these pathways will hopefully show up as their corresponding binding sites when we </a:t>
            </a:r>
            <a:r>
              <a:rPr lang="en-US" dirty="0" err="1">
                <a:latin typeface="Arial"/>
                <a:cs typeface="Arial"/>
                <a:sym typeface="Arial"/>
              </a:rPr>
              <a:t>analyse</a:t>
            </a:r>
            <a:r>
              <a:rPr lang="en-US" dirty="0">
                <a:latin typeface="Arial"/>
                <a:cs typeface="Arial"/>
                <a:sym typeface="Arial"/>
              </a:rPr>
              <a:t> the motif vectors obtained from the sequences.</a:t>
            </a:r>
          </a:p>
          <a:p>
            <a:pPr>
              <a:lnSpc>
                <a:spcPct val="150000"/>
              </a:lnSpc>
            </a:pPr>
            <a:r>
              <a:rPr lang="en-US" dirty="0">
                <a:latin typeface="Arial"/>
                <a:cs typeface="Arial"/>
                <a:sym typeface="Arial"/>
              </a:rPr>
              <a:t>	(</a:t>
            </a:r>
            <a:r>
              <a:rPr lang="en-US" dirty="0">
                <a:latin typeface="Arial"/>
                <a:cs typeface="Arial"/>
                <a:sym typeface="Arial"/>
                <a:hlinkClick r:id="rId3"/>
              </a:rPr>
              <a:t>Link</a:t>
            </a:r>
            <a:r>
              <a:rPr lang="en-US" dirty="0">
                <a:latin typeface="Arial"/>
                <a:cs typeface="Arial"/>
                <a:sym typeface="Arial"/>
              </a:rPr>
              <a:t>)</a:t>
            </a:r>
          </a:p>
          <a:p>
            <a:pPr marL="285750" indent="-285750">
              <a:lnSpc>
                <a:spcPct val="150000"/>
              </a:lnSpc>
              <a:buFontTx/>
              <a:buChar char="-"/>
            </a:pPr>
            <a:r>
              <a:rPr lang="en-US" dirty="0">
                <a:latin typeface="Arial"/>
                <a:cs typeface="Arial"/>
                <a:sym typeface="Arial"/>
              </a:rPr>
              <a:t>The biophysical explanation is that the motifs will simply be AT-rich and therefore be more prone to being chopped up</a:t>
            </a:r>
          </a:p>
          <a:p>
            <a:pPr marL="285750" indent="-285750">
              <a:lnSpc>
                <a:spcPct val="150000"/>
              </a:lnSpc>
              <a:buFontTx/>
              <a:buChar char="-"/>
            </a:pPr>
            <a:endParaRPr lang="en-US" dirty="0">
              <a:latin typeface="Arial"/>
              <a:cs typeface="Arial"/>
              <a:sym typeface="Arial"/>
            </a:endParaRPr>
          </a:p>
          <a:p>
            <a:pPr marL="285750" indent="-285750">
              <a:lnSpc>
                <a:spcPct val="150000"/>
              </a:lnSpc>
              <a:buFontTx/>
              <a:buChar char="-"/>
            </a:pPr>
            <a:r>
              <a:rPr lang="en-US" dirty="0">
                <a:latin typeface="Arial"/>
                <a:cs typeface="Arial"/>
                <a:sym typeface="Arial"/>
              </a:rPr>
              <a:t>What’s next would then be to obtain the matrices on the ~15K-ish animal genomes and </a:t>
            </a:r>
            <a:r>
              <a:rPr lang="en-US" dirty="0" err="1">
                <a:latin typeface="Arial"/>
                <a:cs typeface="Arial"/>
                <a:sym typeface="Arial"/>
              </a:rPr>
              <a:t>analyse</a:t>
            </a:r>
            <a:r>
              <a:rPr lang="en-US" dirty="0">
                <a:latin typeface="Arial"/>
                <a:cs typeface="Arial"/>
                <a:sym typeface="Arial"/>
              </a:rPr>
              <a:t> them for these two broad possibilities.</a:t>
            </a:r>
          </a:p>
          <a:p>
            <a:pPr marL="285750" indent="-285750">
              <a:lnSpc>
                <a:spcPct val="150000"/>
              </a:lnSpc>
              <a:buFontTx/>
              <a:buChar char="-"/>
            </a:pPr>
            <a:r>
              <a:rPr lang="en-US" dirty="0">
                <a:latin typeface="Arial"/>
                <a:cs typeface="Arial"/>
                <a:sym typeface="Arial"/>
              </a:rPr>
              <a:t>If there does exist a signal of sorts, then the next step would be to look for whether this signal is present in the other two datasets</a:t>
            </a:r>
          </a:p>
        </p:txBody>
      </p:sp>
    </p:spTree>
    <p:extLst>
      <p:ext uri="{BB962C8B-B14F-4D97-AF65-F5344CB8AC3E}">
        <p14:creationId xmlns:p14="http://schemas.microsoft.com/office/powerpoint/2010/main" val="2461669607"/>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593</TotalTime>
  <Words>2612</Words>
  <Application>Microsoft Office PowerPoint</Application>
  <PresentationFormat>Widescreen</PresentationFormat>
  <Paragraphs>128</Paragraphs>
  <Slides>9</Slides>
  <Notes>9</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9</vt:i4>
      </vt:variant>
    </vt:vector>
  </HeadingPairs>
  <TitlesOfParts>
    <vt:vector size="14" baseType="lpstr">
      <vt:lpstr>Arial</vt:lpstr>
      <vt:lpstr>Calibri</vt:lpstr>
      <vt:lpstr>Calibri Light</vt:lpstr>
      <vt:lpstr>Open Sans</vt:lpstr>
      <vt:lpstr>Office Theme</vt:lpstr>
      <vt:lpstr>Looking for translocation signals across mitogenomes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Lokesh Venkatesh</dc:creator>
  <cp:lastModifiedBy>Lokesh Venkatesh</cp:lastModifiedBy>
  <cp:revision>90</cp:revision>
  <dcterms:created xsi:type="dcterms:W3CDTF">2025-03-17T15:21:22Z</dcterms:created>
  <dcterms:modified xsi:type="dcterms:W3CDTF">2025-03-19T10:13:10Z</dcterms:modified>
</cp:coreProperties>
</file>